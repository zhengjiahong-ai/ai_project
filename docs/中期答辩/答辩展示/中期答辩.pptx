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96E6"/>
    <a:srgbClr val="6A0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3.png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11.png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2.png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7" Type="http://schemas.openxmlformats.org/officeDocument/2006/relationships/image" Target="../media/image3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0" Type="http://schemas.openxmlformats.org/officeDocument/2006/relationships/notesSlide" Target="../notesSlides/notesSlide8.xml"/><Relationship Id="rId1" Type="http://schemas.openxmlformats.org/officeDocument/2006/relationships/tags" Target="../tags/tag2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6" Type="http://schemas.openxmlformats.org/officeDocument/2006/relationships/image" Target="../media/image3.png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1" Type="http://schemas.openxmlformats.org/officeDocument/2006/relationships/notesSlide" Target="../notesSlides/notesSlide13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38.xml"/><Relationship Id="rId19" Type="http://schemas.openxmlformats.org/officeDocument/2006/relationships/image" Target="../media/image25.png"/><Relationship Id="rId18" Type="http://schemas.openxmlformats.org/officeDocument/2006/relationships/image" Target="../media/image24.png"/><Relationship Id="rId17" Type="http://schemas.openxmlformats.org/officeDocument/2006/relationships/image" Target="../media/image3.png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5.xml"/><Relationship Id="rId3" Type="http://schemas.openxmlformats.org/officeDocument/2006/relationships/image" Target="../media/image2.png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/>
          <p:nvPr/>
        </p:nvSpPr>
        <p:spPr>
          <a:xfrm>
            <a:off x="347980" y="381000"/>
            <a:ext cx="3576955" cy="10236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423">
              <a:alpha val="45000"/>
            </a:srgbClr>
          </a:solidFill>
          <a:ln w="0">
            <a:solidFill>
              <a:srgbClr val="0F1423">
                <a:alpha val="0"/>
              </a:srgbClr>
            </a:solidFill>
            <a:prstDash val="solid"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085" y="552450"/>
            <a:ext cx="2138480" cy="68580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5430500" y="685800"/>
            <a:ext cx="24701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CFE4FF"/>
                </a:solidFill>
              </a:defRPr>
            </a:pPr>
            <a:r>
              <a:rPr sz="1800" b="1" i="0">
                <a:solidFill>
                  <a:srgbClr val="CFE4FF"/>
                </a:solidFill>
              </a:rPr>
              <a:t>中期答辩 | 2026.05</a:t>
            </a:r>
            <a:endParaRPr sz="1800" b="1" i="0">
              <a:solidFill>
                <a:srgbClr val="CFE4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3950" y="3086100"/>
            <a:ext cx="2286000" cy="66675"/>
          </a:xfrm>
          <a:prstGeom prst="rect">
            <a:avLst/>
          </a:prstGeom>
          <a:solidFill>
            <a:srgbClr val="6A005E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352800"/>
            <a:ext cx="6438900" cy="62865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>
              <a:defRPr sz="4950" b="1" i="0">
                <a:solidFill>
                  <a:srgbClr val="FFFFFF"/>
                </a:solidFill>
              </a:defRPr>
            </a:pPr>
            <a:r>
              <a:rPr sz="4950" b="1" i="0">
                <a:solidFill>
                  <a:srgbClr val="6A005E"/>
                </a:solidFill>
              </a:rPr>
              <a:t>Pixiu</a:t>
            </a:r>
            <a:r>
              <a:rPr sz="4950" b="1" i="0">
                <a:solidFill>
                  <a:srgbClr val="FFFFFF"/>
                </a:solidFill>
              </a:rPr>
              <a:t> Academic Assistant</a:t>
            </a:r>
            <a:endParaRPr sz="4950" b="1" i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4191000"/>
            <a:ext cx="635508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 i="0">
                <a:solidFill>
                  <a:srgbClr val="EAF3FF"/>
                </a:solidFill>
              </a:defRPr>
            </a:pPr>
            <a:r>
              <a:rPr lang="zh-CN" sz="4000" b="1" i="0">
                <a:solidFill>
                  <a:srgbClr val="6A005E"/>
                </a:solidFill>
              </a:rPr>
              <a:t>貔貅</a:t>
            </a:r>
            <a:r>
              <a:rPr lang="en-US" altLang="zh-CN" sz="3600" b="1" i="0">
                <a:solidFill>
                  <a:srgbClr val="6096E6"/>
                </a:solidFill>
              </a:rPr>
              <a:t> </a:t>
            </a:r>
            <a:r>
              <a:rPr sz="3600" b="1" i="0">
                <a:solidFill>
                  <a:srgbClr val="EAF3FF"/>
                </a:solidFill>
              </a:rPr>
              <a:t>学术论文 AI 助手</a:t>
            </a:r>
            <a:endParaRPr sz="3600" b="1" i="0">
              <a:solidFill>
                <a:srgbClr val="EAF3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4857750"/>
            <a:ext cx="961898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D6E7FA"/>
                </a:solidFill>
              </a:defRPr>
            </a:pPr>
            <a:r>
              <a:rPr lang="zh-CN" sz="24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项目：</a:t>
            </a:r>
            <a:r>
              <a:rPr lang="zh-CN" altLang="en-US" sz="24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基于</a:t>
            </a:r>
            <a:r>
              <a:rPr lang="en-US" altLang="zh-CN" sz="24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DeepResearch</a:t>
            </a:r>
            <a:r>
              <a:rPr lang="zh-CN" altLang="en-US" sz="24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的科学研究大模型聚合体</a:t>
            </a:r>
            <a:endParaRPr lang="zh-CN" altLang="en-US" sz="2400" b="1" i="0">
              <a:solidFill>
                <a:srgbClr val="D6E7FA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>
              <a:defRPr sz="1950" b="0" i="0">
                <a:solidFill>
                  <a:srgbClr val="D6E7FA"/>
                </a:solidFill>
              </a:defRPr>
            </a:pPr>
            <a:r>
              <a:rPr sz="2400" i="0">
                <a:solidFill>
                  <a:srgbClr val="D6E7FA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面向论文阅读、证据化问答、批判性分析与深度研究的 AI 学习工作台</a:t>
            </a:r>
            <a:endParaRPr sz="2400" i="0">
              <a:solidFill>
                <a:srgbClr val="D6E7FA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>
              <a:defRPr sz="1950" b="0" i="0">
                <a:solidFill>
                  <a:srgbClr val="D6E7FA"/>
                </a:solidFill>
              </a:defRPr>
            </a:pPr>
            <a:endParaRPr lang="zh-CN" altLang="en-US" sz="2400" i="0">
              <a:solidFill>
                <a:srgbClr val="D6E7FA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23950" y="9544050"/>
            <a:ext cx="3848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E6F0FF"/>
                </a:solidFill>
              </a:defRPr>
            </a:pPr>
            <a:r>
              <a:rPr sz="2400" b="1">
                <a:latin typeface="仿宋" panose="02010609060101010101" charset="-122"/>
                <a:ea typeface="仿宋" panose="02010609060101010101" charset="-122"/>
                <a:sym typeface="+mn-ea"/>
              </a:rPr>
              <a:t>指导老师：</a:t>
            </a:r>
            <a:r>
              <a:rPr lang="zh-CN" sz="2400" b="1">
                <a:latin typeface="仿宋" panose="02010609060101010101" charset="-122"/>
                <a:ea typeface="仿宋" panose="02010609060101010101" charset="-122"/>
                <a:sym typeface="+mn-ea"/>
              </a:rPr>
              <a:t>郭兰哲</a:t>
            </a:r>
            <a:endParaRPr lang="zh-CN" sz="2400" b="1" i="0">
              <a:solidFill>
                <a:srgbClr val="E6F0FF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>
              <a:defRPr sz="1575" b="0" i="0">
                <a:solidFill>
                  <a:srgbClr val="E6F0FF"/>
                </a:solidFill>
              </a:defRPr>
            </a:pPr>
            <a:endParaRPr lang="zh-CN" sz="2400" b="1" i="0">
              <a:solidFill>
                <a:srgbClr val="E6F0F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181600" y="9544050"/>
            <a:ext cx="3848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E6F0FF"/>
                </a:solidFill>
              </a:defRPr>
            </a:pPr>
            <a:r>
              <a:rPr sz="2400" b="1">
                <a:latin typeface="仿宋" panose="02010609060101010101" charset="-122"/>
                <a:ea typeface="仿宋" panose="02010609060101010101" charset="-122"/>
                <a:sym typeface="+mn-ea"/>
              </a:rPr>
              <a:t>负责人：</a:t>
            </a:r>
            <a:r>
              <a:rPr lang="zh-CN" altLang="en-US" sz="2400" b="1" i="0">
                <a:solidFill>
                  <a:srgbClr val="E6F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毛佳琛</a:t>
            </a:r>
            <a:endParaRPr lang="zh-CN" altLang="en-US" sz="2400" b="1" i="0">
              <a:solidFill>
                <a:srgbClr val="E6F0FF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258300" y="9544050"/>
            <a:ext cx="4897755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E6F0FF"/>
                </a:solidFill>
              </a:defRPr>
            </a:pPr>
            <a:r>
              <a:rPr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成员</a:t>
            </a:r>
            <a:r>
              <a:rPr 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：</a:t>
            </a:r>
            <a:r>
              <a:rPr lang="zh-CN" altLang="en-US" sz="2400" b="0" i="0">
                <a:solidFill>
                  <a:srgbClr val="E6F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劳煜杰</a:t>
            </a:r>
            <a:r>
              <a:rPr lang="en-US" altLang="zh-CN" sz="2400" b="0" i="0">
                <a:solidFill>
                  <a:srgbClr val="E6F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lang="zh-CN" altLang="en-US" sz="2400" b="0" i="0">
                <a:solidFill>
                  <a:srgbClr val="E6F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胡锐濠</a:t>
            </a:r>
            <a:r>
              <a:rPr lang="en-US" altLang="zh-CN" sz="2400" b="0" i="0">
                <a:solidFill>
                  <a:srgbClr val="E6F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lang="zh-CN" altLang="en-US" sz="2400" b="0" i="0">
                <a:solidFill>
                  <a:srgbClr val="E6F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郑嘉鸿</a:t>
            </a:r>
            <a:endParaRPr lang="zh-CN" altLang="en-US" sz="2400" b="0" i="0">
              <a:solidFill>
                <a:srgbClr val="E6F0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552450"/>
            <a:ext cx="730885" cy="664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9074150" y="189230"/>
            <a:ext cx="8023860" cy="96729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495300"/>
            <a:ext cx="16459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2 页 | 研究背景与问题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14400" y="990600"/>
            <a:ext cx="164592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论文阅读中的痛点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14400" y="1809750"/>
            <a:ext cx="616077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5E6B84"/>
                </a:solidFill>
              </a:defRPr>
            </a:pPr>
            <a:r>
              <a:rPr sz="2400" b="0" i="0">
                <a:solidFill>
                  <a:schemeClr val="tx1"/>
                </a:solidFill>
              </a:rPr>
              <a:t>从“看见论文”到“真正理解论文”，中间缺的是证据、结构和主动学习流程。</a:t>
            </a:r>
            <a:endParaRPr sz="2400" b="0" i="0">
              <a:solidFill>
                <a:schemeClr val="tx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2762250"/>
            <a:ext cx="82296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75" b="1" i="0">
                <a:solidFill>
                  <a:srgbClr val="0F1423"/>
                </a:solidFill>
              </a:defRPr>
            </a:pPr>
            <a:endParaRPr sz="3375" b="1" i="0">
              <a:solidFill>
                <a:srgbClr val="0F142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3067050"/>
            <a:ext cx="8000365" cy="623379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 i="0">
                <a:solidFill>
                  <a:srgbClr val="182033"/>
                </a:solidFill>
              </a:defRPr>
            </a:pPr>
            <a:r>
              <a:rPr sz="2800" b="1">
                <a:solidFill>
                  <a:srgbClr val="0F1423"/>
                </a:solidFill>
                <a:sym typeface="+mn-ea"/>
              </a:rPr>
              <a:t>阅读阻力</a:t>
            </a:r>
            <a:endParaRPr sz="28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英文论文阅读门槛高，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术语、公式、方法和实验细节理解成本高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endParaRPr sz="2400" b="1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sz="2800" b="1" i="0">
                <a:solidFill>
                  <a:srgbClr val="182033"/>
                </a:solidFill>
              </a:rPr>
              <a:t>学习者的困境</a:t>
            </a:r>
            <a:endParaRPr sz="2800" b="1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sz="2400">
                <a:sym typeface="+mn-ea"/>
              </a:rPr>
              <a:t>我需要具备什么背景知识才能读懂文章？</a:t>
            </a:r>
            <a:endParaRPr lang="zh-CN" sz="2400">
              <a:sym typeface="+mn-ea"/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sz="2400">
                <a:sym typeface="+mn-ea"/>
              </a:rPr>
              <a:t>我看懂了大模型的回答，但是我读懂了吗？</a:t>
            </a:r>
            <a:endParaRPr lang="zh-CN" sz="2400">
              <a:sym typeface="+mn-ea"/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sz="2400">
                <a:sym typeface="+mn-ea"/>
              </a:rPr>
              <a:t>即</a:t>
            </a:r>
            <a:r>
              <a:rPr sz="2400">
                <a:sym typeface="+mn-ea"/>
              </a:rPr>
              <a:t>阅读过程中缺少“</a:t>
            </a:r>
            <a:r>
              <a:rPr sz="2400" b="1">
                <a:sym typeface="+mn-ea"/>
              </a:rPr>
              <a:t>前置知识补课</a:t>
            </a:r>
            <a:r>
              <a:rPr sz="2400">
                <a:sym typeface="+mn-ea"/>
              </a:rPr>
              <a:t>”和“</a:t>
            </a:r>
            <a:r>
              <a:rPr sz="2400" b="1">
                <a:sym typeface="+mn-ea"/>
              </a:rPr>
              <a:t>主动理解检查</a:t>
            </a:r>
            <a:r>
              <a:rPr sz="2400">
                <a:sym typeface="+mn-ea"/>
              </a:rPr>
              <a:t>”的工具</a:t>
            </a:r>
            <a:endParaRPr sz="2400">
              <a:sym typeface="+mn-ea"/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en-US" sz="2400" b="0" i="0">
                <a:solidFill>
                  <a:srgbClr val="182033"/>
                </a:solidFill>
              </a:rPr>
              <a:t> </a:t>
            </a:r>
            <a:endParaRPr lang="en-US" sz="24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altLang="en-US" sz="2800" b="1" i="0">
                <a:solidFill>
                  <a:srgbClr val="182033"/>
                </a:solidFill>
              </a:rPr>
              <a:t>论文引导</a:t>
            </a:r>
            <a:endParaRPr lang="en-US" sz="2800" b="1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altLang="en-US" sz="2400" b="0" i="0">
                <a:solidFill>
                  <a:srgbClr val="182033"/>
                </a:solidFill>
              </a:rPr>
              <a:t>创新点并没有真正带来实质性提升</a:t>
            </a:r>
            <a:r>
              <a:rPr lang="en-US" altLang="zh-CN" sz="2400" b="0" i="0">
                <a:solidFill>
                  <a:srgbClr val="182033"/>
                </a:solidFill>
              </a:rPr>
              <a:t>-</a:t>
            </a:r>
            <a:r>
              <a:rPr lang="zh-CN" altLang="en-US" sz="2400" b="0" i="0">
                <a:solidFill>
                  <a:srgbClr val="182033"/>
                </a:solidFill>
              </a:rPr>
              <a:t>即</a:t>
            </a:r>
            <a:r>
              <a:rPr lang="zh-CN" altLang="en-US" sz="2400" b="1" i="0">
                <a:solidFill>
                  <a:srgbClr val="182033"/>
                </a:solidFill>
              </a:rPr>
              <a:t>伪贡献</a:t>
            </a:r>
            <a:endParaRPr lang="zh-CN" altLang="en-US" sz="2400" b="1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endParaRPr lang="zh-CN" altLang="en-US" sz="2400" b="1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altLang="en-US" sz="2800" b="1" i="0">
                <a:solidFill>
                  <a:srgbClr val="182033"/>
                </a:solidFill>
              </a:rPr>
              <a:t>存</a:t>
            </a:r>
            <a:r>
              <a:rPr lang="zh-CN" altLang="en-US" sz="2800" b="1" i="0">
                <a:solidFill>
                  <a:srgbClr val="182033"/>
                </a:solidFill>
              </a:rPr>
              <a:t>在缺陷</a:t>
            </a:r>
            <a:endParaRPr lang="zh-CN" altLang="en-US" sz="2800" b="1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r>
              <a:rPr lang="zh-CN" altLang="en-US" sz="2400" b="0" i="0">
                <a:solidFill>
                  <a:srgbClr val="182033"/>
                </a:solidFill>
              </a:rPr>
              <a:t>普通</a:t>
            </a:r>
            <a:r>
              <a:rPr lang="en-US" altLang="zh-CN" sz="2400" b="0" i="0">
                <a:solidFill>
                  <a:srgbClr val="182033"/>
                </a:solidFill>
              </a:rPr>
              <a:t>AI</a:t>
            </a:r>
            <a:r>
              <a:rPr lang="zh-CN" altLang="en-US" sz="2400" b="0" i="0">
                <a:solidFill>
                  <a:srgbClr val="182033"/>
                </a:solidFill>
              </a:rPr>
              <a:t>阅读器做不到把论文阅读延伸到</a:t>
            </a:r>
            <a:r>
              <a:rPr lang="zh-CN" altLang="en-US" sz="2400" b="1" i="0">
                <a:solidFill>
                  <a:srgbClr val="182033"/>
                </a:solidFill>
              </a:rPr>
              <a:t>开放问题的研究推进</a:t>
            </a:r>
            <a:r>
              <a:rPr lang="zh-CN" altLang="en-US" sz="2400" b="0" i="0">
                <a:solidFill>
                  <a:srgbClr val="182033"/>
                </a:solidFill>
              </a:rPr>
              <a:t>。</a:t>
            </a:r>
            <a:endParaRPr lang="zh-CN" altLang="en-US" sz="24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21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95250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924050" y="9391650"/>
            <a:ext cx="2571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Pixiu Academic Assistant | Midterm Defense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648200" y="9525000"/>
            <a:ext cx="1272540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3555" y="504190"/>
            <a:ext cx="7437120" cy="9110345"/>
          </a:xfrm>
          <a:prstGeom prst="rect">
            <a:avLst/>
          </a:prstGeom>
        </p:spPr>
      </p:pic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787400" y="2821305"/>
            <a:ext cx="17029430" cy="28727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14400" y="609600"/>
            <a:ext cx="16459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3 页 | 项目目标与定位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14400" y="990600"/>
            <a:ext cx="164592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面向论文阅读的 AI 学习工作台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14400" y="1809750"/>
            <a:ext cx="830072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 i="0">
                <a:solidFill>
                  <a:srgbClr val="5E6B84"/>
                </a:solidFill>
              </a:defRPr>
            </a:pPr>
            <a:r>
              <a:rPr sz="2000" b="1" i="0">
                <a:solidFill>
                  <a:srgbClr val="5E6B84"/>
                </a:solidFill>
              </a:rPr>
              <a:t>围绕一篇论文形成“输入-理解-追问-分析-研究”的连续工作流。</a:t>
            </a:r>
            <a:endParaRPr sz="2000" b="1" i="0">
              <a:solidFill>
                <a:srgbClr val="5E6B84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50495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9540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PDF 上传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86715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65760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篇章解析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24840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1980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RAG 问答</a:t>
            </a:r>
            <a:endParaRPr sz="2800" b="1" i="0">
              <a:solidFill>
                <a:srgbClr val="0F1423"/>
              </a:solidFill>
            </a:endParaRPr>
          </a:p>
          <a:p>
            <a:pPr>
              <a:defRPr sz="1800" b="1" i="0">
                <a:solidFill>
                  <a:srgbClr val="0F1423"/>
                </a:solidFill>
              </a:defRPr>
            </a:pPr>
            <a:r>
              <a:rPr lang="zh-CN" sz="2800" b="1" i="0">
                <a:solidFill>
                  <a:srgbClr val="0F1423"/>
                </a:solidFill>
              </a:rPr>
              <a:t>动态解释</a:t>
            </a:r>
            <a:endParaRPr lang="zh-CN" sz="2800" b="1" i="0">
              <a:solidFill>
                <a:srgbClr val="0F142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61060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40105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lang="zh-CN" altLang="en-US" sz="2800" b="1" i="0">
                <a:solidFill>
                  <a:srgbClr val="0F1423"/>
                </a:solidFill>
              </a:rPr>
              <a:t>背景补课</a:t>
            </a:r>
            <a:endParaRPr lang="zh-CN" altLang="en-US" sz="2800" b="1" i="0">
              <a:solidFill>
                <a:srgbClr val="0F1423"/>
              </a:solidFill>
            </a:endParaRPr>
          </a:p>
          <a:p>
            <a:pPr>
              <a:defRPr sz="1800" b="1" i="0">
                <a:solidFill>
                  <a:srgbClr val="0F1423"/>
                </a:solidFill>
              </a:defRPr>
            </a:pPr>
            <a:endParaRPr lang="zh-CN" altLang="en-US" sz="2800" b="1" i="0">
              <a:solidFill>
                <a:srgbClr val="0F142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097280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076325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lang="zh-CN" sz="2800">
                <a:sym typeface="+mn-ea"/>
              </a:rPr>
              <a:t>引导学习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335405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58B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312545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批判阅读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5716250" y="3286125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5487650" y="45339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深度研究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6819900"/>
            <a:ext cx="1143000" cy="57150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14400" y="7067550"/>
            <a:ext cx="5257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6096E6"/>
                </a:solidFill>
              </a:defRPr>
            </a:pPr>
            <a:r>
              <a:rPr sz="2400" b="1" i="0">
                <a:solidFill>
                  <a:srgbClr val="6096E6"/>
                </a:solidFill>
              </a:rPr>
              <a:t>输入</a:t>
            </a:r>
            <a:endParaRPr sz="2400" b="1" i="0">
              <a:solidFill>
                <a:srgbClr val="6096E6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14400" y="7486650"/>
            <a:ext cx="21145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423"/>
                </a:solidFill>
              </a:defRPr>
            </a:pPr>
            <a:r>
              <a:rPr sz="2850" b="1" i="0">
                <a:solidFill>
                  <a:srgbClr val="0F1423"/>
                </a:solidFill>
              </a:rPr>
              <a:t>学术论文 PDF</a:t>
            </a:r>
            <a:endParaRPr sz="2850" b="1" i="0">
              <a:solidFill>
                <a:srgbClr val="0F142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515100" y="6629400"/>
            <a:ext cx="1143000" cy="57150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515100" y="6877050"/>
            <a:ext cx="5257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56CA95"/>
                </a:solidFill>
              </a:defRPr>
            </a:pPr>
            <a:r>
              <a:rPr sz="2400" b="1" i="0">
                <a:solidFill>
                  <a:srgbClr val="56CA95"/>
                </a:solidFill>
              </a:rPr>
              <a:t>核心能力</a:t>
            </a:r>
            <a:endParaRPr sz="2400" b="1" i="0">
              <a:solidFill>
                <a:srgbClr val="56CA95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515100" y="7296150"/>
            <a:ext cx="38481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423"/>
                </a:solidFill>
              </a:defRPr>
            </a:pPr>
            <a:r>
              <a:rPr sz="2850" b="1" i="0">
                <a:solidFill>
                  <a:srgbClr val="0F1423"/>
                </a:solidFill>
              </a:rPr>
              <a:t>解析 / 检索 / 生成 / 分析</a:t>
            </a:r>
            <a:endParaRPr sz="2850" b="1" i="0">
              <a:solidFill>
                <a:srgbClr val="0F142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2115800" y="6819900"/>
            <a:ext cx="1143000" cy="57150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2115800" y="7067550"/>
            <a:ext cx="5257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FFBA55"/>
                </a:solidFill>
              </a:defRPr>
            </a:pPr>
            <a:r>
              <a:rPr sz="2400" b="1" i="0">
                <a:solidFill>
                  <a:srgbClr val="FFBA55"/>
                </a:solidFill>
              </a:rPr>
              <a:t>输出</a:t>
            </a:r>
            <a:endParaRPr sz="2400" b="1" i="0">
              <a:solidFill>
                <a:srgbClr val="FFBA55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2115800" y="7486650"/>
            <a:ext cx="39814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423"/>
                </a:solidFill>
              </a:defRPr>
            </a:pPr>
            <a:r>
              <a:rPr sz="2850" b="1" i="0">
                <a:solidFill>
                  <a:srgbClr val="0F1423"/>
                </a:solidFill>
              </a:rPr>
              <a:t>摘要、问答、报告、图谱</a:t>
            </a:r>
            <a:endParaRPr sz="2850" b="1" i="0">
              <a:solidFill>
                <a:srgbClr val="0F1423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14400" y="95250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924050" y="9391650"/>
            <a:ext cx="26098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项目定位：面向论文阅读的 AI 学习工作台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686300" y="9525000"/>
            <a:ext cx="1268730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6" name="图片 5" descr="貔貅紫白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459105" y="2765425"/>
            <a:ext cx="17545685" cy="2788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7150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4 页 | 总体架构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952500"/>
            <a:ext cx="165354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525" b="1" i="0">
                <a:solidFill>
                  <a:srgbClr val="0F1423"/>
                </a:solidFill>
              </a:defRPr>
            </a:pPr>
            <a:r>
              <a:rPr sz="3525" b="1" i="0">
                <a:solidFill>
                  <a:srgbClr val="0F1423"/>
                </a:solidFill>
              </a:rPr>
              <a:t>React + Spring Boot + FastAPI 的三层架构</a:t>
            </a:r>
            <a:endParaRPr sz="3525" b="1" i="0">
              <a:solidFill>
                <a:srgbClr val="0F1423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7630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F6FAFF"/>
          </a:solidFill>
          <a:ln w="14288">
            <a:solidFill>
              <a:srgbClr val="DCE7F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3733800"/>
            <a:ext cx="236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用户浏览器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PDF 阅读与功能面板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790700" y="5124450"/>
            <a:ext cx="9144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790950" y="4038600"/>
            <a:ext cx="361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  <a:endParaRPr sz="2625" b="1" i="0">
              <a:solidFill>
                <a:srgbClr val="6096E6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32435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F6FAFF"/>
          </a:solidFill>
          <a:ln w="14288">
            <a:solidFill>
              <a:srgbClr val="DCE7F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14850" y="3733800"/>
            <a:ext cx="236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React 前端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1485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Vite / Tailwind / 组件面板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38750" y="5124450"/>
            <a:ext cx="914400" cy="47625"/>
          </a:xfrm>
          <a:prstGeom prst="rect">
            <a:avLst/>
          </a:prstGeom>
          <a:solidFill>
            <a:srgbClr val="58B6E5"/>
          </a:solidFill>
          <a:ln w="0">
            <a:solidFill>
              <a:srgbClr val="58B6E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39000" y="4038600"/>
            <a:ext cx="361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  <a:endParaRPr sz="2625" b="1" i="0">
              <a:solidFill>
                <a:srgbClr val="6096E6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77240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F6FAFF"/>
          </a:solidFill>
          <a:ln w="14288">
            <a:solidFill>
              <a:srgbClr val="DCE7F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872095" y="3733800"/>
            <a:ext cx="254381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Spring Boot 网关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96290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统一 /api 契约与转发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86800" y="5124450"/>
            <a:ext cx="914400" cy="47625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687050" y="4038600"/>
            <a:ext cx="361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  <a:endParaRPr sz="2625" b="1" i="0">
              <a:solidFill>
                <a:srgbClr val="6096E6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122045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0F1423"/>
          </a:solidFill>
          <a:ln w="14288">
            <a:solidFill>
              <a:srgbClr val="0F142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410950" y="3733800"/>
            <a:ext cx="236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FFFFFF"/>
                </a:solidFill>
              </a:defRPr>
            </a:pPr>
            <a:r>
              <a:rPr sz="2800" b="1" i="0">
                <a:solidFill>
                  <a:srgbClr val="FFFFFF"/>
                </a:solidFill>
              </a:rPr>
              <a:t>FastAPI AI 服务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41095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D7E8FF"/>
                </a:solidFill>
              </a:defRPr>
            </a:pPr>
            <a:r>
              <a:rPr sz="1425" b="0" i="0">
                <a:solidFill>
                  <a:srgbClr val="D7E8FF"/>
                </a:solidFill>
              </a:rPr>
              <a:t>解析、RAG、LLM 调用</a:t>
            </a:r>
            <a:endParaRPr sz="1425" b="0" i="0">
              <a:solidFill>
                <a:srgbClr val="D7E8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2134850" y="5124450"/>
            <a:ext cx="914400" cy="47625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4135100" y="4038600"/>
            <a:ext cx="361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  <a:endParaRPr sz="2625" b="1" i="0">
              <a:solidFill>
                <a:srgbClr val="6096E6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4668500" y="3252788"/>
            <a:ext cx="2743200" cy="1695450"/>
          </a:xfrm>
          <a:prstGeom prst="roundRect">
            <a:avLst>
              <a:gd name="adj" fmla="val 4494"/>
            </a:avLst>
          </a:prstGeom>
          <a:solidFill>
            <a:srgbClr val="F6FAFF"/>
          </a:solidFill>
          <a:ln w="14288">
            <a:solidFill>
              <a:srgbClr val="DCE7F7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4859000" y="3752850"/>
            <a:ext cx="236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外部能力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4859000" y="4210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GROBID / Chroma / DashScope</a:t>
            </a:r>
            <a:endParaRPr sz="1425" b="0" i="0">
              <a:solidFill>
                <a:srgbClr val="5E6B84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5582900" y="5124450"/>
            <a:ext cx="914400" cy="47625"/>
          </a:xfrm>
          <a:prstGeom prst="rect">
            <a:avLst/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76300" y="61722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前端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76300" y="6534150"/>
            <a:ext cx="3943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182033"/>
                </a:solidFill>
              </a:defRPr>
            </a:pPr>
            <a:r>
              <a:rPr sz="2000" b="0" i="0">
                <a:solidFill>
                  <a:srgbClr val="182033"/>
                </a:solidFill>
              </a:rPr>
              <a:t>React 19 + Vite + Tailwind CSS，负责 PDF 阅读器和多功能面板</a:t>
            </a:r>
            <a:endParaRPr sz="2000" b="0" i="0">
              <a:solidFill>
                <a:srgbClr val="18203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086350" y="61722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56CA95"/>
                </a:solidFill>
              </a:defRPr>
            </a:pPr>
            <a:r>
              <a:rPr sz="2800" b="1" i="0">
                <a:solidFill>
                  <a:srgbClr val="56CA95"/>
                </a:solidFill>
              </a:rPr>
              <a:t>网关</a:t>
            </a:r>
            <a:endParaRPr sz="2800" b="1" i="0">
              <a:solidFill>
                <a:srgbClr val="56CA95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086350" y="6534150"/>
            <a:ext cx="3943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182033"/>
                </a:solidFill>
              </a:defRPr>
            </a:pPr>
            <a:r>
              <a:rPr sz="2000" b="0" i="0">
                <a:solidFill>
                  <a:srgbClr val="182033"/>
                </a:solidFill>
              </a:rPr>
              <a:t>Spring Boot 3.4 + Java 21，统一对外 API，转发 Python 服务</a:t>
            </a:r>
            <a:endParaRPr sz="2000" b="0" i="0">
              <a:solidFill>
                <a:srgbClr val="18203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277350" y="61722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FFBA55"/>
                </a:solidFill>
              </a:defRPr>
            </a:pPr>
            <a:r>
              <a:rPr sz="2800" b="1" i="0">
                <a:solidFill>
                  <a:srgbClr val="FFBA55"/>
                </a:solidFill>
              </a:rPr>
              <a:t>AI 服务</a:t>
            </a:r>
            <a:endParaRPr sz="2800" b="1" i="0">
              <a:solidFill>
                <a:srgbClr val="FFBA55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277350" y="6534150"/>
            <a:ext cx="3943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182033"/>
                </a:solidFill>
              </a:defRPr>
            </a:pPr>
            <a:r>
              <a:rPr sz="2000" b="0" i="0">
                <a:solidFill>
                  <a:srgbClr val="182033"/>
                </a:solidFill>
              </a:rPr>
              <a:t>FastAPI + GROBID + DashScope + RAG，负责核心智能能力</a:t>
            </a:r>
            <a:endParaRPr sz="2000" b="0" i="0">
              <a:solidFill>
                <a:srgbClr val="182033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3487400" y="6172200"/>
            <a:ext cx="3943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F18870"/>
                </a:solidFill>
              </a:defRPr>
            </a:pPr>
            <a:r>
              <a:rPr sz="2800" b="1" i="0">
                <a:solidFill>
                  <a:srgbClr val="F18870"/>
                </a:solidFill>
              </a:rPr>
              <a:t>部署</a:t>
            </a:r>
            <a:endParaRPr sz="2800" b="1" i="0">
              <a:solidFill>
                <a:srgbClr val="F1887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3487400" y="6534150"/>
            <a:ext cx="3943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182033"/>
                </a:solidFill>
              </a:defRPr>
            </a:pPr>
            <a:r>
              <a:rPr sz="2000" b="0" i="0">
                <a:solidFill>
                  <a:srgbClr val="182033"/>
                </a:solidFill>
              </a:rPr>
              <a:t>Docker Compose 编排 frontend、backend、ai-service、grobid</a:t>
            </a:r>
            <a:endParaRPr sz="2000" b="0" i="0">
              <a:solidFill>
                <a:srgbClr val="182033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76300" y="95631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885950" y="9429750"/>
            <a:ext cx="37719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技术栈：React 19 + Spring Boot 3.4 + FastAPI + Docker Compose</a:t>
            </a:r>
            <a:endParaRPr sz="1125" b="0" i="0">
              <a:solidFill>
                <a:srgbClr val="5E6B84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810250" y="9563100"/>
            <a:ext cx="116014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4" name="图片 3" descr="貔貅紫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6467475" y="647065"/>
            <a:ext cx="11242040" cy="8505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5 页 | 基础功能展示</a:t>
            </a:r>
            <a:r>
              <a:rPr lang="en-US" sz="2800" b="1" i="0">
                <a:solidFill>
                  <a:srgbClr val="6096E6"/>
                </a:solidFill>
              </a:rPr>
              <a:t>-</a:t>
            </a:r>
            <a:r>
              <a:rPr lang="zh-CN" altLang="en-US" sz="2800" b="1" i="0">
                <a:solidFill>
                  <a:schemeClr val="tx1"/>
                </a:solidFill>
              </a:rPr>
              <a:t>篇章解构</a:t>
            </a:r>
            <a:endParaRPr lang="zh-CN" altLang="en-US"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从 PDF 上传到论文解析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8758555"/>
            <a:ext cx="6477000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把 PDF 转成后续可检索、</a:t>
            </a:r>
            <a:endParaRPr sz="3000" b="1" i="0">
              <a:solidFill>
                <a:srgbClr val="0F1423"/>
              </a:solidFill>
            </a:endParaRPr>
          </a:p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可问答、可分析的结构化材料。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2266950"/>
            <a:ext cx="8343900" cy="16903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lang="zh-CN" sz="2800" b="1">
                <a:solidFill>
                  <a:srgbClr val="6096E6"/>
                </a:solidFill>
                <a:sym typeface="+mn-ea"/>
              </a:rPr>
              <a:t>篇</a:t>
            </a:r>
            <a:r>
              <a:rPr lang="zh-CN" sz="2800" b="1" i="0">
                <a:solidFill>
                  <a:srgbClr val="6096E6"/>
                </a:solidFill>
              </a:rPr>
              <a:t>章解构</a:t>
            </a:r>
            <a:endParaRPr lang="zh-CN" sz="2800" b="1" i="0">
              <a:solidFill>
                <a:srgbClr val="6096E6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GROBID 解析论文标题、摘要、章节和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正文片段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前端显示论文结构和基础分析结果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论文内容被索引为 RAG 检索片段，供后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续问答和分析复用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67715" y="5105400"/>
            <a:ext cx="481711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5174615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800" b="1" i="0">
                <a:solidFill>
                  <a:srgbClr val="6096E6"/>
                </a:solidFill>
              </a:rPr>
              <a:t>对应模块</a:t>
            </a:r>
            <a:endParaRPr sz="1800" b="1" i="0">
              <a:solidFill>
                <a:srgbClr val="6096E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6300" y="546227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前端：frontend/src/components/PaperAnalysis.jsx</a:t>
            </a:r>
            <a:endParaRPr sz="1600" b="0" i="0">
              <a:solidFill>
                <a:srgbClr val="5E6B84"/>
              </a:solidFill>
            </a:endParaRPr>
          </a:p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>
                <a:sym typeface="+mn-ea"/>
              </a:rPr>
              <a:t>前端：frontend/src/components/PdfViewer.jsx</a:t>
            </a:r>
            <a:endParaRPr sz="1600" b="0" i="0">
              <a:solidFill>
                <a:srgbClr val="5E6B84"/>
              </a:solidFill>
            </a:endParaRPr>
          </a:p>
          <a:p>
            <a:pPr>
              <a:defRPr sz="1125" b="0" i="0">
                <a:solidFill>
                  <a:srgbClr val="5E6B84"/>
                </a:solidFill>
              </a:defRPr>
            </a:pP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85961"/>
          <a:stretch>
            <a:fillRect/>
          </a:stretch>
        </p:blipFill>
        <p:spPr>
          <a:xfrm>
            <a:off x="7353300" y="810895"/>
            <a:ext cx="2219960" cy="8150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15" y="6664960"/>
            <a:ext cx="5281295" cy="1550670"/>
          </a:xfrm>
          <a:prstGeom prst="rect">
            <a:avLst/>
          </a:prstGeom>
        </p:spPr>
      </p:pic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7915" y="723900"/>
            <a:ext cx="5344795" cy="8381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7287895" y="1054100"/>
            <a:ext cx="10650220" cy="8098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76300" y="4272280"/>
            <a:ext cx="481711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6 页 | </a:t>
            </a:r>
            <a:r>
              <a:rPr sz="2800">
                <a:sym typeface="+mn-ea"/>
              </a:rPr>
              <a:t>基础功能展示</a:t>
            </a:r>
            <a:r>
              <a:rPr lang="en-US" sz="2800">
                <a:sym typeface="+mn-ea"/>
              </a:rPr>
              <a:t>-</a:t>
            </a:r>
            <a:r>
              <a:rPr sz="2800" b="1" i="0">
                <a:solidFill>
                  <a:schemeClr val="tx1"/>
                </a:solidFill>
              </a:rPr>
              <a:t>RAG 问答与</a:t>
            </a:r>
            <a:r>
              <a:rPr lang="zh-CN" sz="2800" b="1" i="0">
                <a:solidFill>
                  <a:schemeClr val="tx1"/>
                </a:solidFill>
              </a:rPr>
              <a:t>划词</a:t>
            </a:r>
            <a:r>
              <a:rPr sz="2800" b="1" i="0">
                <a:solidFill>
                  <a:schemeClr val="tx1"/>
                </a:solidFill>
              </a:rPr>
              <a:t>解释</a:t>
            </a:r>
            <a:endParaRPr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基于当前论文证据的问答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3125" y="5681345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优先依据当前论文证据回答，减少把模型猜测当成论文结论。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3125" y="202501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800" b="1">
                <a:solidFill>
                  <a:srgbClr val="6096E6"/>
                </a:solidFill>
                <a:sym typeface="+mn-ea"/>
              </a:rPr>
              <a:t>RAG 问答</a:t>
            </a:r>
            <a:r>
              <a:rPr lang="en-US" sz="2400" b="1">
                <a:solidFill>
                  <a:srgbClr val="6096E6"/>
                </a:solidFill>
                <a:sym typeface="+mn-ea"/>
              </a:rPr>
              <a:t>  </a:t>
            </a:r>
            <a:r>
              <a:rPr sz="2400" b="0" i="0">
                <a:solidFill>
                  <a:srgbClr val="182033"/>
                </a:solidFill>
              </a:rPr>
              <a:t>聊天面板支持围绕当前论文提问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lang="zh-CN" sz="2800" b="1">
                <a:solidFill>
                  <a:srgbClr val="6096E6"/>
                </a:solidFill>
                <a:sym typeface="+mn-ea"/>
              </a:rPr>
              <a:t>动态</a:t>
            </a:r>
            <a:r>
              <a:rPr sz="2800" b="1">
                <a:solidFill>
                  <a:srgbClr val="6096E6"/>
                </a:solidFill>
                <a:sym typeface="+mn-ea"/>
              </a:rPr>
              <a:t>解释</a:t>
            </a:r>
            <a:r>
              <a:rPr lang="en-US" sz="2400" b="1">
                <a:solidFill>
                  <a:srgbClr val="6096E6"/>
                </a:solidFill>
                <a:sym typeface="+mn-ea"/>
              </a:rPr>
              <a:t> </a:t>
            </a:r>
            <a:r>
              <a:rPr lang="en-US" sz="2400">
                <a:solidFill>
                  <a:srgbClr val="6096E6"/>
                </a:solidFill>
                <a:sym typeface="+mn-ea"/>
              </a:rPr>
              <a:t> 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对</a:t>
            </a:r>
            <a:r>
              <a:rPr sz="2400">
                <a:sym typeface="+mn-ea"/>
              </a:rPr>
              <a:t>划词术语结合论文</a:t>
            </a:r>
            <a:r>
              <a:rPr lang="zh-CN" sz="2400">
                <a:sym typeface="+mn-ea"/>
              </a:rPr>
              <a:t>提供</a:t>
            </a:r>
            <a:r>
              <a:rPr sz="2400">
                <a:sym typeface="+mn-ea"/>
              </a:rPr>
              <a:t>解释</a:t>
            </a:r>
            <a:endParaRPr lang="zh-CN"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912610" y="383603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lang="zh-CN" sz="1800" b="0" i="0">
              <a:solidFill>
                <a:srgbClr val="18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3034030"/>
            <a:ext cx="6199505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轻量 Agentic RAG：意图识别 -&gt; 查询规划 -&gt; 当前论文优先检索 -&gt; 证据判断 -&gt; 回答生成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125" y="360743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返回 rag_sources，便于后续追溯回答依据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74090" y="4388485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8B6E5"/>
                </a:solidFill>
              </a:defRPr>
            </a:pPr>
            <a:r>
              <a:rPr sz="1800" b="1" i="0">
                <a:solidFill>
                  <a:srgbClr val="58B6E5"/>
                </a:solidFill>
              </a:rPr>
              <a:t>对应模块</a:t>
            </a:r>
            <a:endParaRPr sz="1800" b="1" i="0">
              <a:solidFill>
                <a:srgbClr val="58B6E5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74090" y="465518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前端：frontend/src/components/ChatPanel.jsx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74090" y="488378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Java：POST /api/chat，POST /api/explain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460" y="1280160"/>
            <a:ext cx="4726305" cy="76047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5605" y="2489835"/>
            <a:ext cx="4545330" cy="4483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125" y="6896735"/>
            <a:ext cx="4554855" cy="2734310"/>
          </a:xfrm>
          <a:prstGeom prst="rect">
            <a:avLst/>
          </a:prstGeom>
        </p:spPr>
      </p:pic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圆角矩形 2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3940175"/>
            <a:ext cx="481711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7 页 | </a:t>
            </a:r>
            <a:r>
              <a:rPr sz="2800">
                <a:sym typeface="+mn-ea"/>
              </a:rPr>
              <a:t>基础功能展示</a:t>
            </a:r>
            <a:r>
              <a:rPr lang="en-US" sz="2800">
                <a:sym typeface="+mn-ea"/>
              </a:rPr>
              <a:t>-</a:t>
            </a:r>
            <a:r>
              <a:rPr lang="zh-CN" sz="2800" b="1" i="0">
                <a:solidFill>
                  <a:schemeClr val="tx1"/>
                </a:solidFill>
              </a:rPr>
              <a:t>全景</a:t>
            </a:r>
            <a:r>
              <a:rPr sz="2800" b="1" i="0">
                <a:solidFill>
                  <a:schemeClr val="tx1"/>
                </a:solidFill>
              </a:rPr>
              <a:t>翻译</a:t>
            </a:r>
            <a:endParaRPr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面向论文页面的翻译体验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632460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翻译围绕当前阅读页展开，</a:t>
            </a:r>
            <a:r>
              <a:rPr lang="zh-CN" sz="3000" b="1" i="0">
                <a:solidFill>
                  <a:srgbClr val="0F1423"/>
                </a:solidFill>
              </a:rPr>
              <a:t>并对对图表元素留空，保证排版一一照应</a:t>
            </a:r>
            <a:r>
              <a:rPr sz="3000" b="1" i="0">
                <a:solidFill>
                  <a:srgbClr val="0F1423"/>
                </a:solidFill>
              </a:rPr>
              <a:t>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6300" y="2047240"/>
            <a:ext cx="8343900" cy="20675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lang="zh-CN" sz="2800" b="1">
                <a:solidFill>
                  <a:srgbClr val="6096E6"/>
                </a:solidFill>
                <a:sym typeface="+mn-ea"/>
              </a:rPr>
              <a:t>全景</a:t>
            </a:r>
            <a:r>
              <a:rPr sz="2800" b="1">
                <a:solidFill>
                  <a:srgbClr val="6096E6"/>
                </a:solidFill>
                <a:sym typeface="+mn-ea"/>
              </a:rPr>
              <a:t>翻译</a:t>
            </a:r>
            <a:endParaRPr sz="2800" b="1" i="0">
              <a:solidFill>
                <a:srgbClr val="6096E6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按当前 PDF 页提取可翻译文本</a:t>
            </a:r>
            <a:r>
              <a:rPr lang="zh-CN" sz="2400" b="0" i="0">
                <a:solidFill>
                  <a:srgbClr val="182033"/>
                </a:solidFill>
                <a:ea typeface="宋体" panose="02010600030101010101" pitchFamily="2" charset="-122"/>
              </a:rPr>
              <a:t>，忽略图标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结合论文</a:t>
            </a:r>
            <a:r>
              <a:rPr lang="zh-CN" sz="2400">
                <a:sym typeface="+mn-ea"/>
              </a:rPr>
              <a:t>排版</a:t>
            </a:r>
            <a:r>
              <a:rPr sz="2400">
                <a:sym typeface="+mn-ea"/>
              </a:rPr>
              <a:t>生成</a:t>
            </a:r>
            <a:r>
              <a:rPr lang="zh-CN" sz="2400">
                <a:sym typeface="+mn-ea"/>
              </a:rPr>
              <a:t>相应</a:t>
            </a:r>
            <a:r>
              <a:rPr sz="2400">
                <a:sym typeface="+mn-ea"/>
              </a:rPr>
              <a:t>中文译文</a:t>
            </a:r>
            <a:r>
              <a:rPr lang="zh-CN" sz="2400">
                <a:ea typeface="宋体" panose="02010600030101010101" pitchFamily="2" charset="-122"/>
                <a:sym typeface="+mn-ea"/>
              </a:rPr>
              <a:t>，</a:t>
            </a:r>
            <a:endParaRPr lang="zh-CN" sz="2400">
              <a:ea typeface="宋体" panose="02010600030101010101" pitchFamily="2" charset="-122"/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翻页时自动更新译文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784465" y="499935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123555" y="60960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51230" y="4087495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56CA95"/>
                </a:solidFill>
              </a:defRPr>
            </a:pPr>
            <a:r>
              <a:rPr sz="1800" b="1" i="0">
                <a:solidFill>
                  <a:srgbClr val="56CA95"/>
                </a:solidFill>
              </a:rPr>
              <a:t>对应模块</a:t>
            </a:r>
            <a:endParaRPr sz="1800" b="1" i="0">
              <a:solidFill>
                <a:srgbClr val="56CA95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51230" y="433514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前端：frontend/src/components/TranslationPanel.jsx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51230" y="456374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前端：frontend/src/utils/pdfTranslationLayout.js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64400" y="956310"/>
            <a:ext cx="10754360" cy="81959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53545" y="143510"/>
            <a:ext cx="5577205" cy="8535035"/>
          </a:xfrm>
          <a:prstGeom prst="rect">
            <a:avLst/>
          </a:prstGeom>
        </p:spPr>
      </p:pic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5230" y="2167255"/>
            <a:ext cx="3762375" cy="5166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6525260" y="761365"/>
            <a:ext cx="11447145" cy="8611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8 页 | </a:t>
            </a:r>
            <a:r>
              <a:rPr lang="zh-CN" sz="2800" b="1" i="0">
                <a:solidFill>
                  <a:srgbClr val="6096E6"/>
                </a:solidFill>
              </a:rPr>
              <a:t>创新功能</a:t>
            </a:r>
            <a:r>
              <a:rPr lang="en-US" altLang="zh-CN" sz="2800" b="1" i="0">
                <a:solidFill>
                  <a:srgbClr val="6096E6"/>
                </a:solidFill>
              </a:rPr>
              <a:t>-</a:t>
            </a:r>
            <a:r>
              <a:rPr sz="2800" b="1" i="0">
                <a:solidFill>
                  <a:schemeClr val="tx1"/>
                </a:solidFill>
              </a:rPr>
              <a:t>批判性阅读</a:t>
            </a:r>
            <a:endParaRPr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分析论文贡献与局限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5881370"/>
            <a:ext cx="62103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走向“哪些判断有证据支撑”。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2096770"/>
            <a:ext cx="8343900" cy="17310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800" b="1">
                <a:solidFill>
                  <a:srgbClr val="6096E6"/>
                </a:solidFill>
                <a:sym typeface="+mn-ea"/>
              </a:rPr>
              <a:t>批判性阅读</a:t>
            </a:r>
            <a:endParaRPr sz="2800" b="1" i="0">
              <a:solidFill>
                <a:srgbClr val="6096E6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输出 evidence-based contributions、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weaknesses、overclaim risks、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missing evidence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证据不足时明确标记</a:t>
            </a: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43750" y="473964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76300" y="4594860"/>
            <a:ext cx="498983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14400" y="4663440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FBA55"/>
                </a:solidFill>
              </a:defRPr>
            </a:pPr>
            <a:r>
              <a:rPr sz="1800" b="1" i="0">
                <a:solidFill>
                  <a:srgbClr val="FFBA55"/>
                </a:solidFill>
              </a:rPr>
              <a:t>对应模块</a:t>
            </a:r>
            <a:endParaRPr sz="1800" b="1" i="0">
              <a:solidFill>
                <a:srgbClr val="FFBA55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14400" y="491109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前端：frontend/src/components/CriticalAnalysisPanel.jsx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513969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Java：POST /api/critical-reading/{pdfId}</a:t>
            </a:r>
            <a:endParaRPr sz="1600" b="0" i="0">
              <a:solidFill>
                <a:srgbClr val="5E6B84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t="10795"/>
          <a:stretch>
            <a:fillRect/>
          </a:stretch>
        </p:blipFill>
        <p:spPr>
          <a:xfrm>
            <a:off x="6278880" y="514350"/>
            <a:ext cx="5890260" cy="80835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795" y="6499860"/>
            <a:ext cx="4693920" cy="36899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12040" y="2697480"/>
            <a:ext cx="5245100" cy="6861175"/>
          </a:xfrm>
          <a:prstGeom prst="rect">
            <a:avLst/>
          </a:prstGeom>
        </p:spPr>
      </p:pic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81890" y="514350"/>
            <a:ext cx="5160010" cy="1468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9649460" y="319405"/>
            <a:ext cx="6244590" cy="932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9 页 | </a:t>
            </a:r>
            <a:r>
              <a:rPr lang="zh-CN" sz="2800">
                <a:sym typeface="+mn-ea"/>
              </a:rPr>
              <a:t>创新功能</a:t>
            </a:r>
            <a:r>
              <a:rPr lang="en-US" altLang="zh-CN" sz="2800">
                <a:sym typeface="+mn-ea"/>
              </a:rPr>
              <a:t>-</a:t>
            </a:r>
            <a:r>
              <a:rPr sz="2800" b="1" i="0">
                <a:solidFill>
                  <a:schemeClr val="tx1"/>
                </a:solidFill>
              </a:rPr>
              <a:t>背景补课</a:t>
            </a:r>
            <a:endParaRPr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补齐论文理解所需的前置知识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4876800"/>
            <a:ext cx="1257300" cy="66675"/>
          </a:xfrm>
          <a:prstGeom prst="rect">
            <a:avLst/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674370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当用户缺少前置知识时，系统给出分层补课路径。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6153150"/>
            <a:ext cx="7447915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800" b="0" i="0">
                <a:solidFill>
                  <a:srgbClr val="5E6B84"/>
                </a:solidFill>
              </a:rPr>
              <a:t>背景补课面向“论文能看见，但前置知识不够”的场景。系统会根据论文主题和用户知识水平生成概念图谱与学习路径，帮助用户先补齐方法</a:t>
            </a:r>
            <a:r>
              <a:rPr lang="zh-CN" sz="1800" b="0" i="0">
                <a:solidFill>
                  <a:srgbClr val="5E6B84"/>
                </a:solidFill>
                <a:ea typeface="宋体" panose="02010600030101010101" pitchFamily="2" charset="-122"/>
              </a:rPr>
              <a:t>。</a:t>
            </a:r>
            <a:endParaRPr lang="zh-CN" sz="1800" b="0" i="0">
              <a:solidFill>
                <a:srgbClr val="5E6B84"/>
              </a:solidFill>
              <a:ea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231457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按“入门 / 一般 / 进阶”</a:t>
            </a:r>
            <a:r>
              <a:rPr lang="zh-CN" sz="2400" b="0" i="0">
                <a:solidFill>
                  <a:srgbClr val="182033"/>
                </a:solidFill>
              </a:rPr>
              <a:t>不同知识水平</a:t>
            </a:r>
            <a:r>
              <a:rPr sz="2400" b="0" i="0">
                <a:solidFill>
                  <a:srgbClr val="182033"/>
                </a:solidFill>
              </a:rPr>
              <a:t>生成前置知识</a:t>
            </a: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271462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输出概念图谱、学习路径和补课清单</a:t>
            </a: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311467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学习路径按基础概念、方法前置、实验理解、批判视角组织</a:t>
            </a: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4272280"/>
            <a:ext cx="566928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10920" y="4419600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F18870"/>
                </a:solidFill>
              </a:defRPr>
            </a:pPr>
            <a:r>
              <a:rPr sz="1800" b="1" i="0">
                <a:solidFill>
                  <a:srgbClr val="F18870"/>
                </a:solidFill>
              </a:rPr>
              <a:t>对应模块</a:t>
            </a:r>
            <a:endParaRPr sz="1800" b="1" i="0">
              <a:solidFill>
                <a:srgbClr val="F18870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10920" y="46672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前端：frontend/src/components/BackgroundKnowledgePanel.jsx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10920" y="4895850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Java：POST /api/background-knowledge</a:t>
            </a:r>
            <a:endParaRPr sz="1600" b="0" i="0">
              <a:solidFill>
                <a:srgbClr val="5E6B84"/>
              </a:solidFill>
            </a:endParaRPr>
          </a:p>
        </p:txBody>
      </p:sp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685" y="572770"/>
            <a:ext cx="5309235" cy="8820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7396480" y="514350"/>
            <a:ext cx="10892155" cy="8340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10 页 | </a:t>
            </a:r>
            <a:r>
              <a:rPr lang="zh-CN" sz="2800">
                <a:sym typeface="+mn-ea"/>
              </a:rPr>
              <a:t>创新功能</a:t>
            </a:r>
            <a:r>
              <a:rPr lang="en-US" altLang="zh-CN" sz="2800">
                <a:sym typeface="+mn-ea"/>
              </a:rPr>
              <a:t>-</a:t>
            </a:r>
            <a:r>
              <a:rPr sz="2800" b="1" i="0">
                <a:solidFill>
                  <a:schemeClr val="tx1"/>
                </a:solidFill>
              </a:rPr>
              <a:t>引导式学习</a:t>
            </a:r>
            <a:endParaRPr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用苏格拉底式提问检查理解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09625" y="5379085"/>
            <a:ext cx="1257300" cy="66675"/>
          </a:xfrm>
          <a:prstGeom prst="rect">
            <a:avLst/>
          </a:prstGeom>
          <a:solidFill>
            <a:srgbClr val="EC5F74"/>
          </a:solidFill>
          <a:ln w="0">
            <a:solidFill>
              <a:srgbClr val="EC5F7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28675" y="5972175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用递进提问促成主动回忆，而不是被动接收摘要。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28675" y="6962775"/>
            <a:ext cx="6115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800" b="0" i="0">
                <a:solidFill>
                  <a:srgbClr val="5E6B84"/>
                </a:solidFill>
              </a:rPr>
              <a:t>解决的是“我以为自己看懂了，但其实没有真正掌握”的问题。</a:t>
            </a:r>
            <a:endParaRPr sz="1800" b="0" i="0">
              <a:solidFill>
                <a:srgbClr val="5E6B8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8675" y="1866900"/>
            <a:ext cx="8343900" cy="211899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800" b="1">
                <a:solidFill>
                  <a:srgbClr val="6096E6"/>
                </a:solidFill>
                <a:sym typeface="+mn-ea"/>
              </a:rPr>
              <a:t>引导式学习</a:t>
            </a:r>
            <a:endParaRPr sz="2800" b="0" i="0">
              <a:solidFill>
                <a:srgbClr val="6096E6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800" b="1" i="0">
                <a:solidFill>
                  <a:srgbClr val="182033"/>
                </a:solidFill>
              </a:rPr>
              <a:t> 5 轮问题：</a:t>
            </a:r>
            <a:endParaRPr sz="2800" b="1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研究问题、方法创新、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方法逻辑、实验依据、局限改进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根据用户回答给出掌握度、提示和回读建议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完成后给出最终总结和建议回读章节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067800" y="47625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067800" y="55626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9625" y="4774565"/>
            <a:ext cx="637286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4921885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EC5F74"/>
                </a:solidFill>
              </a:defRPr>
            </a:pPr>
            <a:r>
              <a:rPr sz="1800" b="1" i="0">
                <a:solidFill>
                  <a:srgbClr val="EC5F74"/>
                </a:solidFill>
              </a:rPr>
              <a:t>对应模块</a:t>
            </a:r>
            <a:endParaRPr sz="1800" b="1" i="0">
              <a:solidFill>
                <a:srgbClr val="EC5F74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6300" y="516953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前端：frontend/src/components/SocraticQuestionsPanel.jsx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6300" y="539813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Java：POST /api/socratic-session/start，POST /api/socratic-session/answer</a:t>
            </a:r>
            <a:endParaRPr sz="1600" b="0" i="0">
              <a:solidFill>
                <a:srgbClr val="5E6B84"/>
              </a:solidFill>
            </a:endParaRPr>
          </a:p>
        </p:txBody>
      </p:sp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745" y="691515"/>
            <a:ext cx="5812790" cy="79794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9795" y="1581150"/>
            <a:ext cx="4574540" cy="6200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8328660" y="762000"/>
            <a:ext cx="9959340" cy="8098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圆角矩形 2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4272280"/>
            <a:ext cx="5069205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11 页 | </a:t>
            </a:r>
            <a:r>
              <a:rPr lang="zh-CN" sz="2800">
                <a:sym typeface="+mn-ea"/>
              </a:rPr>
              <a:t>创新功能</a:t>
            </a:r>
            <a:r>
              <a:rPr lang="en-US" altLang="zh-CN" sz="2800">
                <a:sym typeface="+mn-ea"/>
              </a:rPr>
              <a:t>-</a:t>
            </a:r>
            <a:r>
              <a:rPr sz="2800" b="1" i="0">
                <a:solidFill>
                  <a:schemeClr val="tx1"/>
                </a:solidFill>
              </a:rPr>
              <a:t>深度研究</a:t>
            </a:r>
            <a:endParaRPr sz="2800" b="1" i="0">
              <a:solidFill>
                <a:schemeClr val="tx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把开放研究问题拆成可执行任务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7919085"/>
            <a:ext cx="1257300" cy="66675"/>
          </a:xfrm>
          <a:prstGeom prst="rect">
            <a:avLst/>
          </a:prstGeom>
          <a:solidFill>
            <a:srgbClr val="315F9D"/>
          </a:solidFill>
          <a:ln w="0">
            <a:solidFill>
              <a:srgbClr val="315F9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608330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把开放研究问题拆成可轮询</a:t>
            </a:r>
            <a:r>
              <a:rPr lang="zh-CN" sz="3000" b="1" i="0">
                <a:solidFill>
                  <a:srgbClr val="0F1423"/>
                </a:solidFill>
                <a:ea typeface="宋体" panose="02010600030101010101" pitchFamily="2" charset="-122"/>
              </a:rPr>
              <a:t>、</a:t>
            </a:r>
            <a:r>
              <a:rPr sz="3000" b="1" i="0">
                <a:solidFill>
                  <a:srgbClr val="0F1423"/>
                </a:solidFill>
              </a:rPr>
              <a:t>可汇总的研究任务。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7258685"/>
            <a:ext cx="687197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800" b="0" i="0">
                <a:solidFill>
                  <a:srgbClr val="5E6B84"/>
                </a:solidFill>
              </a:rPr>
              <a:t>深度研究面向更开放的论文分析或选题准备场景。它会把用户的问题拆成多个子问题，围绕当前论文和内部文献库检索证据</a:t>
            </a:r>
            <a:endParaRPr sz="1800" b="0" i="0">
              <a:solidFill>
                <a:srgbClr val="5E6B8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6300" y="2035810"/>
            <a:ext cx="8343900" cy="162115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lang="zh-CN" sz="2800" b="1" i="0">
                <a:solidFill>
                  <a:srgbClr val="6096E6"/>
                </a:solidFill>
              </a:rPr>
              <a:t>流程</a:t>
            </a:r>
            <a:endParaRPr lang="zh-CN" sz="2800" b="1" i="0">
              <a:solidFill>
                <a:srgbClr val="6096E6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用户输入研究问题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系统拆成 3-5 个子问题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调度当前论文检索、文献库检索、证据判断和报告综合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支持任务创建、轮询查看、取消和结构化报告展示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 b="0" i="0">
              <a:solidFill>
                <a:srgbClr val="18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654550" y="394144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66470" y="4385945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315F9D"/>
                </a:solidFill>
              </a:defRPr>
            </a:pPr>
            <a:r>
              <a:rPr sz="1800" b="1" i="0">
                <a:solidFill>
                  <a:srgbClr val="315F9D"/>
                </a:solidFill>
              </a:rPr>
              <a:t>对应模块</a:t>
            </a:r>
            <a:endParaRPr sz="1800" b="1" i="0">
              <a:solidFill>
                <a:srgbClr val="315F9D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66470" y="463359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前端：frontend/src/components/DeepResearchPanel.jsx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6470" y="486219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Java：POST /api/research-tasks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0" y="9696450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795" y="1317625"/>
            <a:ext cx="4448175" cy="7086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23215" y="258445"/>
            <a:ext cx="5128895" cy="62725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5445" y="6910070"/>
            <a:ext cx="4857750" cy="3152775"/>
          </a:xfrm>
          <a:prstGeom prst="rect">
            <a:avLst/>
          </a:prstGeom>
        </p:spPr>
      </p:pic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8367395" y="1915795"/>
            <a:ext cx="9460865" cy="645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圆角矩形 2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2490" y="6061075"/>
            <a:ext cx="4817110" cy="955675"/>
          </a:xfrm>
          <a:prstGeom prst="roundRect">
            <a:avLst>
              <a:gd name="adj" fmla="val 7843"/>
            </a:avLst>
          </a:prstGeom>
          <a:solidFill>
            <a:srgbClr val="F7FAFF"/>
          </a:solidFill>
          <a:ln w="9525">
            <a:solidFill>
              <a:srgbClr val="DCE7F7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1435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12 页 | 安全边界与工程可靠性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89535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不可信内容</a:t>
            </a:r>
            <a:r>
              <a:rPr lang="zh-CN" sz="4050" b="1" i="0">
                <a:solidFill>
                  <a:srgbClr val="0F1423"/>
                </a:solidFill>
                <a:ea typeface="宋体" panose="02010600030101010101" pitchFamily="2" charset="-122"/>
              </a:rPr>
              <a:t>、</a:t>
            </a:r>
            <a:r>
              <a:rPr sz="4050" b="1" i="0">
                <a:solidFill>
                  <a:srgbClr val="0F1423"/>
                </a:solidFill>
              </a:rPr>
              <a:t>安全设计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14500"/>
            <a:ext cx="171450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2490" y="768096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论文文本只作为资料进入系统，不允许成为系统指令。</a:t>
            </a:r>
            <a:endParaRPr sz="30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2490" y="8671560"/>
            <a:ext cx="643001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 i="0">
                <a:solidFill>
                  <a:srgbClr val="5E6B84"/>
                </a:solidFill>
              </a:defRPr>
            </a:pPr>
            <a:r>
              <a:rPr sz="1800" b="1" i="0">
                <a:solidFill>
                  <a:srgbClr val="5E6B84"/>
                </a:solidFill>
              </a:rPr>
              <a:t>AI论文阅读工具会直接接触用户上传论文，而论文文本本身可能包含干扰模型的内容。</a:t>
            </a:r>
            <a:endParaRPr sz="1800" b="1" i="0">
              <a:solidFill>
                <a:srgbClr val="5E6B8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2490" y="1859915"/>
            <a:ext cx="7131685" cy="23456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800" b="1">
                <a:solidFill>
                  <a:srgbClr val="6096E6"/>
                </a:solidFill>
                <a:sym typeface="+mn-ea"/>
              </a:rPr>
              <a:t>不可信内容</a:t>
            </a:r>
            <a:endParaRPr sz="2800" b="1">
              <a:solidFill>
                <a:srgbClr val="6096E6"/>
              </a:solidFill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 b="0" i="0">
                <a:solidFill>
                  <a:srgbClr val="182033"/>
                </a:solidFill>
              </a:rPr>
              <a:t>论文正文、页面上下文、RAG 片段视为不可信输入</a:t>
            </a:r>
            <a:endParaRPr sz="2400" b="0" i="0">
              <a:solidFill>
                <a:srgbClr val="182033"/>
              </a:solidFill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对“忽略之前指令”“泄露 API Key”“执行命令”“联网搜索”等</a:t>
            </a:r>
            <a:r>
              <a:rPr sz="2400" b="1">
                <a:sym typeface="+mn-ea"/>
              </a:rPr>
              <a:t>注入内容</a:t>
            </a:r>
            <a:r>
              <a:rPr sz="2400">
                <a:sym typeface="+mn-ea"/>
              </a:rPr>
              <a:t>进行检测和包装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endParaRPr sz="2400">
              <a:sym typeface="+mn-ea"/>
            </a:endParaRPr>
          </a:p>
          <a:p>
            <a:pPr algn="l">
              <a:buClrTx/>
              <a:buSzTx/>
              <a:buFontTx/>
              <a:defRPr sz="1800" b="0" i="0">
                <a:solidFill>
                  <a:srgbClr val="182033"/>
                </a:solidFill>
              </a:defRPr>
            </a:pPr>
            <a:r>
              <a:rPr sz="2800" b="1">
                <a:solidFill>
                  <a:srgbClr val="6096E6"/>
                </a:solidFill>
                <a:sym typeface="+mn-ea"/>
              </a:rPr>
              <a:t>安全设计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Deep</a:t>
            </a:r>
            <a:r>
              <a:rPr lang="en-US" sz="2400">
                <a:sym typeface="+mn-ea"/>
              </a:rPr>
              <a:t>R</a:t>
            </a:r>
            <a:r>
              <a:rPr sz="2400">
                <a:sym typeface="+mn-ea"/>
              </a:rPr>
              <a:t>esearch 限制为当前论文，不</a:t>
            </a:r>
            <a:r>
              <a:rPr lang="zh-CN" sz="2400">
                <a:sym typeface="+mn-ea"/>
              </a:rPr>
              <a:t>主</a:t>
            </a:r>
            <a:r>
              <a:rPr sz="2400">
                <a:sym typeface="+mn-ea"/>
              </a:rPr>
              <a:t>动扩展外部搜索</a:t>
            </a:r>
            <a:endParaRPr sz="2400">
              <a:sym typeface="+mn-ea"/>
            </a:endParaRPr>
          </a:p>
          <a:p>
            <a:pPr>
              <a:defRPr sz="1800" b="0" i="0">
                <a:solidFill>
                  <a:srgbClr val="182033"/>
                </a:solidFill>
              </a:defRPr>
            </a:pPr>
            <a:r>
              <a:rPr sz="2400">
                <a:sym typeface="+mn-ea"/>
              </a:rPr>
              <a:t>Trace 只记录阶段状态，不记录 API Key、完整 prompt </a:t>
            </a: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03720" y="542607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502910" y="6090285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938770" y="6873240"/>
            <a:ext cx="8343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182033"/>
                </a:solidFill>
              </a:defRPr>
            </a:pPr>
            <a:endParaRPr sz="1800" b="0" i="0">
              <a:solidFill>
                <a:srgbClr val="18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2490" y="6189345"/>
            <a:ext cx="8305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1800" b="1" i="0">
                <a:solidFill>
                  <a:srgbClr val="6096E6"/>
                </a:solidFill>
              </a:rPr>
              <a:t>对应模块</a:t>
            </a:r>
            <a:endParaRPr sz="1800" b="1" i="0">
              <a:solidFill>
                <a:srgbClr val="6096E6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2490" y="645604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Python：ai-service-python/services/safety_service.py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2490" y="6684645"/>
            <a:ext cx="8305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5E6B84"/>
                </a:solidFill>
              </a:defRPr>
            </a:pPr>
            <a:r>
              <a:rPr sz="1600" b="0" i="0">
                <a:solidFill>
                  <a:srgbClr val="5E6B84"/>
                </a:solidFill>
              </a:rPr>
              <a:t>Python：ai-service-python/services/trace_service.py</a:t>
            </a:r>
            <a:endParaRPr sz="1600" b="0" i="0">
              <a:solidFill>
                <a:srgbClr val="5E6B8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969645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14950" y="9705975"/>
            <a:ext cx="12096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14" name="图片 13" descr="貔貅紫白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>
            <a:clrChange>
              <a:clrFrom>
                <a:srgbClr val="6E95C6">
                  <a:alpha val="100000"/>
                </a:srgbClr>
              </a:clrFrom>
              <a:clrTo>
                <a:srgbClr val="6E95C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50605" y="2213610"/>
            <a:ext cx="8860155" cy="5707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>
            <p:custDataLst>
              <p:tags r:id="rId1"/>
            </p:custDataLst>
          </p:nvPr>
        </p:nvSpPr>
        <p:spPr>
          <a:xfrm>
            <a:off x="13298170" y="4320540"/>
            <a:ext cx="4648200" cy="51530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57150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13 页 | 中期成果总结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95250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当前完成情况</a:t>
            </a:r>
            <a:endParaRPr sz="4050" b="1" i="0">
              <a:solidFill>
                <a:srgbClr val="0F142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3495020" y="4775835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6096E6"/>
                </a:solidFill>
              </a:defRPr>
            </a:pPr>
            <a:r>
              <a:rPr sz="2100" b="1" i="0">
                <a:solidFill>
                  <a:srgbClr val="6096E6"/>
                </a:solidFill>
              </a:rPr>
              <a:t>✓</a:t>
            </a:r>
            <a:endParaRPr sz="2100" b="1" i="0">
              <a:solidFill>
                <a:srgbClr val="6096E6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4066520" y="4794885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三层架构搭建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495020" y="525399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56CA95"/>
                </a:solidFill>
              </a:defRPr>
            </a:pPr>
            <a:r>
              <a:rPr sz="2100" b="1" i="0">
                <a:solidFill>
                  <a:srgbClr val="56CA95"/>
                </a:solidFill>
              </a:rPr>
              <a:t>✓</a:t>
            </a:r>
            <a:endParaRPr sz="2100" b="1" i="0">
              <a:solidFill>
                <a:srgbClr val="56CA9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066520" y="527304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PDF 上传、预览、解析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495020" y="578231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FBA55"/>
                </a:solidFill>
              </a:defRPr>
            </a:pPr>
            <a:r>
              <a:rPr sz="2100" b="1" i="0">
                <a:solidFill>
                  <a:srgbClr val="FFBA55"/>
                </a:solidFill>
              </a:rPr>
              <a:t>✓</a:t>
            </a:r>
            <a:endParaRPr sz="2100" b="1" i="0">
              <a:solidFill>
                <a:srgbClr val="FFBA5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4066520" y="580136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RAG 问答与术语解释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3495020" y="631063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18870"/>
                </a:solidFill>
              </a:defRPr>
            </a:pPr>
            <a:r>
              <a:rPr sz="2100" b="1" i="0">
                <a:solidFill>
                  <a:srgbClr val="F18870"/>
                </a:solidFill>
              </a:rPr>
              <a:t>✓</a:t>
            </a:r>
            <a:endParaRPr sz="2100" b="1" i="0">
              <a:solidFill>
                <a:srgbClr val="F1887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4066520" y="632968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逐页翻译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3479780" y="6896735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6096E6"/>
                </a:solidFill>
              </a:defRPr>
            </a:pPr>
            <a:r>
              <a:rPr sz="2100" b="1" i="0">
                <a:solidFill>
                  <a:srgbClr val="6096E6"/>
                </a:solidFill>
              </a:rPr>
              <a:t>✓</a:t>
            </a:r>
            <a:endParaRPr sz="2100" b="1" i="0">
              <a:solidFill>
                <a:srgbClr val="6096E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051280" y="6915785"/>
            <a:ext cx="3413125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批判阅读、背景补课、引导式学习</a:t>
            </a:r>
            <a:endParaRPr lang="zh-CN" sz="2800" b="1" i="0">
              <a:solidFill>
                <a:srgbClr val="0F142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3479780" y="7888605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56CA95"/>
                </a:solidFill>
              </a:defRPr>
            </a:pPr>
            <a:r>
              <a:rPr sz="2100" b="1" i="0">
                <a:solidFill>
                  <a:srgbClr val="56CA95"/>
                </a:solidFill>
              </a:rPr>
              <a:t>✓</a:t>
            </a:r>
            <a:endParaRPr sz="2100" b="1" i="0">
              <a:solidFill>
                <a:srgbClr val="56CA9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4051280" y="7907655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深度研究</a:t>
            </a:r>
            <a:r>
              <a:rPr lang="zh-CN" sz="2800" b="1" i="0">
                <a:solidFill>
                  <a:srgbClr val="0F1423"/>
                </a:solidFill>
              </a:rPr>
              <a:t>实现逻辑</a:t>
            </a:r>
            <a:r>
              <a:rPr sz="2800" b="1" i="0">
                <a:solidFill>
                  <a:srgbClr val="0F1423"/>
                </a:solidFill>
              </a:rPr>
              <a:t>闭环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3495020" y="8611870"/>
            <a:ext cx="41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FFBA55"/>
                </a:solidFill>
              </a:defRPr>
            </a:pPr>
            <a:r>
              <a:rPr sz="2100" b="1" i="0">
                <a:solidFill>
                  <a:srgbClr val="FFBA55"/>
                </a:solidFill>
              </a:rPr>
              <a:t>✓</a:t>
            </a:r>
            <a:endParaRPr sz="2100" b="1" i="0">
              <a:solidFill>
                <a:srgbClr val="FFBA5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4066520" y="8630920"/>
            <a:ext cx="430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423"/>
                </a:solidFill>
              </a:defRPr>
            </a:pPr>
            <a:r>
              <a:rPr sz="2800" b="1" i="0">
                <a:solidFill>
                  <a:srgbClr val="0F1423"/>
                </a:solidFill>
              </a:rPr>
              <a:t>安全防护与 trace 观测</a:t>
            </a:r>
            <a:endParaRPr sz="2800" b="1" i="0">
              <a:solidFill>
                <a:srgbClr val="0F142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6300" y="9639300"/>
            <a:ext cx="857250" cy="2857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477000" y="9639300"/>
            <a:ext cx="10953750" cy="9525"/>
          </a:xfrm>
          <a:prstGeom prst="rect">
            <a:avLst/>
          </a:prstGeom>
          <a:solidFill>
            <a:srgbClr val="EEF3FA"/>
          </a:solidFill>
          <a:ln w="0">
            <a:solidFill>
              <a:srgbClr val="EEF3FA"/>
            </a:solidFill>
            <a:prstDash val="solid"/>
          </a:ln>
        </p:spPr>
      </p:sp>
      <p:pic>
        <p:nvPicPr>
          <p:cNvPr id="4" name="图片 3" descr="貔貅紫白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9895" y="1898015"/>
            <a:ext cx="12579350" cy="649097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98170" y="883920"/>
            <a:ext cx="4662805" cy="2910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76300" y="571500"/>
            <a:ext cx="16535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6096E6"/>
                </a:solidFill>
              </a:defRPr>
            </a:pPr>
            <a:r>
              <a:rPr sz="2800" b="1" i="0">
                <a:solidFill>
                  <a:srgbClr val="6096E6"/>
                </a:solidFill>
              </a:rPr>
              <a:t>第 14 页 | 存在问题与后续计划</a:t>
            </a:r>
            <a:endParaRPr sz="2800" b="1" i="0">
              <a:solidFill>
                <a:srgbClr val="6096E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952500"/>
            <a:ext cx="165354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下一阶段工作</a:t>
            </a:r>
            <a:endParaRPr sz="4050" b="1" i="0">
              <a:solidFill>
                <a:srgbClr val="0F1423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546100" y="2049145"/>
            <a:ext cx="8616950" cy="6116320"/>
            <a:chOff x="860" y="3227"/>
            <a:chExt cx="13570" cy="9632"/>
          </a:xfrm>
        </p:grpSpPr>
        <p:sp>
          <p:nvSpPr>
            <p:cNvPr id="10" name="矩形 9"/>
            <p:cNvSpPr/>
            <p:nvPr/>
          </p:nvSpPr>
          <p:spPr>
            <a:xfrm>
              <a:off x="860" y="3227"/>
              <a:ext cx="12611" cy="96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5" name="矩形 4"/>
            <p:cNvSpPr>
              <a:spLocks noGrp="1"/>
            </p:cNvSpPr>
            <p:nvPr/>
          </p:nvSpPr>
          <p:spPr>
            <a:xfrm>
              <a:off x="1380" y="3676"/>
              <a:ext cx="12090" cy="51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2550" b="1" i="0">
                  <a:solidFill>
                    <a:srgbClr val="F18870"/>
                  </a:solidFill>
                </a:defRPr>
              </a:pPr>
              <a:r>
                <a:rPr sz="2550" b="1" i="0">
                  <a:solidFill>
                    <a:srgbClr val="F18870"/>
                  </a:solidFill>
                </a:rPr>
                <a:t>当前问题</a:t>
              </a:r>
              <a:endParaRPr sz="2550" b="1" i="0">
                <a:solidFill>
                  <a:srgbClr val="F18870"/>
                </a:solidFill>
              </a:endParaRPr>
            </a:p>
          </p:txBody>
        </p:sp>
        <p:sp>
          <p:nvSpPr>
            <p:cNvPr id="6" name="圆角矩形 5"/>
            <p:cNvSpPr>
              <a:spLocks noGrp="1"/>
            </p:cNvSpPr>
            <p:nvPr/>
          </p:nvSpPr>
          <p:spPr>
            <a:xfrm>
              <a:off x="1380" y="4516"/>
              <a:ext cx="450" cy="450"/>
            </a:xfrm>
            <a:prstGeom prst="roundRect">
              <a:avLst>
                <a:gd name="adj" fmla="val 50000"/>
              </a:avLst>
            </a:prstGeom>
            <a:solidFill>
              <a:srgbClr val="F18870"/>
            </a:solidFill>
            <a:ln w="0">
              <a:solidFill>
                <a:srgbClr val="F18870"/>
              </a:solidFill>
              <a:prstDash val="solid"/>
            </a:ln>
          </p:spPr>
        </p:sp>
        <p:sp>
          <p:nvSpPr>
            <p:cNvPr id="8" name="矩形 7"/>
            <p:cNvSpPr>
              <a:spLocks noGrp="1"/>
            </p:cNvSpPr>
            <p:nvPr/>
          </p:nvSpPr>
          <p:spPr>
            <a:xfrm>
              <a:off x="2040" y="4516"/>
              <a:ext cx="11430" cy="36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725" b="0" i="0">
                  <a:solidFill>
                    <a:srgbClr val="182033"/>
                  </a:solidFill>
                </a:defRPr>
              </a:pPr>
              <a:r>
                <a:rPr sz="2000" b="0" i="0">
                  <a:solidFill>
                    <a:srgbClr val="182033"/>
                  </a:solidFill>
                </a:rPr>
                <a:t>PDF 解析</a:t>
              </a:r>
              <a:r>
                <a:rPr lang="zh-CN" sz="2000" b="0" i="0">
                  <a:solidFill>
                    <a:srgbClr val="182033"/>
                  </a:solidFill>
                </a:rPr>
                <a:t>及翻译</a:t>
              </a:r>
              <a:r>
                <a:rPr sz="2000" b="0" i="0">
                  <a:solidFill>
                    <a:srgbClr val="182033"/>
                  </a:solidFill>
                </a:rPr>
                <a:t>受版式影响，复杂公式、多栏排版需要继续优化</a:t>
              </a:r>
              <a:endParaRPr sz="2000" b="0" i="0">
                <a:solidFill>
                  <a:srgbClr val="182033"/>
                </a:solidFill>
              </a:endParaRPr>
            </a:p>
          </p:txBody>
        </p:sp>
        <p:sp>
          <p:nvSpPr>
            <p:cNvPr id="12" name="圆角矩形 11"/>
            <p:cNvSpPr>
              <a:spLocks noGrp="1"/>
            </p:cNvSpPr>
            <p:nvPr/>
          </p:nvSpPr>
          <p:spPr>
            <a:xfrm>
              <a:off x="1380" y="5245"/>
              <a:ext cx="450" cy="450"/>
            </a:xfrm>
            <a:prstGeom prst="roundRect">
              <a:avLst>
                <a:gd name="adj" fmla="val 50000"/>
              </a:avLst>
            </a:prstGeom>
            <a:solidFill>
              <a:srgbClr val="F18870"/>
            </a:solidFill>
            <a:ln w="0">
              <a:solidFill>
                <a:srgbClr val="F18870"/>
              </a:solidFill>
              <a:prstDash val="solid"/>
            </a:ln>
          </p:spPr>
        </p:sp>
        <p:sp>
          <p:nvSpPr>
            <p:cNvPr id="14" name="矩形 13"/>
            <p:cNvSpPr>
              <a:spLocks noGrp="1"/>
            </p:cNvSpPr>
            <p:nvPr/>
          </p:nvSpPr>
          <p:spPr>
            <a:xfrm>
              <a:off x="2040" y="5245"/>
              <a:ext cx="9117" cy="69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725" b="0" i="0">
                  <a:solidFill>
                    <a:srgbClr val="182033"/>
                  </a:solidFill>
                </a:defRPr>
              </a:pPr>
              <a:r>
                <a:rPr lang="en-US" sz="2000" b="0" i="0">
                  <a:solidFill>
                    <a:srgbClr val="182033"/>
                  </a:solidFill>
                </a:rPr>
                <a:t>DeepRe</a:t>
              </a:r>
              <a:r>
                <a:rPr lang="en-US" sz="2000" b="0" i="0">
                  <a:solidFill>
                    <a:srgbClr val="182033"/>
                  </a:solidFill>
                </a:rPr>
                <a:t>search</a:t>
              </a:r>
              <a:r>
                <a:rPr lang="zh-CN" altLang="en-US" sz="2000" b="0" i="0">
                  <a:solidFill>
                    <a:srgbClr val="182033"/>
                  </a:solidFill>
                </a:rPr>
                <a:t>功能只实现基本逻辑，还有</a:t>
              </a:r>
              <a:r>
                <a:rPr lang="zh-CN" altLang="en-US" sz="2000" b="0" i="0">
                  <a:solidFill>
                    <a:srgbClr val="182033"/>
                  </a:solidFill>
                </a:rPr>
                <a:t>升级空间</a:t>
              </a:r>
              <a:endParaRPr lang="zh-CN" altLang="en-US" sz="2000" b="0" i="0">
                <a:solidFill>
                  <a:srgbClr val="182033"/>
                </a:solidFill>
              </a:endParaRPr>
            </a:p>
          </p:txBody>
        </p:sp>
        <p:sp>
          <p:nvSpPr>
            <p:cNvPr id="21" name="矩形 20"/>
            <p:cNvSpPr>
              <a:spLocks noGrp="1"/>
            </p:cNvSpPr>
            <p:nvPr/>
          </p:nvSpPr>
          <p:spPr>
            <a:xfrm>
              <a:off x="1380" y="7666"/>
              <a:ext cx="13050" cy="51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2550" b="1" i="0">
                  <a:solidFill>
                    <a:srgbClr val="6096E6"/>
                  </a:solidFill>
                </a:defRPr>
              </a:pPr>
              <a:r>
                <a:rPr sz="2550" b="1" i="0">
                  <a:solidFill>
                    <a:srgbClr val="6096E6"/>
                  </a:solidFill>
                </a:rPr>
                <a:t>后续计划</a:t>
              </a:r>
              <a:endParaRPr sz="2550" b="1" i="0">
                <a:solidFill>
                  <a:srgbClr val="6096E6"/>
                </a:solidFill>
              </a:endParaRPr>
            </a:p>
          </p:txBody>
        </p:sp>
        <p:sp>
          <p:nvSpPr>
            <p:cNvPr id="22" name="圆角矩形 21"/>
            <p:cNvSpPr>
              <a:spLocks noGrp="1"/>
            </p:cNvSpPr>
            <p:nvPr/>
          </p:nvSpPr>
          <p:spPr>
            <a:xfrm>
              <a:off x="1377" y="8506"/>
              <a:ext cx="450" cy="450"/>
            </a:xfrm>
            <a:prstGeom prst="roundRect">
              <a:avLst>
                <a:gd name="adj" fmla="val 50000"/>
              </a:avLst>
            </a:prstGeom>
            <a:solidFill>
              <a:srgbClr val="6096E6"/>
            </a:solidFill>
            <a:ln w="0">
              <a:solidFill>
                <a:srgbClr val="6096E6"/>
              </a:solidFill>
              <a:prstDash val="solid"/>
            </a:ln>
          </p:spPr>
        </p:sp>
        <p:sp>
          <p:nvSpPr>
            <p:cNvPr id="24" name="矩形 23"/>
            <p:cNvSpPr>
              <a:spLocks noGrp="1"/>
            </p:cNvSpPr>
            <p:nvPr/>
          </p:nvSpPr>
          <p:spPr>
            <a:xfrm>
              <a:off x="2040" y="8506"/>
              <a:ext cx="12390" cy="36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725" b="0" i="0">
                  <a:solidFill>
                    <a:srgbClr val="182033"/>
                  </a:solidFill>
                </a:defRPr>
              </a:pPr>
              <a:r>
                <a:rPr lang="zh-CN" sz="2000" b="0" i="0">
                  <a:solidFill>
                    <a:srgbClr val="182033"/>
                  </a:solidFill>
                </a:rPr>
                <a:t>完善深度研究功能、</a:t>
              </a:r>
              <a:r>
                <a:rPr lang="zh-CN" altLang="en-US" sz="2000" b="0" i="0">
                  <a:solidFill>
                    <a:srgbClr val="182033"/>
                  </a:solidFill>
                </a:rPr>
                <a:t>工具标准化与模型上下文协议（</a:t>
              </a:r>
              <a:r>
                <a:rPr lang="en-US" altLang="zh-CN" sz="2000" b="0" i="0">
                  <a:solidFill>
                    <a:srgbClr val="182033"/>
                  </a:solidFill>
                </a:rPr>
                <a:t>MCP）</a:t>
              </a:r>
              <a:r>
                <a:rPr lang="zh-CN" altLang="en-US" sz="2000" b="0" i="0">
                  <a:solidFill>
                    <a:srgbClr val="182033"/>
                  </a:solidFill>
                </a:rPr>
                <a:t>接入</a:t>
              </a:r>
              <a:endParaRPr lang="zh-CN" altLang="en-US" sz="2000" b="0" i="0">
                <a:solidFill>
                  <a:srgbClr val="182033"/>
                </a:solidFill>
              </a:endParaRPr>
            </a:p>
            <a:p>
              <a:pPr>
                <a:defRPr sz="1725" b="0" i="0">
                  <a:solidFill>
                    <a:srgbClr val="182033"/>
                  </a:solidFill>
                </a:defRPr>
              </a:pPr>
              <a:endParaRPr lang="zh-CN" altLang="en-US" sz="2000" b="0" i="0">
                <a:solidFill>
                  <a:srgbClr val="182033"/>
                </a:solidFill>
              </a:endParaRPr>
            </a:p>
          </p:txBody>
        </p:sp>
        <p:sp>
          <p:nvSpPr>
            <p:cNvPr id="25" name="圆角矩形 24"/>
            <p:cNvSpPr>
              <a:spLocks noGrp="1"/>
            </p:cNvSpPr>
            <p:nvPr/>
          </p:nvSpPr>
          <p:spPr>
            <a:xfrm>
              <a:off x="1377" y="9151"/>
              <a:ext cx="450" cy="450"/>
            </a:xfrm>
            <a:prstGeom prst="roundRect">
              <a:avLst>
                <a:gd name="adj" fmla="val 50000"/>
              </a:avLst>
            </a:prstGeom>
            <a:solidFill>
              <a:srgbClr val="6096E6"/>
            </a:solidFill>
            <a:ln w="0">
              <a:solidFill>
                <a:srgbClr val="6096E6"/>
              </a:solidFill>
              <a:prstDash val="solid"/>
            </a:ln>
          </p:spPr>
        </p:sp>
        <p:sp>
          <p:nvSpPr>
            <p:cNvPr id="27" name="矩形 26"/>
            <p:cNvSpPr>
              <a:spLocks noGrp="1"/>
            </p:cNvSpPr>
            <p:nvPr/>
          </p:nvSpPr>
          <p:spPr>
            <a:xfrm>
              <a:off x="2040" y="9166"/>
              <a:ext cx="12390" cy="36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725" b="0" i="0">
                  <a:solidFill>
                    <a:srgbClr val="182033"/>
                  </a:solidFill>
                </a:defRPr>
              </a:pPr>
              <a:r>
                <a:rPr sz="2000" b="0" i="0">
                  <a:solidFill>
                    <a:srgbClr val="182033"/>
                  </a:solidFill>
                </a:rPr>
                <a:t>强化证据引用、证据质量判断和回答可追溯性</a:t>
              </a:r>
              <a:endParaRPr sz="2000" b="0" i="0">
                <a:solidFill>
                  <a:srgbClr val="182033"/>
                </a:solidFill>
              </a:endParaRPr>
            </a:p>
          </p:txBody>
        </p:sp>
        <p:sp>
          <p:nvSpPr>
            <p:cNvPr id="28" name="圆角矩形 27"/>
            <p:cNvSpPr>
              <a:spLocks noGrp="1"/>
            </p:cNvSpPr>
            <p:nvPr/>
          </p:nvSpPr>
          <p:spPr>
            <a:xfrm>
              <a:off x="1377" y="9796"/>
              <a:ext cx="450" cy="450"/>
            </a:xfrm>
            <a:prstGeom prst="roundRect">
              <a:avLst>
                <a:gd name="adj" fmla="val 50000"/>
              </a:avLst>
            </a:prstGeom>
            <a:solidFill>
              <a:srgbClr val="6096E6"/>
            </a:solidFill>
            <a:ln w="0">
              <a:solidFill>
                <a:srgbClr val="6096E6"/>
              </a:solidFill>
              <a:prstDash val="solid"/>
            </a:ln>
          </p:spPr>
        </p:sp>
        <p:sp>
          <p:nvSpPr>
            <p:cNvPr id="30" name="矩形 29"/>
            <p:cNvSpPr>
              <a:spLocks noGrp="1"/>
            </p:cNvSpPr>
            <p:nvPr/>
          </p:nvSpPr>
          <p:spPr>
            <a:xfrm>
              <a:off x="2040" y="9796"/>
              <a:ext cx="12390" cy="36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725" b="0" i="0">
                  <a:solidFill>
                    <a:srgbClr val="182033"/>
                  </a:solidFill>
                </a:defRPr>
              </a:pPr>
              <a:r>
                <a:rPr sz="2000" b="0" i="0">
                  <a:solidFill>
                    <a:srgbClr val="182033"/>
                  </a:solidFill>
                </a:rPr>
                <a:t>完善提示注入防护、上下文裁剪和 trace 脱敏策略</a:t>
              </a:r>
              <a:endParaRPr sz="2000" b="0" i="0">
                <a:solidFill>
                  <a:srgbClr val="182033"/>
                </a:solidFill>
              </a:endParaRPr>
            </a:p>
          </p:txBody>
        </p:sp>
        <p:sp>
          <p:nvSpPr>
            <p:cNvPr id="31" name="圆角矩形 30"/>
            <p:cNvSpPr>
              <a:spLocks noGrp="1"/>
            </p:cNvSpPr>
            <p:nvPr/>
          </p:nvSpPr>
          <p:spPr>
            <a:xfrm>
              <a:off x="1377" y="10441"/>
              <a:ext cx="450" cy="450"/>
            </a:xfrm>
            <a:prstGeom prst="roundRect">
              <a:avLst>
                <a:gd name="adj" fmla="val 50000"/>
              </a:avLst>
            </a:prstGeom>
            <a:solidFill>
              <a:srgbClr val="6096E6"/>
            </a:solidFill>
            <a:ln w="0">
              <a:solidFill>
                <a:srgbClr val="6096E6"/>
              </a:solidFill>
              <a:prstDash val="solid"/>
            </a:ln>
          </p:spPr>
        </p:sp>
        <p:sp>
          <p:nvSpPr>
            <p:cNvPr id="33" name="矩形 32"/>
            <p:cNvSpPr>
              <a:spLocks noGrp="1"/>
            </p:cNvSpPr>
            <p:nvPr/>
          </p:nvSpPr>
          <p:spPr>
            <a:xfrm>
              <a:off x="2040" y="10456"/>
              <a:ext cx="11078" cy="36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725" b="0" i="0">
                  <a:solidFill>
                    <a:srgbClr val="182033"/>
                  </a:solidFill>
                </a:defRPr>
              </a:pPr>
              <a:r>
                <a:rPr lang="zh-CN" altLang="en-US" sz="2000" b="1" i="0">
                  <a:solidFill>
                    <a:srgbClr val="182033"/>
                  </a:solidFill>
                </a:rPr>
                <a:t>把系统</a:t>
              </a:r>
              <a:r>
                <a:rPr lang="zh-CN" altLang="en-US" sz="2000" b="1" i="0">
                  <a:solidFill>
                    <a:srgbClr val="182033"/>
                  </a:solidFill>
                </a:rPr>
                <a:t>进一步扩展为论文阅读智能体，在现有功能上增加阅读状态建模和任务规划层，根据论文结构和用户理解情况，主动规划调用工具，帮助用户从读懂论文进一步走向批判分析和研究推进。</a:t>
              </a:r>
              <a:endParaRPr lang="zh-CN" altLang="en-US" sz="2000" b="1" i="0">
                <a:solidFill>
                  <a:srgbClr val="182033"/>
                </a:solidFill>
              </a:endParaRPr>
            </a:p>
            <a:p>
              <a:pPr>
                <a:defRPr sz="1725" b="0" i="0">
                  <a:solidFill>
                    <a:srgbClr val="182033"/>
                  </a:solidFill>
                </a:defRPr>
              </a:pPr>
              <a:endParaRPr lang="en-US" altLang="zh-CN" sz="2000" b="1" i="0">
                <a:solidFill>
                  <a:srgbClr val="182033"/>
                </a:solidFill>
              </a:endParaRPr>
            </a:p>
            <a:p>
              <a:pPr>
                <a:defRPr sz="1725" b="0" i="0">
                  <a:solidFill>
                    <a:srgbClr val="182033"/>
                  </a:solidFill>
                </a:defRPr>
              </a:pPr>
              <a:endParaRPr lang="en-US" altLang="zh-CN" sz="2000" b="1" i="0">
                <a:solidFill>
                  <a:srgbClr val="182033"/>
                </a:solidFill>
              </a:endParaRPr>
            </a:p>
          </p:txBody>
        </p:sp>
      </p:grpSp>
      <p:sp>
        <p:nvSpPr>
          <p:cNvPr id="40" name="矩形 39"/>
          <p:cNvSpPr>
            <a:spLocks noGrp="1"/>
          </p:cNvSpPr>
          <p:nvPr/>
        </p:nvSpPr>
        <p:spPr>
          <a:xfrm>
            <a:off x="876300" y="9467850"/>
            <a:ext cx="476250" cy="47625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428750" y="9391650"/>
            <a:ext cx="2609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稳定性优化</a:t>
            </a:r>
            <a:endParaRPr sz="1350" b="1" i="0">
              <a:solidFill>
                <a:srgbClr val="0F1423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3095" y="9467850"/>
            <a:ext cx="476250" cy="47625"/>
          </a:xfrm>
          <a:prstGeom prst="rect">
            <a:avLst/>
          </a:prstGeom>
          <a:solidFill>
            <a:srgbClr val="58B6E5"/>
          </a:solidFill>
          <a:ln w="0">
            <a:solidFill>
              <a:srgbClr val="58B6E5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265545" y="9391650"/>
            <a:ext cx="2609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423"/>
                </a:solidFill>
              </a:defRPr>
            </a:pPr>
            <a:r>
              <a:rPr lang="zh-CN" sz="1350" b="1" i="0">
                <a:solidFill>
                  <a:srgbClr val="0F1423"/>
                </a:solidFill>
              </a:rPr>
              <a:t>深度研究</a:t>
            </a:r>
            <a:endParaRPr lang="zh-CN" sz="1350" b="1" i="0">
              <a:solidFill>
                <a:srgbClr val="0F1423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583420" y="9467850"/>
            <a:ext cx="476250" cy="47625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135870" y="9391650"/>
            <a:ext cx="2609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423"/>
                </a:solidFill>
              </a:defRPr>
            </a:pPr>
            <a:r>
              <a:rPr lang="zh-CN" sz="1350" b="1" i="0">
                <a:solidFill>
                  <a:srgbClr val="0F1423"/>
                </a:solidFill>
              </a:rPr>
              <a:t>智能体</a:t>
            </a:r>
            <a:r>
              <a:rPr lang="zh-CN" sz="1350" b="1" i="0">
                <a:solidFill>
                  <a:srgbClr val="0F1423"/>
                </a:solidFill>
              </a:rPr>
              <a:t>设计</a:t>
            </a:r>
            <a:endParaRPr lang="zh-CN" sz="1350" b="1" i="0">
              <a:solidFill>
                <a:srgbClr val="0F1423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4249400" y="9467850"/>
            <a:ext cx="476250" cy="47625"/>
          </a:xfrm>
          <a:prstGeom prst="rect">
            <a:avLst/>
          </a:prstGeom>
          <a:solidFill>
            <a:srgbClr val="F18870"/>
          </a:solidFill>
          <a:ln w="0">
            <a:solidFill>
              <a:srgbClr val="F18870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4801850" y="9391650"/>
            <a:ext cx="2609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结题交付</a:t>
            </a:r>
            <a:endParaRPr sz="1350" b="1" i="0">
              <a:solidFill>
                <a:srgbClr val="0F1423"/>
              </a:solidFill>
            </a:endParaRPr>
          </a:p>
        </p:txBody>
      </p:sp>
      <p:pic>
        <p:nvPicPr>
          <p:cNvPr id="4" name="图片 3" descr="貔貅紫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0675" y="9197975"/>
            <a:ext cx="730885" cy="66421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t="6142" r="18865" b="29052"/>
          <a:stretch>
            <a:fillRect/>
          </a:stretch>
        </p:blipFill>
        <p:spPr>
          <a:xfrm>
            <a:off x="10327005" y="878840"/>
            <a:ext cx="7582535" cy="807656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rcRect l="83854" t="11905" r="2430" b="32062"/>
          <a:stretch>
            <a:fillRect/>
          </a:stretch>
        </p:blipFill>
        <p:spPr>
          <a:xfrm>
            <a:off x="8813800" y="983615"/>
            <a:ext cx="1513205" cy="8242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79120" y="7984490"/>
            <a:ext cx="8059420" cy="19716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-1905" y="-17145"/>
            <a:ext cx="18288953" cy="10301288"/>
          </a:xfrm>
          <a:prstGeom prst="rect">
            <a:avLst/>
          </a:prstGeom>
          <a:gradFill>
            <a:gsLst>
              <a:gs pos="89000">
                <a:srgbClr val="BDCBDE">
                  <a:alpha val="89000"/>
                  <a:lumMod val="96000"/>
                </a:srgbClr>
              </a:gs>
              <a:gs pos="0">
                <a:srgbClr val="5F85C3">
                  <a:alpha val="100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sp>
        <p:nvSpPr>
          <p:cNvPr id="37" name="文本框 36"/>
          <p:cNvSpPr txBox="1"/>
          <p:nvPr/>
        </p:nvSpPr>
        <p:spPr>
          <a:xfrm>
            <a:off x="5227955" y="4135120"/>
            <a:ext cx="8771890" cy="13322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思源黑体 CN Normal" panose="020B0400000000000000" charset="-122"/>
              </a:rPr>
              <a:t>谢谢各位老师</a:t>
            </a:r>
            <a:r>
              <a:rPr lang="zh-CN" altLang="en-US"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思源黑体 CN Normal" panose="020B0400000000000000" charset="-122"/>
              </a:rPr>
              <a:t>垂听！</a:t>
            </a:r>
            <a:endParaRPr lang="zh-CN" altLang="en-US" sz="5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思源黑体 CN Normal" panose="020B0400000000000000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227638" y="5467350"/>
            <a:ext cx="5426393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0" y="-17145"/>
            <a:ext cx="18287048" cy="1163955"/>
          </a:xfrm>
          <a:prstGeom prst="rect">
            <a:avLst/>
          </a:prstGeom>
          <a:gradFill>
            <a:gsLst>
              <a:gs pos="53000">
                <a:srgbClr val="9AA1BB">
                  <a:alpha val="0"/>
                </a:srgbClr>
              </a:gs>
              <a:gs pos="0">
                <a:srgbClr val="515983"/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>
              <a:cs typeface="思源黑体 CN Normal" panose="020B0400000000000000" charset="-122"/>
            </a:endParaRPr>
          </a:p>
        </p:txBody>
      </p:sp>
      <p:pic>
        <p:nvPicPr>
          <p:cNvPr id="6" name="图片 5" descr="校标、校名-透空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79120" y="279083"/>
            <a:ext cx="1890000" cy="605552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679450" y="8064500"/>
            <a:ext cx="6438900" cy="62865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>
              <a:defRPr sz="4950" b="1" i="0">
                <a:solidFill>
                  <a:srgbClr val="FFFFFF"/>
                </a:solidFill>
              </a:defRPr>
            </a:pPr>
            <a:r>
              <a:rPr sz="4950" b="1" i="0">
                <a:solidFill>
                  <a:srgbClr val="6A005E"/>
                </a:solidFill>
              </a:rPr>
              <a:t>Pixiu</a:t>
            </a:r>
            <a:r>
              <a:rPr sz="4950" b="1" i="0">
                <a:solidFill>
                  <a:srgbClr val="FFFFFF"/>
                </a:solidFill>
              </a:rPr>
              <a:t> Academic Assistant</a:t>
            </a:r>
            <a:endParaRPr sz="4950" b="1" i="0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79450" y="8902700"/>
            <a:ext cx="635508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 i="0">
                <a:solidFill>
                  <a:srgbClr val="EAF3FF"/>
                </a:solidFill>
              </a:defRPr>
            </a:pPr>
            <a:r>
              <a:rPr lang="zh-CN" sz="4000" b="1" i="0">
                <a:solidFill>
                  <a:srgbClr val="6A005E"/>
                </a:solidFill>
              </a:rPr>
              <a:t>貔貅</a:t>
            </a:r>
            <a:r>
              <a:rPr lang="en-US" altLang="zh-CN" sz="3600" b="1" i="0">
                <a:solidFill>
                  <a:srgbClr val="6096E6"/>
                </a:solidFill>
              </a:rPr>
              <a:t> </a:t>
            </a:r>
            <a:r>
              <a:rPr sz="3600" b="1" i="0">
                <a:solidFill>
                  <a:srgbClr val="EAF3FF"/>
                </a:solidFill>
              </a:rPr>
              <a:t>学术论文 AI 助手</a:t>
            </a:r>
            <a:endParaRPr sz="3600" b="1" i="0">
              <a:solidFill>
                <a:srgbClr val="EAF3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450" y="9569450"/>
            <a:ext cx="7505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 i="0">
                <a:solidFill>
                  <a:srgbClr val="D6E7FA"/>
                </a:solidFill>
              </a:defRPr>
            </a:pPr>
            <a:r>
              <a:rPr sz="1950" b="0" i="0">
                <a:solidFill>
                  <a:srgbClr val="D6E7FA"/>
                </a:solidFill>
              </a:rPr>
              <a:t>面向论文阅读、证据化问答、批判性分析与深度研究的 AI 学习工作台</a:t>
            </a:r>
            <a:endParaRPr sz="1950" b="0" i="0">
              <a:solidFill>
                <a:srgbClr val="D6E7FA"/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2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3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4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5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6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7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8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9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10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11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12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13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14.xml><?xml version="1.0" encoding="utf-8"?>
<p:tagLst xmlns:p="http://schemas.openxmlformats.org/presentationml/2006/main">
  <p:tag name="KSO_WM_DIAGRAM_VIRTUALLY_FRAME" val="{&quot;height&quot;:116.25,&quot;left&quot;:102,&quot;top&quot;:258.75,&quot;width&quot;:1236}"/>
</p:tagLst>
</file>

<file path=ppt/tags/tag15.xml><?xml version="1.0" encoding="utf-8"?>
<p:tagLst xmlns:p="http://schemas.openxmlformats.org/presentationml/2006/main">
  <p:tag name="KSO_WM_DIAGRAM_VIRTUALLY_FRAME" val="{&quot;height&quot;:281.25,&quot;left&quot;:54.1,&quot;top&quot;:178.5,&quot;width&quot;:1316.9}"/>
</p:tagLst>
</file>

<file path=ppt/tags/tag16.xml><?xml version="1.0" encoding="utf-8"?>
<p:tagLst xmlns:p="http://schemas.openxmlformats.org/presentationml/2006/main">
  <p:tag name="KSO_WM_DIAGRAM_VIRTUALLY_FRAME" val="{&quot;height&quot;:144.2,&quot;left&quot;:69.35,&quot;top&quot;:287.35,&quot;width&quot;:661.95}"/>
</p:tagLst>
</file>

<file path=ppt/tags/tag17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18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19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0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1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2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3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4.xml><?xml version="1.0" encoding="utf-8"?>
<p:tagLst xmlns:p="http://schemas.openxmlformats.org/presentationml/2006/main">
  <p:tag name="KSO_WM_DIAGRAM_VIRTUALLY_FRAME" val="{&quot;height&quot;:226.1,&quot;left&quot;:69,&quot;top&quot;:165.1,&quot;width&quot;:1150.5}"/>
</p:tagLst>
</file>

<file path=ppt/tags/tag25.xml><?xml version="1.0" encoding="utf-8"?>
<p:tagLst xmlns:p="http://schemas.openxmlformats.org/presentationml/2006/main">
  <p:tag name="KSO_WM_DIAGRAM_VIRTUALLY_FRAME" val="{&quot;height&quot;:226.1,&quot;left&quot;:69,&quot;top&quot;:165.1,&quot;width&quot;:1150.5}"/>
</p:tagLst>
</file>

<file path=ppt/tags/tag26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7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8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29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30.xml><?xml version="1.0" encoding="utf-8"?>
<p:tagLst xmlns:p="http://schemas.openxmlformats.org/presentationml/2006/main">
  <p:tag name="KSO_WM_DIAGRAM_VIRTUALLY_FRAME" val="{&quot;height&quot;:232.7,&quot;left&quot;:69,&quot;top&quot;:173.8,&quot;width&quot;:954.5}"/>
</p:tagLst>
</file>

<file path=ppt/tags/tag31.xml><?xml version="1.0" encoding="utf-8"?>
<p:tagLst xmlns:p="http://schemas.openxmlformats.org/presentationml/2006/main">
  <p:tag name="KSO_WM_DIAGRAM_VIRTUALLY_FRAME" val="{&quot;height&quot;:232.7,&quot;left&quot;:69,&quot;top&quot;:173.8,&quot;width&quot;:954.5}"/>
</p:tagLst>
</file>

<file path=ppt/tags/tag32.xml><?xml version="1.0" encoding="utf-8"?>
<p:tagLst xmlns:p="http://schemas.openxmlformats.org/presentationml/2006/main">
  <p:tag name="KSO_WM_DIAGRAM_VIRTUALLY_FRAME" val="{&quot;height&quot;:408,&quot;left&quot;:69,&quot;top&quot;:190.5,&quot;width&quot;:1302}"/>
</p:tagLst>
</file>

<file path=ppt/tags/tag33.xml><?xml version="1.0" encoding="utf-8"?>
<p:tagLst xmlns:p="http://schemas.openxmlformats.org/presentationml/2006/main">
  <p:tag name="KSO_WM_DIAGRAM_VIRTUALLY_FRAME" val="{&quot;height&quot;:430.75,&quot;left&quot;:68.7,&quot;top&quot;:146.45,&quot;width&quot;:1213.4}"/>
</p:tagLst>
</file>

<file path=ppt/tags/tag34.xml><?xml version="1.0" encoding="utf-8"?>
<p:tagLst xmlns:p="http://schemas.openxmlformats.org/presentationml/2006/main">
  <p:tag name="KSO_WM_DIAGRAM_VIRTUALLY_FRAME" val="{&quot;height&quot;:430.75,&quot;left&quot;:68.7,&quot;top&quot;:146.45,&quot;width&quot;:1213.4}"/>
</p:tagLst>
</file>

<file path=ppt/tags/tag35.xml><?xml version="1.0" encoding="utf-8"?>
<p:tagLst xmlns:p="http://schemas.openxmlformats.org/presentationml/2006/main">
  <p:tag name="KSO_WM_DIAGRAM_VIRTUALLY_FRAME" val="{&quot;height&quot;:430.75,&quot;left&quot;:68.7,&quot;top&quot;:146.45,&quot;width&quot;:1213.4}"/>
</p:tagLst>
</file>

<file path=ppt/tags/tag36.xml><?xml version="1.0" encoding="utf-8"?>
<p:tagLst xmlns:p="http://schemas.openxmlformats.org/presentationml/2006/main">
  <p:tag name="KSO_WM_DIAGRAM_VIRTUALLY_FRAME" val="{&quot;height&quot;:430.75,&quot;left&quot;:68.7,&quot;top&quot;:146.45,&quot;width&quot;:1213.4}"/>
</p:tagLst>
</file>

<file path=ppt/tags/tag37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38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39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40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41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42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43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44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45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46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47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48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49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50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51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52.xml><?xml version="1.0" encoding="utf-8"?>
<p:tagLst xmlns:p="http://schemas.openxmlformats.org/presentationml/2006/main">
  <p:tag name="KSO_WM_DIAGRAM_VIRTUALLY_FRAME" val="{&quot;height&quot;:783.7,&quot;left&quot;:69,&quot;top&quot;:71.2,&quot;width&quot;:1385.25}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3522</Words>
  <Application>WPS 演示</Application>
  <PresentationFormat>Converted Presentation</PresentationFormat>
  <Paragraphs>369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华文仿宋</vt:lpstr>
      <vt:lpstr>仿宋</vt:lpstr>
      <vt:lpstr>华文中宋</vt:lpstr>
      <vt:lpstr>思源黑体 CN Normal</vt:lpstr>
      <vt:lpstr>黑体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胡锐濠</cp:lastModifiedBy>
  <cp:revision>14</cp:revision>
  <dcterms:created xsi:type="dcterms:W3CDTF">2026-05-03T03:27:00Z</dcterms:created>
  <dcterms:modified xsi:type="dcterms:W3CDTF">2026-05-20T16:54:16Z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C782A7DA8D2140A287BA0D49E1197D07_12</vt:lpwstr>
  </property>
  <property fmtid="{D5CDD505-2E9C-101B-9397-08002B2CF9AE}" pid="3" name="KSOProductBuildVer">
    <vt:lpwstr>2052-12.1.0.25865</vt:lpwstr>
  </property>
</Properties>
</file>
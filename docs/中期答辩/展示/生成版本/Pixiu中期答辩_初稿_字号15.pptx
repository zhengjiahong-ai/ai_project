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8288000" cy="10287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5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F1423">
              <a:alpha val="70000"/>
            </a:srgbClr>
          </a:solidFill>
          <a:ln w="0">
            <a:solidFill>
              <a:srgbClr val="0F1423">
                <a:alpha val="0"/>
              </a:srgbClr>
            </a:solidFill>
            <a:prstDash val="solid"/>
          </a:ln>
        </p:spPr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085" y="552450"/>
            <a:ext cx="2138480" cy="685800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15430500" y="685800"/>
            <a:ext cx="17335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CFE4FF"/>
                </a:solidFill>
              </a:defRPr>
            </a:pPr>
            <a:r>
              <a:rPr sz="1650" b="1" i="0">
                <a:solidFill>
                  <a:srgbClr val="CFE4FF"/>
                </a:solidFill>
              </a:rPr>
              <a:t>中期答辩 | 2026.05</a:t>
            </a:r>
            <a:endParaRPr sz="1650" b="1" i="0">
              <a:solidFill>
                <a:srgbClr val="CFE4FF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23950" y="4381500"/>
            <a:ext cx="2286000" cy="66675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123950" y="4648200"/>
            <a:ext cx="643890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950" b="1" i="0">
                <a:solidFill>
                  <a:srgbClr val="FFFFFF"/>
                </a:solidFill>
              </a:defRPr>
            </a:pPr>
            <a:r>
              <a:rPr sz="4950" b="1" i="0">
                <a:solidFill>
                  <a:srgbClr val="FFFFFF"/>
                </a:solidFill>
              </a:rPr>
              <a:t>Pixiu Academic Assistant</a:t>
            </a:r>
            <a:endParaRPr sz="4950" b="1" i="0">
              <a:solidFill>
                <a:srgbClr val="FFFFFF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23950" y="5486400"/>
            <a:ext cx="635508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 i="0">
                <a:solidFill>
                  <a:srgbClr val="EAF3FF"/>
                </a:solidFill>
              </a:defRPr>
            </a:pPr>
            <a:r>
              <a:rPr sz="3600" b="1" i="0">
                <a:solidFill>
                  <a:srgbClr val="EAF3FF"/>
                </a:solidFill>
              </a:rPr>
              <a:t>学术论文 AI 助手中期答辩</a:t>
            </a:r>
            <a:endParaRPr sz="3600" b="1" i="0">
              <a:solidFill>
                <a:srgbClr val="EAF3FF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23950" y="6153150"/>
            <a:ext cx="75057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0" i="0">
                <a:solidFill>
                  <a:srgbClr val="D6E7FA"/>
                </a:solidFill>
              </a:defRPr>
            </a:pPr>
            <a:r>
              <a:rPr sz="1950" b="0" i="0">
                <a:solidFill>
                  <a:srgbClr val="D6E7FA"/>
                </a:solidFill>
              </a:rPr>
              <a:t>面向论文阅读、证据化问答、批判性分析与深度研究的 AI 学习工作台</a:t>
            </a:r>
            <a:endParaRPr sz="1950" b="0" i="0">
              <a:solidFill>
                <a:srgbClr val="D6E7FA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123950" y="9544050"/>
            <a:ext cx="38481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 i="0">
                <a:solidFill>
                  <a:srgbClr val="E6F0FF"/>
                </a:solidFill>
              </a:defRPr>
            </a:pPr>
            <a:r>
              <a:rPr sz="1575" b="0" i="0">
                <a:solidFill>
                  <a:srgbClr val="E6F0FF"/>
                </a:solidFill>
              </a:rPr>
              <a:t>负责人：待填写</a:t>
            </a:r>
            <a:endParaRPr sz="1575" b="0" i="0">
              <a:solidFill>
                <a:srgbClr val="E6F0FF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181600" y="9544050"/>
            <a:ext cx="38481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 i="0">
                <a:solidFill>
                  <a:srgbClr val="E6F0FF"/>
                </a:solidFill>
              </a:defRPr>
            </a:pPr>
            <a:r>
              <a:rPr sz="1575" b="0" i="0">
                <a:solidFill>
                  <a:srgbClr val="E6F0FF"/>
                </a:solidFill>
              </a:rPr>
              <a:t>成员：待填写</a:t>
            </a:r>
            <a:endParaRPr sz="1575" b="0" i="0">
              <a:solidFill>
                <a:srgbClr val="E6F0FF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258300" y="9544050"/>
            <a:ext cx="38481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 i="0">
                <a:solidFill>
                  <a:srgbClr val="E6F0FF"/>
                </a:solidFill>
              </a:defRPr>
            </a:pPr>
            <a:r>
              <a:rPr sz="1575" b="0" i="0">
                <a:solidFill>
                  <a:srgbClr val="E6F0FF"/>
                </a:solidFill>
              </a:rPr>
              <a:t>指导老师：待填写</a:t>
            </a:r>
            <a:endParaRPr sz="1575" b="0" i="0">
              <a:solidFill>
                <a:srgbClr val="E6F0FF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3315950" y="9544050"/>
            <a:ext cx="38481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 i="0">
                <a:solidFill>
                  <a:srgbClr val="E6F0FF"/>
                </a:solidFill>
              </a:defRPr>
            </a:pPr>
            <a:r>
              <a:rPr sz="1575" b="0" i="0">
                <a:solidFill>
                  <a:srgbClr val="E6F0FF"/>
                </a:solidFill>
              </a:rPr>
              <a:t>项目类型：大创训练</a:t>
            </a:r>
            <a:endParaRPr sz="1575" b="0" i="0">
              <a:solidFill>
                <a:srgbClr val="E6F0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914400" y="609600"/>
            <a:ext cx="164592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6096E6"/>
                </a:solidFill>
              </a:defRPr>
            </a:pPr>
            <a:r>
              <a:rPr sz="1350" b="1" i="0">
                <a:solidFill>
                  <a:srgbClr val="6096E6"/>
                </a:solidFill>
              </a:rPr>
              <a:t>第 2 页 | 研究背景与问题</a:t>
            </a:r>
            <a:endParaRPr sz="1350" b="1" i="0">
              <a:solidFill>
                <a:srgbClr val="6096E6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14400" y="990600"/>
            <a:ext cx="164592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 i="0">
                <a:solidFill>
                  <a:srgbClr val="0F1423"/>
                </a:solidFill>
              </a:defRPr>
            </a:pPr>
            <a:r>
              <a:rPr sz="4050" b="1" i="0">
                <a:solidFill>
                  <a:srgbClr val="0F1423"/>
                </a:solidFill>
              </a:rPr>
              <a:t>论文阅读中的痛点</a:t>
            </a:r>
            <a:endParaRPr sz="4050" b="1" i="0">
              <a:solidFill>
                <a:srgbClr val="0F142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914400" y="1809750"/>
            <a:ext cx="71628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 i="0">
                <a:solidFill>
                  <a:srgbClr val="5E6B84"/>
                </a:solidFill>
              </a:defRPr>
            </a:pPr>
            <a:r>
              <a:rPr sz="1725" b="0" i="0">
                <a:solidFill>
                  <a:srgbClr val="5E6B84"/>
                </a:solidFill>
              </a:rPr>
              <a:t>从“看见论文”到“真正理解论文”，中间缺的是证据、结构和主动学习流程。</a:t>
            </a:r>
            <a:endParaRPr sz="1725" b="0" i="0">
              <a:solidFill>
                <a:srgbClr val="5E6B84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14400" y="2762250"/>
            <a:ext cx="822960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75" b="1" i="0">
                <a:solidFill>
                  <a:srgbClr val="0F1423"/>
                </a:solidFill>
              </a:defRPr>
            </a:pPr>
            <a:r>
              <a:rPr sz="3375" b="1" i="0">
                <a:solidFill>
                  <a:srgbClr val="0F1423"/>
                </a:solidFill>
              </a:rPr>
              <a:t>阅读阻力不只来自英文</a:t>
            </a:r>
            <a:endParaRPr sz="3375" b="1" i="0">
              <a:solidFill>
                <a:srgbClr val="0F1423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914400" y="345757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14400" y="3524250"/>
            <a:ext cx="285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1</a:t>
            </a:r>
            <a:endParaRPr sz="1125" b="1" i="0">
              <a:solidFill>
                <a:srgbClr val="FFFFFF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333500" y="3467100"/>
            <a:ext cx="7810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0" i="0">
                <a:solidFill>
                  <a:srgbClr val="182033"/>
                </a:solidFill>
              </a:defRPr>
            </a:pPr>
            <a:r>
              <a:rPr sz="2100" b="0" i="0">
                <a:solidFill>
                  <a:srgbClr val="182033"/>
                </a:solidFill>
              </a:rPr>
              <a:t>英文论文阅读门槛高，术语、公式、方法和实验细节理解成本高</a:t>
            </a:r>
            <a:endParaRPr sz="2100" b="0" i="0">
              <a:solidFill>
                <a:srgbClr val="182033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914400" y="38862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14400" y="3962400"/>
            <a:ext cx="285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2</a:t>
            </a:r>
            <a:endParaRPr sz="1125" b="1" i="0">
              <a:solidFill>
                <a:srgbClr val="FFFFFF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333500" y="3886200"/>
            <a:ext cx="7810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0" i="0">
                <a:solidFill>
                  <a:srgbClr val="182033"/>
                </a:solidFill>
              </a:defRPr>
            </a:pPr>
            <a:r>
              <a:rPr sz="2100" b="0" i="0">
                <a:solidFill>
                  <a:srgbClr val="182033"/>
                </a:solidFill>
              </a:rPr>
              <a:t>普通大模型容易脱离论文原文回答，存在幻觉风险</a:t>
            </a:r>
            <a:endParaRPr sz="2100" b="0" i="0">
              <a:solidFill>
                <a:srgbClr val="182033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914400" y="431482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914400" y="4381500"/>
            <a:ext cx="285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3</a:t>
            </a:r>
            <a:endParaRPr sz="1125" b="1" i="0">
              <a:solidFill>
                <a:srgbClr val="FFFFFF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333500" y="4324350"/>
            <a:ext cx="7810500" cy="533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0" i="0">
                <a:solidFill>
                  <a:srgbClr val="182033"/>
                </a:solidFill>
              </a:defRPr>
            </a:pPr>
            <a:r>
              <a:rPr sz="2100" b="0" i="0">
                <a:solidFill>
                  <a:srgbClr val="182033"/>
                </a:solidFill>
              </a:rPr>
              <a:t>学生需要的不只是翻译，还需要结构化摘要、证据化问答和批判性分析</a:t>
            </a:r>
            <a:endParaRPr sz="2100" b="0" i="0">
              <a:solidFill>
                <a:srgbClr val="182033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914400" y="49911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914400" y="5067300"/>
            <a:ext cx="285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4</a:t>
            </a:r>
            <a:endParaRPr sz="1125" b="1" i="0">
              <a:solidFill>
                <a:srgbClr val="FFFFFF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333500" y="4991100"/>
            <a:ext cx="7810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0" i="0">
                <a:solidFill>
                  <a:srgbClr val="182033"/>
                </a:solidFill>
              </a:defRPr>
            </a:pPr>
            <a:r>
              <a:rPr sz="2100" b="0" i="0">
                <a:solidFill>
                  <a:srgbClr val="182033"/>
                </a:solidFill>
              </a:rPr>
              <a:t>阅读过程中缺少“前置知识补课”和“主动理解检查”的工具</a:t>
            </a:r>
            <a:endParaRPr sz="2100" b="0" i="0">
              <a:solidFill>
                <a:srgbClr val="182033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9774936" y="3676650"/>
            <a:ext cx="876300" cy="876300"/>
          </a:xfrm>
          <a:prstGeom prst="roundRect">
            <a:avLst>
              <a:gd name="adj" fmla="val 50000"/>
            </a:avLst>
          </a:prstGeom>
          <a:solidFill>
            <a:srgbClr val="6096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9772650" y="3981450"/>
            <a:ext cx="8763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1</a:t>
            </a:r>
            <a:endParaRPr sz="2100" b="1" i="0">
              <a:solidFill>
                <a:srgbClr val="FFFFFF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0858500" y="3962400"/>
            <a:ext cx="65151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75" b="1" i="0">
                <a:solidFill>
                  <a:srgbClr val="0F1423"/>
                </a:solidFill>
              </a:defRPr>
            </a:pPr>
            <a:r>
              <a:rPr sz="2475" b="1" i="0">
                <a:solidFill>
                  <a:srgbClr val="0F1423"/>
                </a:solidFill>
              </a:rPr>
              <a:t>术语/公式</a:t>
            </a:r>
            <a:endParaRPr sz="2475" b="1" i="0">
              <a:solidFill>
                <a:srgbClr val="0F1423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9774936" y="4838700"/>
            <a:ext cx="876300" cy="876300"/>
          </a:xfrm>
          <a:prstGeom prst="roundRect">
            <a:avLst>
              <a:gd name="adj" fmla="val 50000"/>
            </a:avLst>
          </a:prstGeom>
          <a:solidFill>
            <a:srgbClr val="58B6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9772650" y="5143500"/>
            <a:ext cx="8763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2</a:t>
            </a:r>
            <a:endParaRPr sz="2100" b="1" i="0">
              <a:solidFill>
                <a:srgbClr val="FFFFFF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0858500" y="5124450"/>
            <a:ext cx="65151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75" b="1" i="0">
                <a:solidFill>
                  <a:srgbClr val="0F1423"/>
                </a:solidFill>
              </a:defRPr>
            </a:pPr>
            <a:r>
              <a:rPr sz="2475" b="1" i="0">
                <a:solidFill>
                  <a:srgbClr val="0F1423"/>
                </a:solidFill>
              </a:rPr>
              <a:t>方法细节</a:t>
            </a:r>
            <a:endParaRPr sz="2475" b="1" i="0">
              <a:solidFill>
                <a:srgbClr val="0F1423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9774936" y="6000750"/>
            <a:ext cx="876300" cy="876300"/>
          </a:xfrm>
          <a:prstGeom prst="roundRect">
            <a:avLst>
              <a:gd name="adj" fmla="val 50000"/>
            </a:avLst>
          </a:prstGeom>
          <a:solidFill>
            <a:srgbClr val="FFBA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9772650" y="6305550"/>
            <a:ext cx="8763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3</a:t>
            </a:r>
            <a:endParaRPr sz="2100" b="1" i="0">
              <a:solidFill>
                <a:srgbClr val="FFFFFF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0858500" y="6286500"/>
            <a:ext cx="65151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75" b="1" i="0">
                <a:solidFill>
                  <a:srgbClr val="0F1423"/>
                </a:solidFill>
              </a:defRPr>
            </a:pPr>
            <a:r>
              <a:rPr sz="2475" b="1" i="0">
                <a:solidFill>
                  <a:srgbClr val="0F1423"/>
                </a:solidFill>
              </a:rPr>
              <a:t>证据追溯</a:t>
            </a:r>
            <a:endParaRPr sz="2475" b="1" i="0">
              <a:solidFill>
                <a:srgbClr val="0F1423"/>
              </a:solidFill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9774936" y="7162800"/>
            <a:ext cx="876300" cy="876300"/>
          </a:xfrm>
          <a:prstGeom prst="roundRect">
            <a:avLst>
              <a:gd name="adj" fmla="val 50000"/>
            </a:avLst>
          </a:prstGeom>
          <a:solidFill>
            <a:srgbClr val="F188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9772650" y="7467600"/>
            <a:ext cx="8763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4</a:t>
            </a:r>
            <a:endParaRPr sz="2100" b="1" i="0">
              <a:solidFill>
                <a:srgbClr val="FFFFFF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0858500" y="7448550"/>
            <a:ext cx="65151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75" b="1" i="0">
                <a:solidFill>
                  <a:srgbClr val="0F1423"/>
                </a:solidFill>
              </a:defRPr>
            </a:pPr>
            <a:r>
              <a:rPr sz="2475" b="1" i="0">
                <a:solidFill>
                  <a:srgbClr val="0F1423"/>
                </a:solidFill>
              </a:rPr>
              <a:t>批判判断</a:t>
            </a:r>
            <a:endParaRPr sz="2475" b="1" i="0">
              <a:solidFill>
                <a:srgbClr val="0F1423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914400" y="9525000"/>
            <a:ext cx="857250" cy="28575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1924050" y="9391650"/>
            <a:ext cx="25717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5E6B84"/>
                </a:solidFill>
              </a:defRPr>
            </a:pPr>
            <a:r>
              <a:rPr sz="1125" b="0" i="0">
                <a:solidFill>
                  <a:srgbClr val="5E6B84"/>
                </a:solidFill>
              </a:rPr>
              <a:t>Pixiu Academic Assistant | Midterm Defense</a:t>
            </a:r>
            <a:endParaRPr sz="1125" b="0" i="0">
              <a:solidFill>
                <a:srgbClr val="5E6B84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4648200" y="9525000"/>
            <a:ext cx="12725400" cy="9525"/>
          </a:xfrm>
          <a:prstGeom prst="rect">
            <a:avLst/>
          </a:prstGeom>
          <a:solidFill>
            <a:srgbClr val="EEF3FA"/>
          </a:solidFill>
          <a:ln w="0">
            <a:solidFill>
              <a:srgbClr val="EEF3FA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914400" y="609600"/>
            <a:ext cx="164592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6096E6"/>
                </a:solidFill>
              </a:defRPr>
            </a:pPr>
            <a:r>
              <a:rPr sz="1350" b="1" i="0">
                <a:solidFill>
                  <a:srgbClr val="6096E6"/>
                </a:solidFill>
              </a:rPr>
              <a:t>第 3 页 | 项目目标与定位</a:t>
            </a:r>
            <a:endParaRPr sz="1350" b="1" i="0">
              <a:solidFill>
                <a:srgbClr val="6096E6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14400" y="990600"/>
            <a:ext cx="164592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 i="0">
                <a:solidFill>
                  <a:srgbClr val="0F1423"/>
                </a:solidFill>
              </a:defRPr>
            </a:pPr>
            <a:r>
              <a:rPr sz="4050" b="1" i="0">
                <a:solidFill>
                  <a:srgbClr val="0F1423"/>
                </a:solidFill>
              </a:rPr>
              <a:t>面向论文阅读的 AI 学习工作台</a:t>
            </a:r>
            <a:endParaRPr sz="4050" b="1" i="0">
              <a:solidFill>
                <a:srgbClr val="0F142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914400" y="1809750"/>
            <a:ext cx="59245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 i="0">
                <a:solidFill>
                  <a:srgbClr val="5E6B84"/>
                </a:solidFill>
              </a:defRPr>
            </a:pPr>
            <a:r>
              <a:rPr sz="1725" b="0" i="0">
                <a:solidFill>
                  <a:srgbClr val="5E6B84"/>
                </a:solidFill>
              </a:rPr>
              <a:t>围绕一篇论文形成“输入-理解-追问-分析-研究”的连续工作流。</a:t>
            </a:r>
            <a:endParaRPr sz="1725" b="0" i="0">
              <a:solidFill>
                <a:srgbClr val="5E6B84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1504950" y="3286125"/>
            <a:ext cx="1066800" cy="1066800"/>
          </a:xfrm>
          <a:prstGeom prst="roundRect">
            <a:avLst>
              <a:gd name="adj" fmla="val 50000"/>
            </a:avLst>
          </a:prstGeom>
          <a:solidFill>
            <a:srgbClr val="6096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504950" y="3657600"/>
            <a:ext cx="10668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1</a:t>
            </a:r>
            <a:endParaRPr sz="2550" b="1" i="0">
              <a:solidFill>
                <a:srgbClr val="FFFFFF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295400" y="4533900"/>
            <a:ext cx="1504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 i="0">
                <a:solidFill>
                  <a:srgbClr val="0F1423"/>
                </a:solidFill>
              </a:defRPr>
            </a:pPr>
            <a:r>
              <a:rPr sz="1800" b="1" i="0">
                <a:solidFill>
                  <a:srgbClr val="0F1423"/>
                </a:solidFill>
              </a:rPr>
              <a:t>PDF 上传</a:t>
            </a:r>
            <a:endParaRPr sz="1800" b="1" i="0">
              <a:solidFill>
                <a:srgbClr val="0F1423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3867150" y="3286125"/>
            <a:ext cx="1066800" cy="1066800"/>
          </a:xfrm>
          <a:prstGeom prst="roundRect">
            <a:avLst>
              <a:gd name="adj" fmla="val 50000"/>
            </a:avLst>
          </a:prstGeom>
          <a:solidFill>
            <a:srgbClr val="58B6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3867150" y="3657600"/>
            <a:ext cx="10668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2</a:t>
            </a:r>
            <a:endParaRPr sz="2550" b="1" i="0">
              <a:solidFill>
                <a:srgbClr val="FFFFFF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657600" y="4533900"/>
            <a:ext cx="1504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 i="0">
                <a:solidFill>
                  <a:srgbClr val="0F1423"/>
                </a:solidFill>
              </a:defRPr>
            </a:pPr>
            <a:r>
              <a:rPr sz="1800" b="1" i="0">
                <a:solidFill>
                  <a:srgbClr val="0F1423"/>
                </a:solidFill>
              </a:rPr>
              <a:t>篇章解析</a:t>
            </a:r>
            <a:endParaRPr sz="1800" b="1" i="0">
              <a:solidFill>
                <a:srgbClr val="0F1423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6248400" y="3286125"/>
            <a:ext cx="1066800" cy="1066800"/>
          </a:xfrm>
          <a:prstGeom prst="roundRect">
            <a:avLst>
              <a:gd name="adj" fmla="val 50000"/>
            </a:avLst>
          </a:prstGeom>
          <a:solidFill>
            <a:srgbClr val="6096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248400" y="3657600"/>
            <a:ext cx="10668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3</a:t>
            </a:r>
            <a:endParaRPr sz="2550" b="1" i="0">
              <a:solidFill>
                <a:srgbClr val="FFFFFF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019800" y="4533900"/>
            <a:ext cx="1504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 i="0">
                <a:solidFill>
                  <a:srgbClr val="0F1423"/>
                </a:solidFill>
              </a:defRPr>
            </a:pPr>
            <a:r>
              <a:rPr sz="1800" b="1" i="0">
                <a:solidFill>
                  <a:srgbClr val="0F1423"/>
                </a:solidFill>
              </a:rPr>
              <a:t>RAG 问答</a:t>
            </a:r>
            <a:endParaRPr sz="1800" b="1" i="0">
              <a:solidFill>
                <a:srgbClr val="0F1423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8610600" y="3286125"/>
            <a:ext cx="1066800" cy="1066800"/>
          </a:xfrm>
          <a:prstGeom prst="roundRect">
            <a:avLst>
              <a:gd name="adj" fmla="val 50000"/>
            </a:avLst>
          </a:prstGeom>
          <a:solidFill>
            <a:srgbClr val="58B6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610600" y="3657600"/>
            <a:ext cx="10668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4</a:t>
            </a:r>
            <a:endParaRPr sz="2550" b="1" i="0">
              <a:solidFill>
                <a:srgbClr val="FFFFF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401050" y="4533900"/>
            <a:ext cx="1504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 i="0">
                <a:solidFill>
                  <a:srgbClr val="0F1423"/>
                </a:solidFill>
              </a:defRPr>
            </a:pPr>
            <a:r>
              <a:rPr sz="1800" b="1" i="0">
                <a:solidFill>
                  <a:srgbClr val="0F1423"/>
                </a:solidFill>
              </a:rPr>
              <a:t>翻译/解释</a:t>
            </a:r>
            <a:endParaRPr sz="1800" b="1" i="0">
              <a:solidFill>
                <a:srgbClr val="0F1423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10972800" y="3286125"/>
            <a:ext cx="1066800" cy="1066800"/>
          </a:xfrm>
          <a:prstGeom prst="roundRect">
            <a:avLst>
              <a:gd name="adj" fmla="val 50000"/>
            </a:avLst>
          </a:prstGeom>
          <a:solidFill>
            <a:srgbClr val="6096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0972800" y="3657600"/>
            <a:ext cx="10668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5</a:t>
            </a:r>
            <a:endParaRPr sz="2550" b="1" i="0">
              <a:solidFill>
                <a:srgbClr val="FFFFFF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0763250" y="4533900"/>
            <a:ext cx="1504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 i="0">
                <a:solidFill>
                  <a:srgbClr val="0F1423"/>
                </a:solidFill>
              </a:defRPr>
            </a:pPr>
            <a:r>
              <a:rPr sz="1800" b="1" i="0">
                <a:solidFill>
                  <a:srgbClr val="0F1423"/>
                </a:solidFill>
              </a:rPr>
              <a:t>背景补课</a:t>
            </a:r>
            <a:endParaRPr sz="1800" b="1" i="0">
              <a:solidFill>
                <a:srgbClr val="0F1423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13354050" y="3286125"/>
            <a:ext cx="1066800" cy="1066800"/>
          </a:xfrm>
          <a:prstGeom prst="roundRect">
            <a:avLst>
              <a:gd name="adj" fmla="val 50000"/>
            </a:avLst>
          </a:prstGeom>
          <a:solidFill>
            <a:srgbClr val="58B6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3354050" y="3657600"/>
            <a:ext cx="10668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6</a:t>
            </a:r>
            <a:endParaRPr sz="2550" b="1" i="0">
              <a:solidFill>
                <a:srgbClr val="FFFFFF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3125450" y="4533900"/>
            <a:ext cx="1504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 i="0">
                <a:solidFill>
                  <a:srgbClr val="0F1423"/>
                </a:solidFill>
              </a:defRPr>
            </a:pPr>
            <a:r>
              <a:rPr sz="1800" b="1" i="0">
                <a:solidFill>
                  <a:srgbClr val="0F1423"/>
                </a:solidFill>
              </a:rPr>
              <a:t>批判阅读</a:t>
            </a:r>
            <a:endParaRPr sz="1800" b="1" i="0">
              <a:solidFill>
                <a:srgbClr val="0F1423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15716250" y="3286125"/>
            <a:ext cx="1066800" cy="1066800"/>
          </a:xfrm>
          <a:prstGeom prst="roundRect">
            <a:avLst>
              <a:gd name="adj" fmla="val 50000"/>
            </a:avLst>
          </a:prstGeom>
          <a:solidFill>
            <a:srgbClr val="6096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5716250" y="3657600"/>
            <a:ext cx="10668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7</a:t>
            </a:r>
            <a:endParaRPr sz="2550" b="1" i="0">
              <a:solidFill>
                <a:srgbClr val="FFFFFF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5487650" y="4533900"/>
            <a:ext cx="1504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 i="0">
                <a:solidFill>
                  <a:srgbClr val="0F1423"/>
                </a:solidFill>
              </a:defRPr>
            </a:pPr>
            <a:r>
              <a:rPr sz="1800" b="1" i="0">
                <a:solidFill>
                  <a:srgbClr val="0F1423"/>
                </a:solidFill>
              </a:rPr>
              <a:t>深度研究</a:t>
            </a:r>
            <a:endParaRPr sz="1800" b="1" i="0">
              <a:solidFill>
                <a:srgbClr val="0F1423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6819900"/>
            <a:ext cx="1143000" cy="57150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914400" y="7067550"/>
            <a:ext cx="5257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 i="0">
                <a:solidFill>
                  <a:srgbClr val="6096E6"/>
                </a:solidFill>
              </a:defRPr>
            </a:pPr>
            <a:r>
              <a:rPr sz="1800" b="1" i="0">
                <a:solidFill>
                  <a:srgbClr val="6096E6"/>
                </a:solidFill>
              </a:rPr>
              <a:t>输入</a:t>
            </a:r>
            <a:endParaRPr sz="1800" b="1" i="0">
              <a:solidFill>
                <a:srgbClr val="6096E6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914400" y="7486650"/>
            <a:ext cx="211455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 b="1" i="0">
                <a:solidFill>
                  <a:srgbClr val="0F1423"/>
                </a:solidFill>
              </a:defRPr>
            </a:pPr>
            <a:r>
              <a:rPr sz="2850" b="1" i="0">
                <a:solidFill>
                  <a:srgbClr val="0F1423"/>
                </a:solidFill>
              </a:rPr>
              <a:t>学术论文 PDF</a:t>
            </a:r>
            <a:endParaRPr sz="2850" b="1" i="0">
              <a:solidFill>
                <a:srgbClr val="0F1423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515100" y="6629400"/>
            <a:ext cx="1143000" cy="57150"/>
          </a:xfrm>
          <a:prstGeom prst="rect">
            <a:avLst/>
          </a:prstGeom>
          <a:solidFill>
            <a:srgbClr val="56CA95"/>
          </a:solidFill>
          <a:ln w="0">
            <a:solidFill>
              <a:srgbClr val="56CA95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6515100" y="6877050"/>
            <a:ext cx="5257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 i="0">
                <a:solidFill>
                  <a:srgbClr val="56CA95"/>
                </a:solidFill>
              </a:defRPr>
            </a:pPr>
            <a:r>
              <a:rPr sz="1800" b="1" i="0">
                <a:solidFill>
                  <a:srgbClr val="56CA95"/>
                </a:solidFill>
              </a:rPr>
              <a:t>核心能力</a:t>
            </a:r>
            <a:endParaRPr sz="1800" b="1" i="0">
              <a:solidFill>
                <a:srgbClr val="56CA95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515100" y="7296150"/>
            <a:ext cx="384810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 b="1" i="0">
                <a:solidFill>
                  <a:srgbClr val="0F1423"/>
                </a:solidFill>
              </a:defRPr>
            </a:pPr>
            <a:r>
              <a:rPr sz="2850" b="1" i="0">
                <a:solidFill>
                  <a:srgbClr val="0F1423"/>
                </a:solidFill>
              </a:rPr>
              <a:t>解析 / 检索 / 生成 / 分析</a:t>
            </a:r>
            <a:endParaRPr sz="2850" b="1" i="0">
              <a:solidFill>
                <a:srgbClr val="0F1423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2115800" y="6819900"/>
            <a:ext cx="1143000" cy="57150"/>
          </a:xfrm>
          <a:prstGeom prst="rect">
            <a:avLst/>
          </a:prstGeom>
          <a:solidFill>
            <a:srgbClr val="FFBA55"/>
          </a:solidFill>
          <a:ln w="0">
            <a:solidFill>
              <a:srgbClr val="FFBA55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12115800" y="7067550"/>
            <a:ext cx="5257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 i="0">
                <a:solidFill>
                  <a:srgbClr val="FFBA55"/>
                </a:solidFill>
              </a:defRPr>
            </a:pPr>
            <a:r>
              <a:rPr sz="1800" b="1" i="0">
                <a:solidFill>
                  <a:srgbClr val="FFBA55"/>
                </a:solidFill>
              </a:rPr>
              <a:t>输出</a:t>
            </a:r>
            <a:endParaRPr sz="1800" b="1" i="0">
              <a:solidFill>
                <a:srgbClr val="FFBA55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2115800" y="7486650"/>
            <a:ext cx="398145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 b="1" i="0">
                <a:solidFill>
                  <a:srgbClr val="0F1423"/>
                </a:solidFill>
              </a:defRPr>
            </a:pPr>
            <a:r>
              <a:rPr sz="2850" b="1" i="0">
                <a:solidFill>
                  <a:srgbClr val="0F1423"/>
                </a:solidFill>
              </a:rPr>
              <a:t>摘要、问答、报告、图谱</a:t>
            </a:r>
            <a:endParaRPr sz="2850" b="1" i="0">
              <a:solidFill>
                <a:srgbClr val="0F1423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914400" y="9525000"/>
            <a:ext cx="857250" cy="28575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1924050" y="9391650"/>
            <a:ext cx="26098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5E6B84"/>
                </a:solidFill>
              </a:defRPr>
            </a:pPr>
            <a:r>
              <a:rPr sz="1125" b="0" i="0">
                <a:solidFill>
                  <a:srgbClr val="5E6B84"/>
                </a:solidFill>
              </a:rPr>
              <a:t>项目定位：面向论文阅读的 AI 学习工作台</a:t>
            </a:r>
            <a:endParaRPr sz="1125" b="0" i="0">
              <a:solidFill>
                <a:srgbClr val="5E6B84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4686300" y="9525000"/>
            <a:ext cx="12687300" cy="9525"/>
          </a:xfrm>
          <a:prstGeom prst="rect">
            <a:avLst/>
          </a:prstGeom>
          <a:solidFill>
            <a:srgbClr val="EEF3FA"/>
          </a:solidFill>
          <a:ln w="0">
            <a:solidFill>
              <a:srgbClr val="EEF3FA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876300" y="571500"/>
            <a:ext cx="16535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6096E6"/>
                </a:solidFill>
              </a:defRPr>
            </a:pPr>
            <a:r>
              <a:rPr sz="1350" b="1" i="0">
                <a:solidFill>
                  <a:srgbClr val="6096E6"/>
                </a:solidFill>
              </a:rPr>
              <a:t>第 4 页 | 总体架构</a:t>
            </a:r>
            <a:endParaRPr sz="1350" b="1" i="0">
              <a:solidFill>
                <a:srgbClr val="6096E6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876300" y="952500"/>
            <a:ext cx="1653540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525" b="1" i="0">
                <a:solidFill>
                  <a:srgbClr val="0F1423"/>
                </a:solidFill>
              </a:defRPr>
            </a:pPr>
            <a:r>
              <a:rPr sz="3525" b="1" i="0">
                <a:solidFill>
                  <a:srgbClr val="0F1423"/>
                </a:solidFill>
              </a:rPr>
              <a:t>React + Spring Boot + FastAPI 的三层架构</a:t>
            </a:r>
            <a:endParaRPr sz="3525" b="1" i="0">
              <a:solidFill>
                <a:srgbClr val="0F142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76300" y="1714500"/>
            <a:ext cx="64198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 i="0">
                <a:solidFill>
                  <a:srgbClr val="5E6B84"/>
                </a:solidFill>
              </a:defRPr>
            </a:pPr>
            <a:r>
              <a:rPr sz="1725" b="0" i="0">
                <a:solidFill>
                  <a:srgbClr val="5E6B84"/>
                </a:solidFill>
              </a:rPr>
              <a:t>把用户交互、接口契约和 AI 能力解耦，降低跨技术栈协作复杂度。</a:t>
            </a:r>
            <a:endParaRPr sz="1725" b="0" i="0">
              <a:solidFill>
                <a:srgbClr val="5E6B84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876300" y="3252788"/>
            <a:ext cx="2743200" cy="1695450"/>
          </a:xfrm>
          <a:prstGeom prst="roundRect">
            <a:avLst>
              <a:gd name="adj" fmla="val 4494"/>
            </a:avLst>
          </a:prstGeom>
          <a:solidFill>
            <a:srgbClr val="F6FAFF"/>
          </a:solidFill>
          <a:ln w="14288">
            <a:solidFill>
              <a:srgbClr val="DCE7F7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66800" y="3810000"/>
            <a:ext cx="23622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 b="1" i="0">
                <a:solidFill>
                  <a:srgbClr val="0F1423"/>
                </a:solidFill>
              </a:defRPr>
            </a:pPr>
            <a:r>
              <a:rPr sz="2175" b="1" i="0">
                <a:solidFill>
                  <a:srgbClr val="0F1423"/>
                </a:solidFill>
              </a:rPr>
              <a:t>用户浏览器</a:t>
            </a:r>
            <a:endParaRPr sz="2175" b="1" i="0">
              <a:solidFill>
                <a:srgbClr val="0F1423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66800" y="4210050"/>
            <a:ext cx="23622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 i="0">
                <a:solidFill>
                  <a:srgbClr val="5E6B84"/>
                </a:solidFill>
              </a:defRPr>
            </a:pPr>
            <a:r>
              <a:rPr sz="1425" b="0" i="0">
                <a:solidFill>
                  <a:srgbClr val="5E6B84"/>
                </a:solidFill>
              </a:rPr>
              <a:t>PDF 阅读与功能面板</a:t>
            </a:r>
            <a:endParaRPr sz="1425" b="0" i="0">
              <a:solidFill>
                <a:srgbClr val="5E6B84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790700" y="5124450"/>
            <a:ext cx="914400" cy="47625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3790950" y="4038600"/>
            <a:ext cx="3619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625" b="1" i="0">
                <a:solidFill>
                  <a:srgbClr val="6096E6"/>
                </a:solidFill>
              </a:defRPr>
            </a:pPr>
            <a:r>
              <a:rPr sz="2625" b="1" i="0">
                <a:solidFill>
                  <a:srgbClr val="6096E6"/>
                </a:solidFill>
              </a:rPr>
              <a:t>→</a:t>
            </a:r>
            <a:endParaRPr sz="2625" b="1" i="0">
              <a:solidFill>
                <a:srgbClr val="6096E6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4324350" y="3252788"/>
            <a:ext cx="2743200" cy="1695450"/>
          </a:xfrm>
          <a:prstGeom prst="roundRect">
            <a:avLst>
              <a:gd name="adj" fmla="val 4494"/>
            </a:avLst>
          </a:prstGeom>
          <a:solidFill>
            <a:srgbClr val="F6FAFF"/>
          </a:solidFill>
          <a:ln w="14288">
            <a:solidFill>
              <a:srgbClr val="DCE7F7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514850" y="3810000"/>
            <a:ext cx="23622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 b="1" i="0">
                <a:solidFill>
                  <a:srgbClr val="0F1423"/>
                </a:solidFill>
              </a:defRPr>
            </a:pPr>
            <a:r>
              <a:rPr sz="2175" b="1" i="0">
                <a:solidFill>
                  <a:srgbClr val="0F1423"/>
                </a:solidFill>
              </a:rPr>
              <a:t>React 前端</a:t>
            </a:r>
            <a:endParaRPr sz="2175" b="1" i="0">
              <a:solidFill>
                <a:srgbClr val="0F1423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514850" y="4210050"/>
            <a:ext cx="23622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 i="0">
                <a:solidFill>
                  <a:srgbClr val="5E6B84"/>
                </a:solidFill>
              </a:defRPr>
            </a:pPr>
            <a:r>
              <a:rPr sz="1425" b="0" i="0">
                <a:solidFill>
                  <a:srgbClr val="5E6B84"/>
                </a:solidFill>
              </a:rPr>
              <a:t>Vite / Tailwind / 组件面板</a:t>
            </a:r>
            <a:endParaRPr sz="1425" b="0" i="0">
              <a:solidFill>
                <a:srgbClr val="5E6B84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238750" y="5124450"/>
            <a:ext cx="914400" cy="47625"/>
          </a:xfrm>
          <a:prstGeom prst="rect">
            <a:avLst/>
          </a:prstGeom>
          <a:solidFill>
            <a:srgbClr val="58B6E5"/>
          </a:solidFill>
          <a:ln w="0">
            <a:solidFill>
              <a:srgbClr val="58B6E5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239000" y="4038600"/>
            <a:ext cx="3619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625" b="1" i="0">
                <a:solidFill>
                  <a:srgbClr val="6096E6"/>
                </a:solidFill>
              </a:defRPr>
            </a:pPr>
            <a:r>
              <a:rPr sz="2625" b="1" i="0">
                <a:solidFill>
                  <a:srgbClr val="6096E6"/>
                </a:solidFill>
              </a:rPr>
              <a:t>→</a:t>
            </a:r>
            <a:endParaRPr sz="2625" b="1" i="0">
              <a:solidFill>
                <a:srgbClr val="6096E6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7772400" y="3252788"/>
            <a:ext cx="2743200" cy="1695450"/>
          </a:xfrm>
          <a:prstGeom prst="roundRect">
            <a:avLst>
              <a:gd name="adj" fmla="val 4494"/>
            </a:avLst>
          </a:prstGeom>
          <a:solidFill>
            <a:srgbClr val="F6FAFF"/>
          </a:solidFill>
          <a:ln w="14288">
            <a:solidFill>
              <a:srgbClr val="DCE7F7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962900" y="3810000"/>
            <a:ext cx="23622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 b="1" i="0">
                <a:solidFill>
                  <a:srgbClr val="0F1423"/>
                </a:solidFill>
              </a:defRPr>
            </a:pPr>
            <a:r>
              <a:rPr sz="2175" b="1" i="0">
                <a:solidFill>
                  <a:srgbClr val="0F1423"/>
                </a:solidFill>
              </a:rPr>
              <a:t>Spring Boot 网关</a:t>
            </a:r>
            <a:endParaRPr sz="2175" b="1" i="0">
              <a:solidFill>
                <a:srgbClr val="0F1423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962900" y="4210050"/>
            <a:ext cx="23622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 i="0">
                <a:solidFill>
                  <a:srgbClr val="5E6B84"/>
                </a:solidFill>
              </a:defRPr>
            </a:pPr>
            <a:r>
              <a:rPr sz="1425" b="0" i="0">
                <a:solidFill>
                  <a:srgbClr val="5E6B84"/>
                </a:solidFill>
              </a:rPr>
              <a:t>统一 /api 契约与转发</a:t>
            </a:r>
            <a:endParaRPr sz="1425" b="0" i="0">
              <a:solidFill>
                <a:srgbClr val="5E6B84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686800" y="5124450"/>
            <a:ext cx="914400" cy="47625"/>
          </a:xfrm>
          <a:prstGeom prst="rect">
            <a:avLst/>
          </a:prstGeom>
          <a:solidFill>
            <a:srgbClr val="56CA95"/>
          </a:solidFill>
          <a:ln w="0">
            <a:solidFill>
              <a:srgbClr val="56CA95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0687050" y="4038600"/>
            <a:ext cx="3619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625" b="1" i="0">
                <a:solidFill>
                  <a:srgbClr val="6096E6"/>
                </a:solidFill>
              </a:defRPr>
            </a:pPr>
            <a:r>
              <a:rPr sz="2625" b="1" i="0">
                <a:solidFill>
                  <a:srgbClr val="6096E6"/>
                </a:solidFill>
              </a:rPr>
              <a:t>→</a:t>
            </a:r>
            <a:endParaRPr sz="2625" b="1" i="0">
              <a:solidFill>
                <a:srgbClr val="6096E6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11220450" y="3252788"/>
            <a:ext cx="2743200" cy="1695450"/>
          </a:xfrm>
          <a:prstGeom prst="roundRect">
            <a:avLst>
              <a:gd name="adj" fmla="val 4494"/>
            </a:avLst>
          </a:prstGeom>
          <a:solidFill>
            <a:srgbClr val="0F1423"/>
          </a:solidFill>
          <a:ln w="14288">
            <a:solidFill>
              <a:srgbClr val="0F1423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1410950" y="3810000"/>
            <a:ext cx="23622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 b="1" i="0">
                <a:solidFill>
                  <a:srgbClr val="FFFFFF"/>
                </a:solidFill>
              </a:defRPr>
            </a:pPr>
            <a:r>
              <a:rPr sz="2175" b="1" i="0">
                <a:solidFill>
                  <a:srgbClr val="FFFFFF"/>
                </a:solidFill>
              </a:rPr>
              <a:t>FastAPI AI 服务</a:t>
            </a:r>
            <a:endParaRPr sz="2175" b="1" i="0">
              <a:solidFill>
                <a:srgbClr val="FFFFFF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1410950" y="4210050"/>
            <a:ext cx="23622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 i="0">
                <a:solidFill>
                  <a:srgbClr val="D7E8FF"/>
                </a:solidFill>
              </a:defRPr>
            </a:pPr>
            <a:r>
              <a:rPr sz="1425" b="0" i="0">
                <a:solidFill>
                  <a:srgbClr val="D7E8FF"/>
                </a:solidFill>
              </a:rPr>
              <a:t>解析、RAG、LLM 调用</a:t>
            </a:r>
            <a:endParaRPr sz="1425" b="0" i="0">
              <a:solidFill>
                <a:srgbClr val="D7E8FF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2134850" y="5124450"/>
            <a:ext cx="914400" cy="47625"/>
          </a:xfrm>
          <a:prstGeom prst="rect">
            <a:avLst/>
          </a:prstGeom>
          <a:solidFill>
            <a:srgbClr val="FFBA55"/>
          </a:solidFill>
          <a:ln w="0">
            <a:solidFill>
              <a:srgbClr val="FFBA55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4135100" y="4038600"/>
            <a:ext cx="3619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625" b="1" i="0">
                <a:solidFill>
                  <a:srgbClr val="6096E6"/>
                </a:solidFill>
              </a:defRPr>
            </a:pPr>
            <a:r>
              <a:rPr sz="2625" b="1" i="0">
                <a:solidFill>
                  <a:srgbClr val="6096E6"/>
                </a:solidFill>
              </a:rPr>
              <a:t>→</a:t>
            </a:r>
            <a:endParaRPr sz="2625" b="1" i="0">
              <a:solidFill>
                <a:srgbClr val="6096E6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14668500" y="3252788"/>
            <a:ext cx="2743200" cy="1695450"/>
          </a:xfrm>
          <a:prstGeom prst="roundRect">
            <a:avLst>
              <a:gd name="adj" fmla="val 4494"/>
            </a:avLst>
          </a:prstGeom>
          <a:solidFill>
            <a:srgbClr val="F6FAFF"/>
          </a:solidFill>
          <a:ln w="14288">
            <a:solidFill>
              <a:srgbClr val="DCE7F7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4859000" y="3810000"/>
            <a:ext cx="23622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 b="1" i="0">
                <a:solidFill>
                  <a:srgbClr val="0F1423"/>
                </a:solidFill>
              </a:defRPr>
            </a:pPr>
            <a:r>
              <a:rPr sz="2175" b="1" i="0">
                <a:solidFill>
                  <a:srgbClr val="0F1423"/>
                </a:solidFill>
              </a:rPr>
              <a:t>外部能力</a:t>
            </a:r>
            <a:endParaRPr sz="2175" b="1" i="0">
              <a:solidFill>
                <a:srgbClr val="0F1423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4859000" y="4210050"/>
            <a:ext cx="23622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 i="0">
                <a:solidFill>
                  <a:srgbClr val="5E6B84"/>
                </a:solidFill>
              </a:defRPr>
            </a:pPr>
            <a:r>
              <a:rPr sz="1425" b="0" i="0">
                <a:solidFill>
                  <a:srgbClr val="5E6B84"/>
                </a:solidFill>
              </a:rPr>
              <a:t>GROBID / Chroma / DashScope</a:t>
            </a:r>
            <a:endParaRPr sz="1425" b="0" i="0">
              <a:solidFill>
                <a:srgbClr val="5E6B84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5582900" y="5124450"/>
            <a:ext cx="914400" cy="47625"/>
          </a:xfrm>
          <a:prstGeom prst="rect">
            <a:avLst/>
          </a:prstGeom>
          <a:solidFill>
            <a:srgbClr val="F18870"/>
          </a:solidFill>
          <a:ln w="0">
            <a:solidFill>
              <a:srgbClr val="F18870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876300" y="6172200"/>
            <a:ext cx="3943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 i="0">
                <a:solidFill>
                  <a:srgbClr val="6096E6"/>
                </a:solidFill>
              </a:defRPr>
            </a:pPr>
            <a:r>
              <a:rPr sz="1725" b="1" i="0">
                <a:solidFill>
                  <a:srgbClr val="6096E6"/>
                </a:solidFill>
              </a:rPr>
              <a:t>前端</a:t>
            </a:r>
            <a:endParaRPr sz="1725" b="1" i="0">
              <a:solidFill>
                <a:srgbClr val="6096E6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76300" y="6534150"/>
            <a:ext cx="39433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182033"/>
                </a:solidFill>
              </a:defRPr>
            </a:pPr>
            <a:r>
              <a:rPr sz="1650" b="0" i="0">
                <a:solidFill>
                  <a:srgbClr val="182033"/>
                </a:solidFill>
              </a:rPr>
              <a:t>React 19 + Vite + Tailwind CSS，负责 PDF 阅读器和多功能面板</a:t>
            </a:r>
            <a:endParaRPr sz="1650" b="0" i="0">
              <a:solidFill>
                <a:srgbClr val="182033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5086350" y="6172200"/>
            <a:ext cx="3943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 i="0">
                <a:solidFill>
                  <a:srgbClr val="56CA95"/>
                </a:solidFill>
              </a:defRPr>
            </a:pPr>
            <a:r>
              <a:rPr sz="1725" b="1" i="0">
                <a:solidFill>
                  <a:srgbClr val="56CA95"/>
                </a:solidFill>
              </a:rPr>
              <a:t>网关</a:t>
            </a:r>
            <a:endParaRPr sz="1725" b="1" i="0">
              <a:solidFill>
                <a:srgbClr val="56CA95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086350" y="6534150"/>
            <a:ext cx="39433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182033"/>
                </a:solidFill>
              </a:defRPr>
            </a:pPr>
            <a:r>
              <a:rPr sz="1650" b="0" i="0">
                <a:solidFill>
                  <a:srgbClr val="182033"/>
                </a:solidFill>
              </a:rPr>
              <a:t>Spring Boot 3.4 + Java 21，统一对外 API，转发 Python 服务</a:t>
            </a:r>
            <a:endParaRPr sz="1650" b="0" i="0">
              <a:solidFill>
                <a:srgbClr val="182033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9277350" y="6172200"/>
            <a:ext cx="3943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 i="0">
                <a:solidFill>
                  <a:srgbClr val="FFBA55"/>
                </a:solidFill>
              </a:defRPr>
            </a:pPr>
            <a:r>
              <a:rPr sz="1725" b="1" i="0">
                <a:solidFill>
                  <a:srgbClr val="FFBA55"/>
                </a:solidFill>
              </a:rPr>
              <a:t>AI 服务</a:t>
            </a:r>
            <a:endParaRPr sz="1725" b="1" i="0">
              <a:solidFill>
                <a:srgbClr val="FFBA55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9277350" y="6534150"/>
            <a:ext cx="39433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182033"/>
                </a:solidFill>
              </a:defRPr>
            </a:pPr>
            <a:r>
              <a:rPr sz="1650" b="0" i="0">
                <a:solidFill>
                  <a:srgbClr val="182033"/>
                </a:solidFill>
              </a:rPr>
              <a:t>FastAPI + GROBID + DashScope + RAG，负责核心智能能力</a:t>
            </a:r>
            <a:endParaRPr sz="1650" b="0" i="0">
              <a:solidFill>
                <a:srgbClr val="182033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13487400" y="6172200"/>
            <a:ext cx="3943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 i="0">
                <a:solidFill>
                  <a:srgbClr val="F18870"/>
                </a:solidFill>
              </a:defRPr>
            </a:pPr>
            <a:r>
              <a:rPr sz="1725" b="1" i="0">
                <a:solidFill>
                  <a:srgbClr val="F18870"/>
                </a:solidFill>
              </a:rPr>
              <a:t>部署</a:t>
            </a:r>
            <a:endParaRPr sz="1725" b="1" i="0">
              <a:solidFill>
                <a:srgbClr val="F18870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13487400" y="6534150"/>
            <a:ext cx="39433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182033"/>
                </a:solidFill>
              </a:defRPr>
            </a:pPr>
            <a:r>
              <a:rPr sz="1650" b="0" i="0">
                <a:solidFill>
                  <a:srgbClr val="182033"/>
                </a:solidFill>
              </a:rPr>
              <a:t>Docker Compose 编排 frontend、backend、ai-service、grobid</a:t>
            </a:r>
            <a:endParaRPr sz="1650" b="0" i="0">
              <a:solidFill>
                <a:srgbClr val="182033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76300" y="9563100"/>
            <a:ext cx="857250" cy="28575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1885950" y="9429750"/>
            <a:ext cx="37719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5E6B84"/>
                </a:solidFill>
              </a:defRPr>
            </a:pPr>
            <a:r>
              <a:rPr sz="1125" b="0" i="0">
                <a:solidFill>
                  <a:srgbClr val="5E6B84"/>
                </a:solidFill>
              </a:rPr>
              <a:t>技术栈：React 19 + Spring Boot 3.4 + FastAPI + Docker Compose</a:t>
            </a:r>
            <a:endParaRPr sz="1125" b="0" i="0">
              <a:solidFill>
                <a:srgbClr val="5E6B84"/>
              </a:solidFill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5810250" y="9563100"/>
            <a:ext cx="11601450" cy="9525"/>
          </a:xfrm>
          <a:prstGeom prst="rect">
            <a:avLst/>
          </a:prstGeom>
          <a:solidFill>
            <a:srgbClr val="EEF3FA"/>
          </a:solidFill>
          <a:ln w="0">
            <a:solidFill>
              <a:srgbClr val="EEF3FA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876300" y="514350"/>
            <a:ext cx="16535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6096E6"/>
                </a:solidFill>
              </a:defRPr>
            </a:pPr>
            <a:r>
              <a:rPr sz="1350" b="1" i="0">
                <a:solidFill>
                  <a:srgbClr val="6096E6"/>
                </a:solidFill>
              </a:rPr>
              <a:t>第 5 页 | 基础功能展示</a:t>
            </a:r>
            <a:endParaRPr sz="1350" b="1" i="0">
              <a:solidFill>
                <a:srgbClr val="6096E6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876300" y="895350"/>
            <a:ext cx="165354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 i="0">
                <a:solidFill>
                  <a:srgbClr val="0F1423"/>
                </a:solidFill>
              </a:defRPr>
            </a:pPr>
            <a:r>
              <a:rPr sz="4050" b="1" i="0">
                <a:solidFill>
                  <a:srgbClr val="0F1423"/>
                </a:solidFill>
              </a:rPr>
              <a:t>从 PDF 上传到论文解析</a:t>
            </a:r>
            <a:endParaRPr sz="4050" b="1" i="0">
              <a:solidFill>
                <a:srgbClr val="0F142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76300" y="1714500"/>
            <a:ext cx="1714500" cy="47625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76300" y="4686300"/>
            <a:ext cx="1257300" cy="66675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76300" y="4972050"/>
            <a:ext cx="6477000" cy="1143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F1423"/>
                </a:solidFill>
              </a:defRPr>
            </a:pPr>
            <a:r>
              <a:rPr sz="3000" b="1" i="0">
                <a:solidFill>
                  <a:srgbClr val="0F1423"/>
                </a:solidFill>
              </a:rPr>
              <a:t>把 PDF 转成后续可检索、可问答、可分析的结构化材料。</a:t>
            </a:r>
            <a:endParaRPr sz="3000" b="1" i="0">
              <a:solidFill>
                <a:srgbClr val="0F1423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76300" y="6343650"/>
            <a:ext cx="626745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 i="0">
                <a:solidFill>
                  <a:srgbClr val="5E6B84"/>
                </a:solidFill>
              </a:defRPr>
            </a:pPr>
            <a:r>
              <a:rPr sz="1425" b="0" i="0">
                <a:solidFill>
                  <a:srgbClr val="5E6B84"/>
                </a:solidFill>
              </a:rPr>
              <a:t>这一页展示论文进入系统后的基础流程。PDF上传后，系统不只是保存文件，而是把论文转成后续可检索、可问答、可分析的结构化材料。</a:t>
            </a:r>
            <a:endParaRPr sz="1425" b="0" i="0">
              <a:solidFill>
                <a:srgbClr val="5E6B84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42033" y="435292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648700" y="4419600"/>
            <a:ext cx="285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1</a:t>
            </a:r>
            <a:endParaRPr sz="1125" b="1" i="0">
              <a:solidFill>
                <a:srgbClr val="FFFFFF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9067800" y="4362450"/>
            <a:ext cx="8343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PDF 上传与预览</a:t>
            </a:r>
            <a:endParaRPr sz="1800" b="0" i="0">
              <a:solidFill>
                <a:srgbClr val="182033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8642033" y="475297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8648700" y="4819650"/>
            <a:ext cx="285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2</a:t>
            </a:r>
            <a:endParaRPr sz="1125" b="1" i="0">
              <a:solidFill>
                <a:srgbClr val="FFFFFF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9067800" y="4762500"/>
            <a:ext cx="8343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GROBID 解析论文标题、摘要、章节和正文片段</a:t>
            </a:r>
            <a:endParaRPr sz="1800" b="0" i="0">
              <a:solidFill>
                <a:srgbClr val="182033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8642033" y="515302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8648700" y="5219700"/>
            <a:ext cx="285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3</a:t>
            </a:r>
            <a:endParaRPr sz="1125" b="1" i="0">
              <a:solidFill>
                <a:srgbClr val="FFFFF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9067800" y="5162550"/>
            <a:ext cx="8343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前端显示论文结构和基础分析结果</a:t>
            </a:r>
            <a:endParaRPr sz="1800" b="0" i="0">
              <a:solidFill>
                <a:srgbClr val="182033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8642033" y="555307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8648700" y="5619750"/>
            <a:ext cx="285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4</a:t>
            </a:r>
            <a:endParaRPr sz="1125" b="1" i="0">
              <a:solidFill>
                <a:srgbClr val="FFFFFF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9067800" y="5562600"/>
            <a:ext cx="8343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论文内容被索引为 RAG 检索片段，供后续问答和分析复用</a:t>
            </a:r>
            <a:endParaRPr sz="1800" b="0" i="0">
              <a:solidFill>
                <a:srgbClr val="182033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8642033" y="6067425"/>
            <a:ext cx="8769668" cy="971550"/>
          </a:xfrm>
          <a:prstGeom prst="roundRect">
            <a:avLst>
              <a:gd name="adj" fmla="val 7843"/>
            </a:avLst>
          </a:prstGeom>
          <a:solidFill>
            <a:srgbClr val="F7FAFF"/>
          </a:solidFill>
          <a:ln w="9525">
            <a:solidFill>
              <a:srgbClr val="DCE7F7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877300" y="6248400"/>
            <a:ext cx="83058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6096E6"/>
                </a:solidFill>
              </a:defRPr>
            </a:pPr>
            <a:r>
              <a:rPr sz="1350" b="1" i="0">
                <a:solidFill>
                  <a:srgbClr val="6096E6"/>
                </a:solidFill>
              </a:rPr>
              <a:t>对应模块</a:t>
            </a:r>
            <a:endParaRPr sz="1350" b="1" i="0">
              <a:solidFill>
                <a:srgbClr val="6096E6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877300" y="6496050"/>
            <a:ext cx="83058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5E6B84"/>
                </a:solidFill>
              </a:defRPr>
            </a:pPr>
            <a:r>
              <a:rPr sz="1125" b="0" i="0">
                <a:solidFill>
                  <a:srgbClr val="5E6B84"/>
                </a:solidFill>
              </a:rPr>
              <a:t>前端：frontend/src/components/PdfViewer.jsx</a:t>
            </a:r>
            <a:endParaRPr sz="1125" b="0" i="0">
              <a:solidFill>
                <a:srgbClr val="5E6B84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877300" y="6724650"/>
            <a:ext cx="83058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5E6B84"/>
                </a:solidFill>
              </a:defRPr>
            </a:pPr>
            <a:r>
              <a:rPr sz="1125" b="0" i="0">
                <a:solidFill>
                  <a:srgbClr val="5E6B84"/>
                </a:solidFill>
              </a:rPr>
              <a:t>前端：frontend/src/components/PaperAnalysis.jsx</a:t>
            </a:r>
            <a:endParaRPr sz="1125" b="0" i="0">
              <a:solidFill>
                <a:srgbClr val="5E6B84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76300" y="9696450"/>
            <a:ext cx="857250" cy="28575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885950" y="9620250"/>
            <a:ext cx="32956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5E6B84"/>
                </a:solidFill>
              </a:defRPr>
            </a:pPr>
            <a:r>
              <a:rPr sz="1125" b="0" i="0">
                <a:solidFill>
                  <a:srgbClr val="5E6B84"/>
                </a:solidFill>
              </a:rPr>
              <a:t>功能初稿：后续可替换为系统截图或演示录屏关键帧</a:t>
            </a:r>
            <a:endParaRPr sz="1125" b="0" i="0">
              <a:solidFill>
                <a:srgbClr val="5E6B84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334000" y="9696450"/>
            <a:ext cx="12096750" cy="9525"/>
          </a:xfrm>
          <a:prstGeom prst="rect">
            <a:avLst/>
          </a:prstGeom>
          <a:solidFill>
            <a:srgbClr val="EEF3FA"/>
          </a:solidFill>
          <a:ln w="0">
            <a:solidFill>
              <a:srgbClr val="EEF3FA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876300" y="514350"/>
            <a:ext cx="16535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6096E6"/>
                </a:solidFill>
              </a:defRPr>
            </a:pPr>
            <a:r>
              <a:rPr sz="1350" b="1" i="0">
                <a:solidFill>
                  <a:srgbClr val="6096E6"/>
                </a:solidFill>
              </a:rPr>
              <a:t>第 6 页 | RAG 问答与术语解释</a:t>
            </a:r>
            <a:endParaRPr sz="1350" b="1" i="0">
              <a:solidFill>
                <a:srgbClr val="6096E6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876300" y="895350"/>
            <a:ext cx="165354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 i="0">
                <a:solidFill>
                  <a:srgbClr val="0F1423"/>
                </a:solidFill>
              </a:defRPr>
            </a:pPr>
            <a:r>
              <a:rPr sz="4050" b="1" i="0">
                <a:solidFill>
                  <a:srgbClr val="0F1423"/>
                </a:solidFill>
              </a:rPr>
              <a:t>基于当前论文证据的问答</a:t>
            </a:r>
            <a:endParaRPr sz="4050" b="1" i="0">
              <a:solidFill>
                <a:srgbClr val="0F142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76300" y="1714500"/>
            <a:ext cx="1714500" cy="47625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76300" y="4876800"/>
            <a:ext cx="1257300" cy="66675"/>
          </a:xfrm>
          <a:prstGeom prst="rect">
            <a:avLst/>
          </a:prstGeom>
          <a:solidFill>
            <a:srgbClr val="58B6E5"/>
          </a:solidFill>
          <a:ln w="0">
            <a:solidFill>
              <a:srgbClr val="58B6E5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76300" y="5162550"/>
            <a:ext cx="6477000" cy="762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F1423"/>
                </a:solidFill>
              </a:defRPr>
            </a:pPr>
            <a:r>
              <a:rPr sz="3000" b="1" i="0">
                <a:solidFill>
                  <a:srgbClr val="0F1423"/>
                </a:solidFill>
              </a:rPr>
              <a:t>优先依据当前论文证据回答，减少把模型猜测当成论文结论。</a:t>
            </a:r>
            <a:endParaRPr sz="3000" b="1" i="0">
              <a:solidFill>
                <a:srgbClr val="0F1423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76300" y="6153150"/>
            <a:ext cx="611505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 i="0">
                <a:solidFill>
                  <a:srgbClr val="5E6B84"/>
                </a:solidFill>
              </a:defRPr>
            </a:pPr>
            <a:r>
              <a:rPr sz="1425" b="0" i="0">
                <a:solidFill>
                  <a:srgbClr val="5E6B84"/>
                </a:solidFill>
              </a:rPr>
              <a:t>本项目强调“基于当前论文回答”，而不是泛泛聊天。系统会优先检索当前论文片段，并在证据不足时显式提示，减少把模型猜测当作论文结论的...</a:t>
            </a:r>
            <a:endParaRPr sz="1425" b="0" i="0">
              <a:solidFill>
                <a:srgbClr val="5E6B84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642033" y="42672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58B6E5"/>
          </a:solidFill>
          <a:ln w="0">
            <a:solidFill>
              <a:srgbClr val="58B6E5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648700" y="4343400"/>
            <a:ext cx="285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1</a:t>
            </a:r>
            <a:endParaRPr sz="1125" b="1" i="0">
              <a:solidFill>
                <a:srgbClr val="FFFFFF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067800" y="4267200"/>
            <a:ext cx="8343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聊天面板支持围绕当前论文提问</a:t>
            </a:r>
            <a:endParaRPr sz="1800" b="0" i="0">
              <a:solidFill>
                <a:srgbClr val="182033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642033" y="46672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58B6E5"/>
          </a:solidFill>
          <a:ln w="0">
            <a:solidFill>
              <a:srgbClr val="58B6E5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648700" y="4743450"/>
            <a:ext cx="285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2</a:t>
            </a:r>
            <a:endParaRPr sz="1125" b="1" i="0">
              <a:solidFill>
                <a:srgbClr val="FFFFFF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067800" y="4667250"/>
            <a:ext cx="8343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划词术语解释结合页面上下文和论文片段</a:t>
            </a:r>
            <a:endParaRPr sz="1800" b="0" i="0">
              <a:solidFill>
                <a:srgbClr val="182033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8642033" y="50673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58B6E5"/>
          </a:solidFill>
          <a:ln w="0">
            <a:solidFill>
              <a:srgbClr val="58B6E5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648700" y="5143500"/>
            <a:ext cx="285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3</a:t>
            </a:r>
            <a:endParaRPr sz="1125" b="1" i="0">
              <a:solidFill>
                <a:srgbClr val="FFFFF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067800" y="5067300"/>
            <a:ext cx="83439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轻量 Agentic RAG：意图识别 -&gt; 查询规划 -&gt; 当前论文优先检索 -&gt; 证据判断 -&gt; 回答生成</a:t>
            </a:r>
            <a:endParaRPr sz="1800" b="0" i="0">
              <a:solidFill>
                <a:srgbClr val="182033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8642033" y="56388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58B6E5"/>
          </a:solidFill>
          <a:ln w="0">
            <a:solidFill>
              <a:srgbClr val="58B6E5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648700" y="5715000"/>
            <a:ext cx="285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4</a:t>
            </a:r>
            <a:endParaRPr sz="1125" b="1" i="0">
              <a:solidFill>
                <a:srgbClr val="FFFFFF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067800" y="5638800"/>
            <a:ext cx="8343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返回 rag_sources，便于后续追溯回答依据</a:t>
            </a:r>
            <a:endParaRPr sz="1800" b="0" i="0">
              <a:solidFill>
                <a:srgbClr val="182033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8642033" y="6153150"/>
            <a:ext cx="8769668" cy="971550"/>
          </a:xfrm>
          <a:prstGeom prst="roundRect">
            <a:avLst>
              <a:gd name="adj" fmla="val 7843"/>
            </a:avLst>
          </a:prstGeom>
          <a:solidFill>
            <a:srgbClr val="F7FAFF"/>
          </a:solidFill>
          <a:ln w="9525">
            <a:solidFill>
              <a:srgbClr val="DCE7F7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877300" y="6324600"/>
            <a:ext cx="83058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58B6E5"/>
                </a:solidFill>
              </a:defRPr>
            </a:pPr>
            <a:r>
              <a:rPr sz="1350" b="1" i="0">
                <a:solidFill>
                  <a:srgbClr val="58B6E5"/>
                </a:solidFill>
              </a:rPr>
              <a:t>对应模块</a:t>
            </a:r>
            <a:endParaRPr sz="1350" b="1" i="0">
              <a:solidFill>
                <a:srgbClr val="58B6E5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877300" y="6591300"/>
            <a:ext cx="83058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5E6B84"/>
                </a:solidFill>
              </a:defRPr>
            </a:pPr>
            <a:r>
              <a:rPr sz="1125" b="0" i="0">
                <a:solidFill>
                  <a:srgbClr val="5E6B84"/>
                </a:solidFill>
              </a:rPr>
              <a:t>前端：frontend/src/components/ChatPanel.jsx</a:t>
            </a:r>
            <a:endParaRPr sz="1125" b="0" i="0">
              <a:solidFill>
                <a:srgbClr val="5E6B84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877300" y="6819900"/>
            <a:ext cx="83058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5E6B84"/>
                </a:solidFill>
              </a:defRPr>
            </a:pPr>
            <a:r>
              <a:rPr sz="1125" b="0" i="0">
                <a:solidFill>
                  <a:srgbClr val="5E6B84"/>
                </a:solidFill>
              </a:rPr>
              <a:t>Java：POST /api/chat，POST /api/explain</a:t>
            </a:r>
            <a:endParaRPr sz="1125" b="0" i="0">
              <a:solidFill>
                <a:srgbClr val="5E6B84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76300" y="9696450"/>
            <a:ext cx="857250" cy="28575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885950" y="9620250"/>
            <a:ext cx="32956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5E6B84"/>
                </a:solidFill>
              </a:defRPr>
            </a:pPr>
            <a:r>
              <a:rPr sz="1125" b="0" i="0">
                <a:solidFill>
                  <a:srgbClr val="5E6B84"/>
                </a:solidFill>
              </a:rPr>
              <a:t>功能初稿：后续可替换为系统截图或演示录屏关键帧</a:t>
            </a:r>
            <a:endParaRPr sz="1125" b="0" i="0">
              <a:solidFill>
                <a:srgbClr val="5E6B84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334000" y="9696450"/>
            <a:ext cx="12096750" cy="9525"/>
          </a:xfrm>
          <a:prstGeom prst="rect">
            <a:avLst/>
          </a:prstGeom>
          <a:solidFill>
            <a:srgbClr val="EEF3FA"/>
          </a:solidFill>
          <a:ln w="0">
            <a:solidFill>
              <a:srgbClr val="EEF3FA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876300" y="514350"/>
            <a:ext cx="16535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6096E6"/>
                </a:solidFill>
              </a:defRPr>
            </a:pPr>
            <a:r>
              <a:rPr sz="1350" b="1" i="0">
                <a:solidFill>
                  <a:srgbClr val="6096E6"/>
                </a:solidFill>
              </a:rPr>
              <a:t>第 7 页 | 逐页翻译与阅读辅助</a:t>
            </a:r>
            <a:endParaRPr sz="1350" b="1" i="0">
              <a:solidFill>
                <a:srgbClr val="6096E6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876300" y="895350"/>
            <a:ext cx="165354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 i="0">
                <a:solidFill>
                  <a:srgbClr val="0F1423"/>
                </a:solidFill>
              </a:defRPr>
            </a:pPr>
            <a:r>
              <a:rPr sz="4050" b="1" i="0">
                <a:solidFill>
                  <a:srgbClr val="0F1423"/>
                </a:solidFill>
              </a:rPr>
              <a:t>面向论文页面的翻译体验</a:t>
            </a:r>
            <a:endParaRPr sz="4050" b="1" i="0">
              <a:solidFill>
                <a:srgbClr val="0F142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76300" y="1714500"/>
            <a:ext cx="1714500" cy="47625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76300" y="4876800"/>
            <a:ext cx="1257300" cy="66675"/>
          </a:xfrm>
          <a:prstGeom prst="rect">
            <a:avLst/>
          </a:prstGeom>
          <a:solidFill>
            <a:srgbClr val="56CA95"/>
          </a:solidFill>
          <a:ln w="0">
            <a:solidFill>
              <a:srgbClr val="56CA95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76300" y="5162550"/>
            <a:ext cx="6477000" cy="762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F1423"/>
                </a:solidFill>
              </a:defRPr>
            </a:pPr>
            <a:r>
              <a:rPr sz="3000" b="1" i="0">
                <a:solidFill>
                  <a:srgbClr val="0F1423"/>
                </a:solidFill>
              </a:rPr>
              <a:t>翻译围绕当前阅读页展开，降低英文论文阅读的上下文切换成本。</a:t>
            </a:r>
            <a:endParaRPr sz="3000" b="1" i="0">
              <a:solidFill>
                <a:srgbClr val="0F1423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76300" y="6153150"/>
            <a:ext cx="626745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 i="0">
                <a:solidFill>
                  <a:srgbClr val="5E6B84"/>
                </a:solidFill>
              </a:defRPr>
            </a:pPr>
            <a:r>
              <a:rPr sz="1425" b="0" i="0">
                <a:solidFill>
                  <a:srgbClr val="5E6B84"/>
                </a:solidFill>
              </a:rPr>
              <a:t>翻译功能不是简单整篇复制翻译，而是围绕PDF当前页进行阅读辅助。用户在阅读英文论文时，可以保持页面和译文同步，减少上下文切换。...</a:t>
            </a:r>
            <a:endParaRPr sz="1425" b="0" i="0">
              <a:solidFill>
                <a:srgbClr val="5E6B84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642033" y="435292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56CA95"/>
          </a:solidFill>
          <a:ln w="0">
            <a:solidFill>
              <a:srgbClr val="56CA95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648700" y="4419600"/>
            <a:ext cx="285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1</a:t>
            </a:r>
            <a:endParaRPr sz="1125" b="1" i="0">
              <a:solidFill>
                <a:srgbClr val="FFFFFF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067800" y="4362450"/>
            <a:ext cx="8343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按当前 PDF 页提取可翻译文本</a:t>
            </a:r>
            <a:endParaRPr sz="1800" b="0" i="0">
              <a:solidFill>
                <a:srgbClr val="182033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642033" y="475297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56CA95"/>
          </a:solidFill>
          <a:ln w="0">
            <a:solidFill>
              <a:srgbClr val="56CA95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648700" y="4819650"/>
            <a:ext cx="285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2</a:t>
            </a:r>
            <a:endParaRPr sz="1125" b="1" i="0">
              <a:solidFill>
                <a:srgbClr val="FFFFFF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067800" y="4762500"/>
            <a:ext cx="8343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结合论文骨架和页面上下文生成中文译文</a:t>
            </a:r>
            <a:endParaRPr sz="1800" b="0" i="0">
              <a:solidFill>
                <a:srgbClr val="182033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8642033" y="515302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56CA95"/>
          </a:solidFill>
          <a:ln w="0">
            <a:solidFill>
              <a:srgbClr val="56CA95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648700" y="5219700"/>
            <a:ext cx="285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3</a:t>
            </a:r>
            <a:endParaRPr sz="1125" b="1" i="0">
              <a:solidFill>
                <a:srgbClr val="FFFFF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067800" y="5162550"/>
            <a:ext cx="8343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翻页时自动更新译文</a:t>
            </a:r>
            <a:endParaRPr sz="1800" b="0" i="0">
              <a:solidFill>
                <a:srgbClr val="182033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8642033" y="555307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56CA95"/>
          </a:solidFill>
          <a:ln w="0">
            <a:solidFill>
              <a:srgbClr val="56CA95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648700" y="5619750"/>
            <a:ext cx="285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4</a:t>
            </a:r>
            <a:endParaRPr sz="1125" b="1" i="0">
              <a:solidFill>
                <a:srgbClr val="FFFFFF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067800" y="5562600"/>
            <a:ext cx="8343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对已翻译页面进行缓存，避免重复请求</a:t>
            </a:r>
            <a:endParaRPr sz="1800" b="0" i="0">
              <a:solidFill>
                <a:srgbClr val="182033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8642033" y="6067425"/>
            <a:ext cx="8769668" cy="971550"/>
          </a:xfrm>
          <a:prstGeom prst="roundRect">
            <a:avLst>
              <a:gd name="adj" fmla="val 7843"/>
            </a:avLst>
          </a:prstGeom>
          <a:solidFill>
            <a:srgbClr val="F7FAFF"/>
          </a:solidFill>
          <a:ln w="9525">
            <a:solidFill>
              <a:srgbClr val="DCE7F7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877300" y="6248400"/>
            <a:ext cx="83058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56CA95"/>
                </a:solidFill>
              </a:defRPr>
            </a:pPr>
            <a:r>
              <a:rPr sz="1350" b="1" i="0">
                <a:solidFill>
                  <a:srgbClr val="56CA95"/>
                </a:solidFill>
              </a:rPr>
              <a:t>对应模块</a:t>
            </a:r>
            <a:endParaRPr sz="1350" b="1" i="0">
              <a:solidFill>
                <a:srgbClr val="56CA95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877300" y="6496050"/>
            <a:ext cx="83058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5E6B84"/>
                </a:solidFill>
              </a:defRPr>
            </a:pPr>
            <a:r>
              <a:rPr sz="1125" b="0" i="0">
                <a:solidFill>
                  <a:srgbClr val="5E6B84"/>
                </a:solidFill>
              </a:rPr>
              <a:t>前端：frontend/src/components/TranslationPanel.jsx</a:t>
            </a:r>
            <a:endParaRPr sz="1125" b="0" i="0">
              <a:solidFill>
                <a:srgbClr val="5E6B84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877300" y="6724650"/>
            <a:ext cx="83058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5E6B84"/>
                </a:solidFill>
              </a:defRPr>
            </a:pPr>
            <a:r>
              <a:rPr sz="1125" b="0" i="0">
                <a:solidFill>
                  <a:srgbClr val="5E6B84"/>
                </a:solidFill>
              </a:rPr>
              <a:t>前端：frontend/src/utils/pdfTranslationLayout.js</a:t>
            </a:r>
            <a:endParaRPr sz="1125" b="0" i="0">
              <a:solidFill>
                <a:srgbClr val="5E6B84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76300" y="9696450"/>
            <a:ext cx="857250" cy="28575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885950" y="9620250"/>
            <a:ext cx="32956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5E6B84"/>
                </a:solidFill>
              </a:defRPr>
            </a:pPr>
            <a:r>
              <a:rPr sz="1125" b="0" i="0">
                <a:solidFill>
                  <a:srgbClr val="5E6B84"/>
                </a:solidFill>
              </a:rPr>
              <a:t>功能初稿：后续可替换为系统截图或演示录屏关键帧</a:t>
            </a:r>
            <a:endParaRPr sz="1125" b="0" i="0">
              <a:solidFill>
                <a:srgbClr val="5E6B84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334000" y="9696450"/>
            <a:ext cx="12096750" cy="9525"/>
          </a:xfrm>
          <a:prstGeom prst="rect">
            <a:avLst/>
          </a:prstGeom>
          <a:solidFill>
            <a:srgbClr val="EEF3FA"/>
          </a:solidFill>
          <a:ln w="0">
            <a:solidFill>
              <a:srgbClr val="EEF3FA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876300" y="514350"/>
            <a:ext cx="16535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6096E6"/>
                </a:solidFill>
              </a:defRPr>
            </a:pPr>
            <a:r>
              <a:rPr sz="1350" b="1" i="0">
                <a:solidFill>
                  <a:srgbClr val="6096E6"/>
                </a:solidFill>
              </a:rPr>
              <a:t>第 8 页 | 批判性阅读</a:t>
            </a:r>
            <a:endParaRPr sz="1350" b="1" i="0">
              <a:solidFill>
                <a:srgbClr val="6096E6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876300" y="895350"/>
            <a:ext cx="165354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 i="0">
                <a:solidFill>
                  <a:srgbClr val="0F1423"/>
                </a:solidFill>
              </a:defRPr>
            </a:pPr>
            <a:r>
              <a:rPr sz="4050" b="1" i="0">
                <a:solidFill>
                  <a:srgbClr val="0F1423"/>
                </a:solidFill>
              </a:rPr>
              <a:t>证据化分析论文贡献与局限</a:t>
            </a:r>
            <a:endParaRPr sz="4050" b="1" i="0">
              <a:solidFill>
                <a:srgbClr val="0F142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76300" y="1714500"/>
            <a:ext cx="1714500" cy="47625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76300" y="4876800"/>
            <a:ext cx="1257300" cy="66675"/>
          </a:xfrm>
          <a:prstGeom prst="rect">
            <a:avLst/>
          </a:prstGeom>
          <a:solidFill>
            <a:srgbClr val="FFBA55"/>
          </a:solidFill>
          <a:ln w="0">
            <a:solidFill>
              <a:srgbClr val="FFBA55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76300" y="5162550"/>
            <a:ext cx="6210300" cy="762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F1423"/>
                </a:solidFill>
              </a:defRPr>
            </a:pPr>
            <a:r>
              <a:rPr sz="3000" b="1" i="0">
                <a:solidFill>
                  <a:srgbClr val="0F1423"/>
                </a:solidFill>
              </a:rPr>
              <a:t>从“论文说了什么”走向“哪些判断有证据支撑”。</a:t>
            </a:r>
            <a:endParaRPr sz="3000" b="1" i="0">
              <a:solidFill>
                <a:srgbClr val="0F1423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76300" y="6153150"/>
            <a:ext cx="626745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 i="0">
                <a:solidFill>
                  <a:srgbClr val="5E6B84"/>
                </a:solidFill>
              </a:defRPr>
            </a:pPr>
            <a:r>
              <a:rPr sz="1425" b="0" i="0">
                <a:solidFill>
                  <a:srgbClr val="5E6B84"/>
                </a:solidFill>
              </a:rPr>
              <a:t>批判性阅读是项目区别于普通PDF阅读器和一般问答工具的重要部分。它不是简单总结论文，而是围绕贡献、方法、实验和局限做证据化分析，...</a:t>
            </a:r>
            <a:endParaRPr sz="1425" b="0" i="0">
              <a:solidFill>
                <a:srgbClr val="5E6B84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642033" y="435292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FFBA55"/>
          </a:solidFill>
          <a:ln w="0">
            <a:solidFill>
              <a:srgbClr val="FFBA55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648700" y="4419600"/>
            <a:ext cx="285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1</a:t>
            </a:r>
            <a:endParaRPr sz="1125" b="1" i="0">
              <a:solidFill>
                <a:srgbClr val="FFFFFF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067800" y="4362450"/>
            <a:ext cx="8343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围绕贡献、方法、实验、局限四个维度分析论文</a:t>
            </a:r>
            <a:endParaRPr sz="1800" b="0" i="0">
              <a:solidFill>
                <a:srgbClr val="182033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642033" y="475297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FFBA55"/>
          </a:solidFill>
          <a:ln w="0">
            <a:solidFill>
              <a:srgbClr val="FFBA55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648700" y="4819650"/>
            <a:ext cx="285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2</a:t>
            </a:r>
            <a:endParaRPr sz="1125" b="1" i="0">
              <a:solidFill>
                <a:srgbClr val="FFFFFF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067800" y="4762500"/>
            <a:ext cx="8343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输出 evidence-based contributions、weaknesses、overclaim risks、missing evidence</a:t>
            </a:r>
            <a:endParaRPr sz="1800" b="0" i="0">
              <a:solidFill>
                <a:srgbClr val="182033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8642033" y="515302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FFBA55"/>
          </a:solidFill>
          <a:ln w="0">
            <a:solidFill>
              <a:srgbClr val="FFBA55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648700" y="5219700"/>
            <a:ext cx="285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3</a:t>
            </a:r>
            <a:endParaRPr sz="1125" b="1" i="0">
              <a:solidFill>
                <a:srgbClr val="FFFFF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067800" y="5162550"/>
            <a:ext cx="8343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证据不足时明确标记，不编造实验或结论</a:t>
            </a:r>
            <a:endParaRPr sz="1800" b="0" i="0">
              <a:solidFill>
                <a:srgbClr val="182033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8642033" y="555307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FFBA55"/>
          </a:solidFill>
          <a:ln w="0">
            <a:solidFill>
              <a:srgbClr val="FFBA55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648700" y="5619750"/>
            <a:ext cx="285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4</a:t>
            </a:r>
            <a:endParaRPr sz="1125" b="1" i="0">
              <a:solidFill>
                <a:srgbClr val="FFFFFF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067800" y="5562600"/>
            <a:ext cx="8343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让用户从“论文讲了什么”进一步看到“论文哪些判断有证据支撑”</a:t>
            </a:r>
            <a:endParaRPr sz="1800" b="0" i="0">
              <a:solidFill>
                <a:srgbClr val="182033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8642033" y="6067425"/>
            <a:ext cx="8769668" cy="971550"/>
          </a:xfrm>
          <a:prstGeom prst="roundRect">
            <a:avLst>
              <a:gd name="adj" fmla="val 7843"/>
            </a:avLst>
          </a:prstGeom>
          <a:solidFill>
            <a:srgbClr val="F7FAFF"/>
          </a:solidFill>
          <a:ln w="9525">
            <a:solidFill>
              <a:srgbClr val="DCE7F7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877300" y="6248400"/>
            <a:ext cx="83058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FFBA55"/>
                </a:solidFill>
              </a:defRPr>
            </a:pPr>
            <a:r>
              <a:rPr sz="1350" b="1" i="0">
                <a:solidFill>
                  <a:srgbClr val="FFBA55"/>
                </a:solidFill>
              </a:rPr>
              <a:t>对应模块</a:t>
            </a:r>
            <a:endParaRPr sz="1350" b="1" i="0">
              <a:solidFill>
                <a:srgbClr val="FFBA55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877300" y="6496050"/>
            <a:ext cx="83058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5E6B84"/>
                </a:solidFill>
              </a:defRPr>
            </a:pPr>
            <a:r>
              <a:rPr sz="1125" b="0" i="0">
                <a:solidFill>
                  <a:srgbClr val="5E6B84"/>
                </a:solidFill>
              </a:rPr>
              <a:t>前端：frontend/src/components/CriticalAnalysisPanel.jsx</a:t>
            </a:r>
            <a:endParaRPr sz="1125" b="0" i="0">
              <a:solidFill>
                <a:srgbClr val="5E6B84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877300" y="6724650"/>
            <a:ext cx="83058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5E6B84"/>
                </a:solidFill>
              </a:defRPr>
            </a:pPr>
            <a:r>
              <a:rPr sz="1125" b="0" i="0">
                <a:solidFill>
                  <a:srgbClr val="5E6B84"/>
                </a:solidFill>
              </a:rPr>
              <a:t>Java：POST /api/critical-reading/{pdfId}</a:t>
            </a:r>
            <a:endParaRPr sz="1125" b="0" i="0">
              <a:solidFill>
                <a:srgbClr val="5E6B84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76300" y="9696450"/>
            <a:ext cx="857250" cy="28575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885950" y="9620250"/>
            <a:ext cx="32956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5E6B84"/>
                </a:solidFill>
              </a:defRPr>
            </a:pPr>
            <a:r>
              <a:rPr sz="1125" b="0" i="0">
                <a:solidFill>
                  <a:srgbClr val="5E6B84"/>
                </a:solidFill>
              </a:rPr>
              <a:t>功能初稿：后续可替换为系统截图或演示录屏关键帧</a:t>
            </a:r>
            <a:endParaRPr sz="1125" b="0" i="0">
              <a:solidFill>
                <a:srgbClr val="5E6B84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334000" y="9696450"/>
            <a:ext cx="12096750" cy="9525"/>
          </a:xfrm>
          <a:prstGeom prst="rect">
            <a:avLst/>
          </a:prstGeom>
          <a:solidFill>
            <a:srgbClr val="EEF3FA"/>
          </a:solidFill>
          <a:ln w="0">
            <a:solidFill>
              <a:srgbClr val="EEF3FA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876300" y="514350"/>
            <a:ext cx="16535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6096E6"/>
                </a:solidFill>
              </a:defRPr>
            </a:pPr>
            <a:r>
              <a:rPr sz="1350" b="1" i="0">
                <a:solidFill>
                  <a:srgbClr val="6096E6"/>
                </a:solidFill>
              </a:rPr>
              <a:t>第 9 页 | 背景补课</a:t>
            </a:r>
            <a:endParaRPr sz="1350" b="1" i="0">
              <a:solidFill>
                <a:srgbClr val="6096E6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876300" y="895350"/>
            <a:ext cx="165354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 i="0">
                <a:solidFill>
                  <a:srgbClr val="0F1423"/>
                </a:solidFill>
              </a:defRPr>
            </a:pPr>
            <a:r>
              <a:rPr sz="4050" b="1" i="0">
                <a:solidFill>
                  <a:srgbClr val="0F1423"/>
                </a:solidFill>
              </a:rPr>
              <a:t>补齐论文理解所需的前置知识</a:t>
            </a:r>
            <a:endParaRPr sz="4050" b="1" i="0">
              <a:solidFill>
                <a:srgbClr val="0F142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76300" y="1714500"/>
            <a:ext cx="1714500" cy="47625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76300" y="4876800"/>
            <a:ext cx="1257300" cy="66675"/>
          </a:xfrm>
          <a:prstGeom prst="rect">
            <a:avLst/>
          </a:prstGeom>
          <a:solidFill>
            <a:srgbClr val="F18870"/>
          </a:solidFill>
          <a:ln w="0">
            <a:solidFill>
              <a:srgbClr val="F18870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76300" y="5162550"/>
            <a:ext cx="6477000" cy="762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F1423"/>
                </a:solidFill>
              </a:defRPr>
            </a:pPr>
            <a:r>
              <a:rPr sz="3000" b="1" i="0">
                <a:solidFill>
                  <a:srgbClr val="0F1423"/>
                </a:solidFill>
              </a:rPr>
              <a:t>当用户缺少前置知识时，系统给出分层补课路径。</a:t>
            </a:r>
            <a:endParaRPr sz="3000" b="1" i="0">
              <a:solidFill>
                <a:srgbClr val="0F1423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76300" y="6153150"/>
            <a:ext cx="611505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 i="0">
                <a:solidFill>
                  <a:srgbClr val="5E6B84"/>
                </a:solidFill>
              </a:defRPr>
            </a:pPr>
            <a:r>
              <a:rPr sz="1425" b="0" i="0">
                <a:solidFill>
                  <a:srgbClr val="5E6B84"/>
                </a:solidFill>
              </a:rPr>
              <a:t>背景补课面向“论文能看见，但前置知识不够”的场景。系统会根据论文主题和用户知识水平生成概念图谱与学习路径，帮助用户先补齐方法、实...</a:t>
            </a:r>
            <a:endParaRPr sz="1425" b="0" i="0">
              <a:solidFill>
                <a:srgbClr val="5E6B84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642033" y="435292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F18870"/>
          </a:solidFill>
          <a:ln w="0">
            <a:solidFill>
              <a:srgbClr val="F18870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648700" y="4419600"/>
            <a:ext cx="285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1</a:t>
            </a:r>
            <a:endParaRPr sz="1125" b="1" i="0">
              <a:solidFill>
                <a:srgbClr val="FFFFFF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067800" y="4362450"/>
            <a:ext cx="8343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按“入门 / 一般 / 进阶”生成前置知识</a:t>
            </a:r>
            <a:endParaRPr sz="1800" b="0" i="0">
              <a:solidFill>
                <a:srgbClr val="182033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642033" y="475297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F18870"/>
          </a:solidFill>
          <a:ln w="0">
            <a:solidFill>
              <a:srgbClr val="F18870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648700" y="4819650"/>
            <a:ext cx="285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2</a:t>
            </a:r>
            <a:endParaRPr sz="1125" b="1" i="0">
              <a:solidFill>
                <a:srgbClr val="FFFFFF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067800" y="4762500"/>
            <a:ext cx="8343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输出概念图谱、学习路径和补课清单</a:t>
            </a:r>
            <a:endParaRPr sz="1800" b="0" i="0">
              <a:solidFill>
                <a:srgbClr val="182033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8642033" y="515302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F18870"/>
          </a:solidFill>
          <a:ln w="0">
            <a:solidFill>
              <a:srgbClr val="F18870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648700" y="5219700"/>
            <a:ext cx="285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3</a:t>
            </a:r>
            <a:endParaRPr sz="1125" b="1" i="0">
              <a:solidFill>
                <a:srgbClr val="FFFFF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067800" y="5162550"/>
            <a:ext cx="8343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学习路径按基础概念、方法前置、实验理解、批判视角组织</a:t>
            </a:r>
            <a:endParaRPr sz="1800" b="0" i="0">
              <a:solidFill>
                <a:srgbClr val="182033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8642033" y="555307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F18870"/>
          </a:solidFill>
          <a:ln w="0">
            <a:solidFill>
              <a:srgbClr val="F18870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648700" y="5619750"/>
            <a:ext cx="285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4</a:t>
            </a:r>
            <a:endParaRPr sz="1125" b="1" i="0">
              <a:solidFill>
                <a:srgbClr val="FFFFFF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067800" y="5562600"/>
            <a:ext cx="8343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每个概念节点尽量绑定本次响应中的 rag_sources</a:t>
            </a:r>
            <a:endParaRPr sz="1800" b="0" i="0">
              <a:solidFill>
                <a:srgbClr val="182033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8642033" y="6067425"/>
            <a:ext cx="8769668" cy="971550"/>
          </a:xfrm>
          <a:prstGeom prst="roundRect">
            <a:avLst>
              <a:gd name="adj" fmla="val 7843"/>
            </a:avLst>
          </a:prstGeom>
          <a:solidFill>
            <a:srgbClr val="F7FAFF"/>
          </a:solidFill>
          <a:ln w="9525">
            <a:solidFill>
              <a:srgbClr val="DCE7F7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877300" y="6248400"/>
            <a:ext cx="83058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F18870"/>
                </a:solidFill>
              </a:defRPr>
            </a:pPr>
            <a:r>
              <a:rPr sz="1350" b="1" i="0">
                <a:solidFill>
                  <a:srgbClr val="F18870"/>
                </a:solidFill>
              </a:rPr>
              <a:t>对应模块</a:t>
            </a:r>
            <a:endParaRPr sz="1350" b="1" i="0">
              <a:solidFill>
                <a:srgbClr val="F18870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877300" y="6496050"/>
            <a:ext cx="83058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5E6B84"/>
                </a:solidFill>
              </a:defRPr>
            </a:pPr>
            <a:r>
              <a:rPr sz="1125" b="0" i="0">
                <a:solidFill>
                  <a:srgbClr val="5E6B84"/>
                </a:solidFill>
              </a:rPr>
              <a:t>前端：frontend/src/components/BackgroundKnowledgePanel.jsx</a:t>
            </a:r>
            <a:endParaRPr sz="1125" b="0" i="0">
              <a:solidFill>
                <a:srgbClr val="5E6B84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877300" y="6724650"/>
            <a:ext cx="83058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5E6B84"/>
                </a:solidFill>
              </a:defRPr>
            </a:pPr>
            <a:r>
              <a:rPr sz="1125" b="0" i="0">
                <a:solidFill>
                  <a:srgbClr val="5E6B84"/>
                </a:solidFill>
              </a:rPr>
              <a:t>Java：POST /api/background-knowledge</a:t>
            </a:r>
            <a:endParaRPr sz="1125" b="0" i="0">
              <a:solidFill>
                <a:srgbClr val="5E6B84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76300" y="9696450"/>
            <a:ext cx="857250" cy="28575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885950" y="9620250"/>
            <a:ext cx="32956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5E6B84"/>
                </a:solidFill>
              </a:defRPr>
            </a:pPr>
            <a:r>
              <a:rPr sz="1125" b="0" i="0">
                <a:solidFill>
                  <a:srgbClr val="5E6B84"/>
                </a:solidFill>
              </a:rPr>
              <a:t>功能初稿：后续可替换为系统截图或演示录屏关键帧</a:t>
            </a:r>
            <a:endParaRPr sz="1125" b="0" i="0">
              <a:solidFill>
                <a:srgbClr val="5E6B84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334000" y="9696450"/>
            <a:ext cx="12096750" cy="9525"/>
          </a:xfrm>
          <a:prstGeom prst="rect">
            <a:avLst/>
          </a:prstGeom>
          <a:solidFill>
            <a:srgbClr val="EEF3FA"/>
          </a:solidFill>
          <a:ln w="0">
            <a:solidFill>
              <a:srgbClr val="EEF3FA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876300" y="514350"/>
            <a:ext cx="16535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6096E6"/>
                </a:solidFill>
              </a:defRPr>
            </a:pPr>
            <a:r>
              <a:rPr sz="1350" b="1" i="0">
                <a:solidFill>
                  <a:srgbClr val="6096E6"/>
                </a:solidFill>
              </a:rPr>
              <a:t>第 10 页 | 引导式学习</a:t>
            </a:r>
            <a:endParaRPr sz="1350" b="1" i="0">
              <a:solidFill>
                <a:srgbClr val="6096E6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876300" y="895350"/>
            <a:ext cx="165354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 i="0">
                <a:solidFill>
                  <a:srgbClr val="0F1423"/>
                </a:solidFill>
              </a:defRPr>
            </a:pPr>
            <a:r>
              <a:rPr sz="4050" b="1" i="0">
                <a:solidFill>
                  <a:srgbClr val="0F1423"/>
                </a:solidFill>
              </a:rPr>
              <a:t>用苏格拉底式提问检查理解</a:t>
            </a:r>
            <a:endParaRPr sz="4050" b="1" i="0">
              <a:solidFill>
                <a:srgbClr val="0F142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76300" y="1714500"/>
            <a:ext cx="1714500" cy="47625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76300" y="4876800"/>
            <a:ext cx="1257300" cy="66675"/>
          </a:xfrm>
          <a:prstGeom prst="rect">
            <a:avLst/>
          </a:prstGeom>
          <a:solidFill>
            <a:srgbClr val="EC5F74"/>
          </a:solidFill>
          <a:ln w="0">
            <a:solidFill>
              <a:srgbClr val="EC5F74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76300" y="5162550"/>
            <a:ext cx="6477000" cy="762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F1423"/>
                </a:solidFill>
              </a:defRPr>
            </a:pPr>
            <a:r>
              <a:rPr sz="3000" b="1" i="0">
                <a:solidFill>
                  <a:srgbClr val="0F1423"/>
                </a:solidFill>
              </a:rPr>
              <a:t>用递进提问促成主动回忆，而不是被动接收摘要。</a:t>
            </a:r>
            <a:endParaRPr sz="3000" b="1" i="0">
              <a:solidFill>
                <a:srgbClr val="0F1423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76300" y="6153150"/>
            <a:ext cx="611505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 i="0">
                <a:solidFill>
                  <a:srgbClr val="5E6B84"/>
                </a:solidFill>
              </a:defRPr>
            </a:pPr>
            <a:r>
              <a:rPr sz="1425" b="0" i="0">
                <a:solidFill>
                  <a:srgbClr val="5E6B84"/>
                </a:solidFill>
              </a:rPr>
              <a:t>引导式学习解决的是“我以为自己看懂了，但其实没有真正掌握”的问题。系统通过固定5轮递进问题，帮助用户围绕论文问题、方法、实验和局...</a:t>
            </a:r>
            <a:endParaRPr sz="1425" b="0" i="0">
              <a:solidFill>
                <a:srgbClr val="5E6B84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642033" y="435292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EC5F74"/>
          </a:solidFill>
          <a:ln w="0">
            <a:solidFill>
              <a:srgbClr val="EC5F74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648700" y="4419600"/>
            <a:ext cx="285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1</a:t>
            </a:r>
            <a:endParaRPr sz="1125" b="1" i="0">
              <a:solidFill>
                <a:srgbClr val="FFFFFF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067800" y="4362450"/>
            <a:ext cx="8343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固定 5 轮问题：研究问题、方法创新、方法逻辑、实验依据、局限改进</a:t>
            </a:r>
            <a:endParaRPr sz="1800" b="0" i="0">
              <a:solidFill>
                <a:srgbClr val="182033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642033" y="475297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EC5F74"/>
          </a:solidFill>
          <a:ln w="0">
            <a:solidFill>
              <a:srgbClr val="EC5F74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648700" y="4819650"/>
            <a:ext cx="285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2</a:t>
            </a:r>
            <a:endParaRPr sz="1125" b="1" i="0">
              <a:solidFill>
                <a:srgbClr val="FFFFFF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067800" y="4762500"/>
            <a:ext cx="8343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根据用户回答给出掌握度、提示和回读建议</a:t>
            </a:r>
            <a:endParaRPr sz="1800" b="0" i="0">
              <a:solidFill>
                <a:srgbClr val="182033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8642033" y="515302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EC5F74"/>
          </a:solidFill>
          <a:ln w="0">
            <a:solidFill>
              <a:srgbClr val="EC5F74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648700" y="5219700"/>
            <a:ext cx="285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3</a:t>
            </a:r>
            <a:endParaRPr sz="1125" b="1" i="0">
              <a:solidFill>
                <a:srgbClr val="FFFFF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067800" y="5162550"/>
            <a:ext cx="8343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优先参考当前论文 RAG 证据</a:t>
            </a:r>
            <a:endParaRPr sz="1800" b="0" i="0">
              <a:solidFill>
                <a:srgbClr val="182033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8642033" y="555307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EC5F74"/>
          </a:solidFill>
          <a:ln w="0">
            <a:solidFill>
              <a:srgbClr val="EC5F74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648700" y="5619750"/>
            <a:ext cx="285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4</a:t>
            </a:r>
            <a:endParaRPr sz="1125" b="1" i="0">
              <a:solidFill>
                <a:srgbClr val="FFFFFF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067800" y="5562600"/>
            <a:ext cx="8343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完成后给出最终总结和建议回读章节</a:t>
            </a:r>
            <a:endParaRPr sz="1800" b="0" i="0">
              <a:solidFill>
                <a:srgbClr val="182033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8642033" y="6067425"/>
            <a:ext cx="8769668" cy="971550"/>
          </a:xfrm>
          <a:prstGeom prst="roundRect">
            <a:avLst>
              <a:gd name="adj" fmla="val 7843"/>
            </a:avLst>
          </a:prstGeom>
          <a:solidFill>
            <a:srgbClr val="F7FAFF"/>
          </a:solidFill>
          <a:ln w="9525">
            <a:solidFill>
              <a:srgbClr val="DCE7F7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877300" y="6248400"/>
            <a:ext cx="83058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EC5F74"/>
                </a:solidFill>
              </a:defRPr>
            </a:pPr>
            <a:r>
              <a:rPr sz="1350" b="1" i="0">
                <a:solidFill>
                  <a:srgbClr val="EC5F74"/>
                </a:solidFill>
              </a:rPr>
              <a:t>对应模块</a:t>
            </a:r>
            <a:endParaRPr sz="1350" b="1" i="0">
              <a:solidFill>
                <a:srgbClr val="EC5F74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877300" y="6496050"/>
            <a:ext cx="83058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5E6B84"/>
                </a:solidFill>
              </a:defRPr>
            </a:pPr>
            <a:r>
              <a:rPr sz="1125" b="0" i="0">
                <a:solidFill>
                  <a:srgbClr val="5E6B84"/>
                </a:solidFill>
              </a:rPr>
              <a:t>前端：frontend/src/components/SocraticQuestionsPanel.jsx</a:t>
            </a:r>
            <a:endParaRPr sz="1125" b="0" i="0">
              <a:solidFill>
                <a:srgbClr val="5E6B84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877300" y="6724650"/>
            <a:ext cx="83058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5E6B84"/>
                </a:solidFill>
              </a:defRPr>
            </a:pPr>
            <a:r>
              <a:rPr sz="1125" b="0" i="0">
                <a:solidFill>
                  <a:srgbClr val="5E6B84"/>
                </a:solidFill>
              </a:rPr>
              <a:t>Java：POST /api/socratic-session/start，POST /api/socratic-session/answer</a:t>
            </a:r>
            <a:endParaRPr sz="1125" b="0" i="0">
              <a:solidFill>
                <a:srgbClr val="5E6B84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76300" y="9696450"/>
            <a:ext cx="857250" cy="28575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885950" y="9620250"/>
            <a:ext cx="32956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5E6B84"/>
                </a:solidFill>
              </a:defRPr>
            </a:pPr>
            <a:r>
              <a:rPr sz="1125" b="0" i="0">
                <a:solidFill>
                  <a:srgbClr val="5E6B84"/>
                </a:solidFill>
              </a:rPr>
              <a:t>功能初稿：后续可替换为系统截图或演示录屏关键帧</a:t>
            </a:r>
            <a:endParaRPr sz="1125" b="0" i="0">
              <a:solidFill>
                <a:srgbClr val="5E6B84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334000" y="9696450"/>
            <a:ext cx="12096750" cy="9525"/>
          </a:xfrm>
          <a:prstGeom prst="rect">
            <a:avLst/>
          </a:prstGeom>
          <a:solidFill>
            <a:srgbClr val="EEF3FA"/>
          </a:solidFill>
          <a:ln w="0">
            <a:solidFill>
              <a:srgbClr val="EEF3FA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876300" y="514350"/>
            <a:ext cx="16535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6096E6"/>
                </a:solidFill>
              </a:defRPr>
            </a:pPr>
            <a:r>
              <a:rPr sz="1350" b="1" i="0">
                <a:solidFill>
                  <a:srgbClr val="6096E6"/>
                </a:solidFill>
              </a:rPr>
              <a:t>第 11 页 | 深度研究</a:t>
            </a:r>
            <a:endParaRPr sz="1350" b="1" i="0">
              <a:solidFill>
                <a:srgbClr val="6096E6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876300" y="895350"/>
            <a:ext cx="165354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 i="0">
                <a:solidFill>
                  <a:srgbClr val="0F1423"/>
                </a:solidFill>
              </a:defRPr>
            </a:pPr>
            <a:r>
              <a:rPr sz="4050" b="1" i="0">
                <a:solidFill>
                  <a:srgbClr val="0F1423"/>
                </a:solidFill>
              </a:rPr>
              <a:t>把开放研究问题拆成可执行任务</a:t>
            </a:r>
            <a:endParaRPr sz="4050" b="1" i="0">
              <a:solidFill>
                <a:srgbClr val="0F142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76300" y="1714500"/>
            <a:ext cx="1714500" cy="47625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76300" y="4876800"/>
            <a:ext cx="1257300" cy="66675"/>
          </a:xfrm>
          <a:prstGeom prst="rect">
            <a:avLst/>
          </a:prstGeom>
          <a:solidFill>
            <a:srgbClr val="315F9D"/>
          </a:solidFill>
          <a:ln w="0">
            <a:solidFill>
              <a:srgbClr val="315F9D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76300" y="5162550"/>
            <a:ext cx="6477000" cy="762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F1423"/>
                </a:solidFill>
              </a:defRPr>
            </a:pPr>
            <a:r>
              <a:rPr sz="3000" b="1" i="0">
                <a:solidFill>
                  <a:srgbClr val="0F1423"/>
                </a:solidFill>
              </a:rPr>
              <a:t>把开放研究问题拆成可轮询、可取消、可汇总的研究任务。</a:t>
            </a:r>
            <a:endParaRPr sz="3000" b="1" i="0">
              <a:solidFill>
                <a:srgbClr val="0F1423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76300" y="6153150"/>
            <a:ext cx="615315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 i="0">
                <a:solidFill>
                  <a:srgbClr val="5E6B84"/>
                </a:solidFill>
              </a:defRPr>
            </a:pPr>
            <a:r>
              <a:rPr sz="1425" b="0" i="0">
                <a:solidFill>
                  <a:srgbClr val="5E6B84"/>
                </a:solidFill>
              </a:rPr>
              <a:t>深度研究面向更开放的论文分析或选题准备场景。它会把用户的问题拆成多个子问题，围绕当前论文和内部文献库检索证据，再综合为结构化fi...</a:t>
            </a:r>
            <a:endParaRPr sz="1425" b="0" i="0">
              <a:solidFill>
                <a:srgbClr val="5E6B84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642033" y="435292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315F9D"/>
          </a:solidFill>
          <a:ln w="0">
            <a:solidFill>
              <a:srgbClr val="315F9D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648700" y="4419600"/>
            <a:ext cx="285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1</a:t>
            </a:r>
            <a:endParaRPr sz="1125" b="1" i="0">
              <a:solidFill>
                <a:srgbClr val="FFFFFF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067800" y="4362450"/>
            <a:ext cx="8343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用户输入研究问题</a:t>
            </a:r>
            <a:endParaRPr sz="1800" b="0" i="0">
              <a:solidFill>
                <a:srgbClr val="182033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642033" y="475297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315F9D"/>
          </a:solidFill>
          <a:ln w="0">
            <a:solidFill>
              <a:srgbClr val="315F9D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648700" y="4819650"/>
            <a:ext cx="285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2</a:t>
            </a:r>
            <a:endParaRPr sz="1125" b="1" i="0">
              <a:solidFill>
                <a:srgbClr val="FFFFFF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067800" y="4762500"/>
            <a:ext cx="8343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系统拆成 3-5 个子问题</a:t>
            </a:r>
            <a:endParaRPr sz="1800" b="0" i="0">
              <a:solidFill>
                <a:srgbClr val="182033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8642033" y="515302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315F9D"/>
          </a:solidFill>
          <a:ln w="0">
            <a:solidFill>
              <a:srgbClr val="315F9D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648700" y="5219700"/>
            <a:ext cx="285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3</a:t>
            </a:r>
            <a:endParaRPr sz="1125" b="1" i="0">
              <a:solidFill>
                <a:srgbClr val="FFFFF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067800" y="5162550"/>
            <a:ext cx="8343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调度当前论文检索、文献库检索、证据判断和报告综合</a:t>
            </a:r>
            <a:endParaRPr sz="1800" b="0" i="0">
              <a:solidFill>
                <a:srgbClr val="182033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8642033" y="555307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315F9D"/>
          </a:solidFill>
          <a:ln w="0">
            <a:solidFill>
              <a:srgbClr val="315F9D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648700" y="5619750"/>
            <a:ext cx="285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4</a:t>
            </a:r>
            <a:endParaRPr sz="1125" b="1" i="0">
              <a:solidFill>
                <a:srgbClr val="FFFFFF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067800" y="5562600"/>
            <a:ext cx="8343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支持任务创建、轮询查看、取消和结构化报告展示</a:t>
            </a:r>
            <a:endParaRPr sz="1800" b="0" i="0">
              <a:solidFill>
                <a:srgbClr val="182033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8642033" y="6067425"/>
            <a:ext cx="8769668" cy="971550"/>
          </a:xfrm>
          <a:prstGeom prst="roundRect">
            <a:avLst>
              <a:gd name="adj" fmla="val 7843"/>
            </a:avLst>
          </a:prstGeom>
          <a:solidFill>
            <a:srgbClr val="F7FAFF"/>
          </a:solidFill>
          <a:ln w="9525">
            <a:solidFill>
              <a:srgbClr val="DCE7F7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877300" y="6248400"/>
            <a:ext cx="83058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315F9D"/>
                </a:solidFill>
              </a:defRPr>
            </a:pPr>
            <a:r>
              <a:rPr sz="1350" b="1" i="0">
                <a:solidFill>
                  <a:srgbClr val="315F9D"/>
                </a:solidFill>
              </a:rPr>
              <a:t>对应模块</a:t>
            </a:r>
            <a:endParaRPr sz="1350" b="1" i="0">
              <a:solidFill>
                <a:srgbClr val="315F9D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877300" y="6496050"/>
            <a:ext cx="83058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5E6B84"/>
                </a:solidFill>
              </a:defRPr>
            </a:pPr>
            <a:r>
              <a:rPr sz="1125" b="0" i="0">
                <a:solidFill>
                  <a:srgbClr val="5E6B84"/>
                </a:solidFill>
              </a:rPr>
              <a:t>前端：frontend/src/components/DeepResearchPanel.jsx</a:t>
            </a:r>
            <a:endParaRPr sz="1125" b="0" i="0">
              <a:solidFill>
                <a:srgbClr val="5E6B84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877300" y="6724650"/>
            <a:ext cx="83058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5E6B84"/>
                </a:solidFill>
              </a:defRPr>
            </a:pPr>
            <a:r>
              <a:rPr sz="1125" b="0" i="0">
                <a:solidFill>
                  <a:srgbClr val="5E6B84"/>
                </a:solidFill>
              </a:rPr>
              <a:t>Java：POST /api/research-tasks</a:t>
            </a:r>
            <a:endParaRPr sz="1125" b="0" i="0">
              <a:solidFill>
                <a:srgbClr val="5E6B84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76300" y="9696450"/>
            <a:ext cx="857250" cy="28575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885950" y="9620250"/>
            <a:ext cx="32956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5E6B84"/>
                </a:solidFill>
              </a:defRPr>
            </a:pPr>
            <a:r>
              <a:rPr sz="1125" b="0" i="0">
                <a:solidFill>
                  <a:srgbClr val="5E6B84"/>
                </a:solidFill>
              </a:rPr>
              <a:t>功能初稿：后续可替换为系统截图或演示录屏关键帧</a:t>
            </a:r>
            <a:endParaRPr sz="1125" b="0" i="0">
              <a:solidFill>
                <a:srgbClr val="5E6B84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334000" y="9696450"/>
            <a:ext cx="12096750" cy="9525"/>
          </a:xfrm>
          <a:prstGeom prst="rect">
            <a:avLst/>
          </a:prstGeom>
          <a:solidFill>
            <a:srgbClr val="EEF3FA"/>
          </a:solidFill>
          <a:ln w="0">
            <a:solidFill>
              <a:srgbClr val="EEF3FA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876300" y="514350"/>
            <a:ext cx="16535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6096E6"/>
                </a:solidFill>
              </a:defRPr>
            </a:pPr>
            <a:r>
              <a:rPr sz="1350" b="1" i="0">
                <a:solidFill>
                  <a:srgbClr val="6096E6"/>
                </a:solidFill>
              </a:rPr>
              <a:t>第 12 页 | 安全边界与工程可靠性</a:t>
            </a:r>
            <a:endParaRPr sz="1350" b="1" i="0">
              <a:solidFill>
                <a:srgbClr val="6096E6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876300" y="895350"/>
            <a:ext cx="165354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 i="0">
                <a:solidFill>
                  <a:srgbClr val="0F1423"/>
                </a:solidFill>
              </a:defRPr>
            </a:pPr>
            <a:r>
              <a:rPr sz="4050" b="1" i="0">
                <a:solidFill>
                  <a:srgbClr val="0F1423"/>
                </a:solidFill>
              </a:rPr>
              <a:t>不可信论文内容下的安全设计</a:t>
            </a:r>
            <a:endParaRPr sz="4050" b="1" i="0">
              <a:solidFill>
                <a:srgbClr val="0F142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76300" y="1714500"/>
            <a:ext cx="1714500" cy="47625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76300" y="4876800"/>
            <a:ext cx="1257300" cy="66675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76300" y="5162550"/>
            <a:ext cx="6477000" cy="762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F1423"/>
                </a:solidFill>
              </a:defRPr>
            </a:pPr>
            <a:r>
              <a:rPr sz="3000" b="1" i="0">
                <a:solidFill>
                  <a:srgbClr val="0F1423"/>
                </a:solidFill>
              </a:rPr>
              <a:t>论文文本只作为资料进入系统，不允许成为系统指令。</a:t>
            </a:r>
            <a:endParaRPr sz="3000" b="1" i="0">
              <a:solidFill>
                <a:srgbClr val="0F1423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76300" y="6153150"/>
            <a:ext cx="611505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 i="0">
                <a:solidFill>
                  <a:srgbClr val="5E6B84"/>
                </a:solidFill>
              </a:defRPr>
            </a:pPr>
            <a:r>
              <a:rPr sz="1425" b="0" i="0">
                <a:solidFill>
                  <a:srgbClr val="5E6B84"/>
                </a:solidFill>
              </a:rPr>
              <a:t>AI论文阅读工具会直接接触用户上传论文，而论文文本本身可能包含干扰模型的内容。因此项目在中期阶段已经开始建立安全边界：论文只作为...</a:t>
            </a:r>
            <a:endParaRPr sz="1425" b="0" i="0">
              <a:solidFill>
                <a:srgbClr val="5E6B84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642033" y="42672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648700" y="4343400"/>
            <a:ext cx="285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1</a:t>
            </a:r>
            <a:endParaRPr sz="1125" b="1" i="0">
              <a:solidFill>
                <a:srgbClr val="FFFFFF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067800" y="4267200"/>
            <a:ext cx="8343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论文正文、页面上下文、RAG 片段统一视为不可信输入</a:t>
            </a:r>
            <a:endParaRPr sz="1800" b="0" i="0">
              <a:solidFill>
                <a:srgbClr val="182033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642033" y="46672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648700" y="4743450"/>
            <a:ext cx="285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2</a:t>
            </a:r>
            <a:endParaRPr sz="1125" b="1" i="0">
              <a:solidFill>
                <a:srgbClr val="FFFFFF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067800" y="4667250"/>
            <a:ext cx="8343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对“忽略之前指令”“泄露 API Key”“执行命令”“联网搜索”等注入内容进行检测和包装</a:t>
            </a:r>
            <a:endParaRPr sz="1800" b="0" i="0">
              <a:solidFill>
                <a:srgbClr val="182033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8642033" y="50673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648700" y="5143500"/>
            <a:ext cx="285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3</a:t>
            </a:r>
            <a:endParaRPr sz="1125" b="1" i="0">
              <a:solidFill>
                <a:srgbClr val="FFFFF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067800" y="5067300"/>
            <a:ext cx="8343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Deep research 限制为当前论文和内部文献库，不自动扩展外部 Web 搜索</a:t>
            </a:r>
            <a:endParaRPr sz="1800" b="0" i="0">
              <a:solidFill>
                <a:srgbClr val="182033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8642033" y="54673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648700" y="5543550"/>
            <a:ext cx="285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4</a:t>
            </a:r>
            <a:endParaRPr sz="1125" b="1" i="0">
              <a:solidFill>
                <a:srgbClr val="FFFFFF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067800" y="5467350"/>
            <a:ext cx="83439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Trace 只记录阶段状态、耗时、检索次数和截断摘要，不记录 API Key、完整 prompt 或完整论文全文</a:t>
            </a:r>
            <a:endParaRPr sz="1800" b="0" i="0">
              <a:solidFill>
                <a:srgbClr val="182033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8642033" y="6153150"/>
            <a:ext cx="8769668" cy="971550"/>
          </a:xfrm>
          <a:prstGeom prst="roundRect">
            <a:avLst>
              <a:gd name="adj" fmla="val 7843"/>
            </a:avLst>
          </a:prstGeom>
          <a:solidFill>
            <a:srgbClr val="F7FAFF"/>
          </a:solidFill>
          <a:ln w="9525">
            <a:solidFill>
              <a:srgbClr val="DCE7F7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877300" y="6324600"/>
            <a:ext cx="83058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6096E6"/>
                </a:solidFill>
              </a:defRPr>
            </a:pPr>
            <a:r>
              <a:rPr sz="1350" b="1" i="0">
                <a:solidFill>
                  <a:srgbClr val="6096E6"/>
                </a:solidFill>
              </a:rPr>
              <a:t>对应模块</a:t>
            </a:r>
            <a:endParaRPr sz="1350" b="1" i="0">
              <a:solidFill>
                <a:srgbClr val="6096E6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877300" y="6591300"/>
            <a:ext cx="83058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5E6B84"/>
                </a:solidFill>
              </a:defRPr>
            </a:pPr>
            <a:r>
              <a:rPr sz="1125" b="0" i="0">
                <a:solidFill>
                  <a:srgbClr val="5E6B84"/>
                </a:solidFill>
              </a:rPr>
              <a:t>Python：ai-service-python/services/safety_service.py</a:t>
            </a:r>
            <a:endParaRPr sz="1125" b="0" i="0">
              <a:solidFill>
                <a:srgbClr val="5E6B84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877300" y="6819900"/>
            <a:ext cx="83058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5E6B84"/>
                </a:solidFill>
              </a:defRPr>
            </a:pPr>
            <a:r>
              <a:rPr sz="1125" b="0" i="0">
                <a:solidFill>
                  <a:srgbClr val="5E6B84"/>
                </a:solidFill>
              </a:rPr>
              <a:t>Python：ai-service-python/services/trace_service.py</a:t>
            </a:r>
            <a:endParaRPr sz="1125" b="0" i="0">
              <a:solidFill>
                <a:srgbClr val="5E6B84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76300" y="9696450"/>
            <a:ext cx="857250" cy="28575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885950" y="9620250"/>
            <a:ext cx="32956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5E6B84"/>
                </a:solidFill>
              </a:defRPr>
            </a:pPr>
            <a:r>
              <a:rPr sz="1125" b="0" i="0">
                <a:solidFill>
                  <a:srgbClr val="5E6B84"/>
                </a:solidFill>
              </a:rPr>
              <a:t>功能初稿：后续可替换为系统截图或演示录屏关键帧</a:t>
            </a:r>
            <a:endParaRPr sz="1125" b="0" i="0">
              <a:solidFill>
                <a:srgbClr val="5E6B84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334000" y="9696450"/>
            <a:ext cx="12096750" cy="9525"/>
          </a:xfrm>
          <a:prstGeom prst="rect">
            <a:avLst/>
          </a:prstGeom>
          <a:solidFill>
            <a:srgbClr val="EEF3FA"/>
          </a:solidFill>
          <a:ln w="0">
            <a:solidFill>
              <a:srgbClr val="EEF3FA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876300" y="571500"/>
            <a:ext cx="16535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6096E6"/>
                </a:solidFill>
              </a:defRPr>
            </a:pPr>
            <a:r>
              <a:rPr sz="1350" b="1" i="0">
                <a:solidFill>
                  <a:srgbClr val="6096E6"/>
                </a:solidFill>
              </a:rPr>
              <a:t>第 13 页 | 中期成果总结</a:t>
            </a:r>
            <a:endParaRPr sz="1350" b="1" i="0">
              <a:solidFill>
                <a:srgbClr val="6096E6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876300" y="952500"/>
            <a:ext cx="165354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 i="0">
                <a:solidFill>
                  <a:srgbClr val="0F1423"/>
                </a:solidFill>
              </a:defRPr>
            </a:pPr>
            <a:r>
              <a:rPr sz="4050" b="1" i="0">
                <a:solidFill>
                  <a:srgbClr val="0F1423"/>
                </a:solidFill>
              </a:rPr>
              <a:t>当前完成情况</a:t>
            </a:r>
            <a:endParaRPr sz="4050" b="1" i="0">
              <a:solidFill>
                <a:srgbClr val="0F142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76300" y="1771650"/>
            <a:ext cx="54864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 i="0">
                <a:solidFill>
                  <a:srgbClr val="5E6B84"/>
                </a:solidFill>
              </a:defRPr>
            </a:pPr>
            <a:r>
              <a:rPr sz="1725" b="0" i="0">
                <a:solidFill>
                  <a:srgbClr val="5E6B84"/>
                </a:solidFill>
              </a:rPr>
              <a:t>中期阶段已经形成可运行、可演示、可说明的项目闭环。</a:t>
            </a:r>
            <a:endParaRPr sz="1725" b="0" i="0">
              <a:solidFill>
                <a:srgbClr val="5E6B84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76300" y="2838450"/>
            <a:ext cx="4191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 i="0">
                <a:solidFill>
                  <a:srgbClr val="6096E6"/>
                </a:solidFill>
              </a:defRPr>
            </a:pPr>
            <a:r>
              <a:rPr sz="2100" b="1" i="0">
                <a:solidFill>
                  <a:srgbClr val="6096E6"/>
                </a:solidFill>
              </a:rPr>
              <a:t>✓</a:t>
            </a:r>
            <a:endParaRPr sz="2100" b="1" i="0">
              <a:solidFill>
                <a:srgbClr val="6096E6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447800" y="2857500"/>
            <a:ext cx="43053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0F1423"/>
                </a:solidFill>
              </a:defRPr>
            </a:pPr>
            <a:r>
              <a:rPr sz="1650" b="1" i="0">
                <a:solidFill>
                  <a:srgbClr val="0F1423"/>
                </a:solidFill>
              </a:rPr>
              <a:t>三层架构搭建</a:t>
            </a:r>
            <a:endParaRPr sz="1650" b="1" i="0">
              <a:solidFill>
                <a:srgbClr val="0F1423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00750" y="2838450"/>
            <a:ext cx="4191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 i="0">
                <a:solidFill>
                  <a:srgbClr val="56CA95"/>
                </a:solidFill>
              </a:defRPr>
            </a:pPr>
            <a:r>
              <a:rPr sz="2100" b="1" i="0">
                <a:solidFill>
                  <a:srgbClr val="56CA95"/>
                </a:solidFill>
              </a:rPr>
              <a:t>✓</a:t>
            </a:r>
            <a:endParaRPr sz="2100" b="1" i="0">
              <a:solidFill>
                <a:srgbClr val="56CA95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72250" y="2857500"/>
            <a:ext cx="43053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0F1423"/>
                </a:solidFill>
              </a:defRPr>
            </a:pPr>
            <a:r>
              <a:rPr sz="1650" b="1" i="0">
                <a:solidFill>
                  <a:srgbClr val="0F1423"/>
                </a:solidFill>
              </a:rPr>
              <a:t>PDF 上传、预览、解析</a:t>
            </a:r>
            <a:endParaRPr sz="1650" b="1" i="0">
              <a:solidFill>
                <a:srgbClr val="0F1423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76300" y="4533900"/>
            <a:ext cx="4191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 i="0">
                <a:solidFill>
                  <a:srgbClr val="FFBA55"/>
                </a:solidFill>
              </a:defRPr>
            </a:pPr>
            <a:r>
              <a:rPr sz="2100" b="1" i="0">
                <a:solidFill>
                  <a:srgbClr val="FFBA55"/>
                </a:solidFill>
              </a:rPr>
              <a:t>✓</a:t>
            </a:r>
            <a:endParaRPr sz="2100" b="1" i="0">
              <a:solidFill>
                <a:srgbClr val="FFBA55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447800" y="4552950"/>
            <a:ext cx="43053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0F1423"/>
                </a:solidFill>
              </a:defRPr>
            </a:pPr>
            <a:r>
              <a:rPr sz="1650" b="1" i="0">
                <a:solidFill>
                  <a:srgbClr val="0F1423"/>
                </a:solidFill>
              </a:rPr>
              <a:t>RAG 问答与术语解释</a:t>
            </a:r>
            <a:endParaRPr sz="1650" b="1" i="0">
              <a:solidFill>
                <a:srgbClr val="0F1423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000750" y="4533900"/>
            <a:ext cx="4191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 i="0">
                <a:solidFill>
                  <a:srgbClr val="F18870"/>
                </a:solidFill>
              </a:defRPr>
            </a:pPr>
            <a:r>
              <a:rPr sz="2100" b="1" i="0">
                <a:solidFill>
                  <a:srgbClr val="F18870"/>
                </a:solidFill>
              </a:rPr>
              <a:t>✓</a:t>
            </a:r>
            <a:endParaRPr sz="2100" b="1" i="0">
              <a:solidFill>
                <a:srgbClr val="F18870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572250" y="4552950"/>
            <a:ext cx="43053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0F1423"/>
                </a:solidFill>
              </a:defRPr>
            </a:pPr>
            <a:r>
              <a:rPr sz="1650" b="1" i="0">
                <a:solidFill>
                  <a:srgbClr val="0F1423"/>
                </a:solidFill>
              </a:rPr>
              <a:t>逐页翻译与缓存</a:t>
            </a:r>
            <a:endParaRPr sz="1650" b="1" i="0">
              <a:solidFill>
                <a:srgbClr val="0F1423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76300" y="6229350"/>
            <a:ext cx="4191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 i="0">
                <a:solidFill>
                  <a:srgbClr val="6096E6"/>
                </a:solidFill>
              </a:defRPr>
            </a:pPr>
            <a:r>
              <a:rPr sz="2100" b="1" i="0">
                <a:solidFill>
                  <a:srgbClr val="6096E6"/>
                </a:solidFill>
              </a:rPr>
              <a:t>✓</a:t>
            </a:r>
            <a:endParaRPr sz="2100" b="1" i="0">
              <a:solidFill>
                <a:srgbClr val="6096E6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447800" y="6248400"/>
            <a:ext cx="43053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0F1423"/>
                </a:solidFill>
              </a:defRPr>
            </a:pPr>
            <a:r>
              <a:rPr sz="1650" b="1" i="0">
                <a:solidFill>
                  <a:srgbClr val="0F1423"/>
                </a:solidFill>
              </a:rPr>
              <a:t>批判阅读、背景补课、引导式学习</a:t>
            </a:r>
            <a:endParaRPr sz="1650" b="1" i="0">
              <a:solidFill>
                <a:srgbClr val="0F1423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000750" y="6229350"/>
            <a:ext cx="4191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 i="0">
                <a:solidFill>
                  <a:srgbClr val="56CA95"/>
                </a:solidFill>
              </a:defRPr>
            </a:pPr>
            <a:r>
              <a:rPr sz="2100" b="1" i="0">
                <a:solidFill>
                  <a:srgbClr val="56CA95"/>
                </a:solidFill>
              </a:rPr>
              <a:t>✓</a:t>
            </a:r>
            <a:endParaRPr sz="2100" b="1" i="0">
              <a:solidFill>
                <a:srgbClr val="56CA95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572250" y="6248400"/>
            <a:ext cx="43053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0F1423"/>
                </a:solidFill>
              </a:defRPr>
            </a:pPr>
            <a:r>
              <a:rPr sz="1650" b="1" i="0">
                <a:solidFill>
                  <a:srgbClr val="0F1423"/>
                </a:solidFill>
              </a:rPr>
              <a:t>深度研究任务闭环</a:t>
            </a:r>
            <a:endParaRPr sz="1650" b="1" i="0">
              <a:solidFill>
                <a:srgbClr val="0F1423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76300" y="7924800"/>
            <a:ext cx="4191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 i="0">
                <a:solidFill>
                  <a:srgbClr val="FFBA55"/>
                </a:solidFill>
              </a:defRPr>
            </a:pPr>
            <a:r>
              <a:rPr sz="2100" b="1" i="0">
                <a:solidFill>
                  <a:srgbClr val="FFBA55"/>
                </a:solidFill>
              </a:rPr>
              <a:t>✓</a:t>
            </a:r>
            <a:endParaRPr sz="2100" b="1" i="0">
              <a:solidFill>
                <a:srgbClr val="FFBA55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447800" y="7943850"/>
            <a:ext cx="43053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0F1423"/>
                </a:solidFill>
              </a:defRPr>
            </a:pPr>
            <a:r>
              <a:rPr sz="1650" b="1" i="0">
                <a:solidFill>
                  <a:srgbClr val="0F1423"/>
                </a:solidFill>
              </a:rPr>
              <a:t>安全防护与 trace 观测</a:t>
            </a:r>
            <a:endParaRPr sz="1650" b="1" i="0">
              <a:solidFill>
                <a:srgbClr val="0F1423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000750" y="7924800"/>
            <a:ext cx="4191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 i="0">
                <a:solidFill>
                  <a:srgbClr val="F18870"/>
                </a:solidFill>
              </a:defRPr>
            </a:pPr>
            <a:r>
              <a:rPr sz="2100" b="1" i="0">
                <a:solidFill>
                  <a:srgbClr val="F18870"/>
                </a:solidFill>
              </a:rPr>
              <a:t>✓</a:t>
            </a:r>
            <a:endParaRPr sz="2100" b="1" i="0">
              <a:solidFill>
                <a:srgbClr val="F18870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572250" y="7943850"/>
            <a:ext cx="43053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0F1423"/>
                </a:solidFill>
              </a:defRPr>
            </a:pPr>
            <a:r>
              <a:rPr sz="1650" b="1" i="0">
                <a:solidFill>
                  <a:srgbClr val="0F1423"/>
                </a:solidFill>
              </a:rPr>
              <a:t>Docker Compose 与文档整理</a:t>
            </a:r>
            <a:endParaRPr sz="1650" b="1" i="0">
              <a:solidFill>
                <a:srgbClr val="0F1423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1410950" y="4457700"/>
            <a:ext cx="60007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 i="0">
                <a:solidFill>
                  <a:srgbClr val="0F1423"/>
                </a:solidFill>
              </a:defRPr>
            </a:pPr>
            <a:r>
              <a:rPr sz="2550" b="1" i="0">
                <a:solidFill>
                  <a:srgbClr val="0F1423"/>
                </a:solidFill>
              </a:rPr>
              <a:t>已形成材料</a:t>
            </a:r>
            <a:endParaRPr sz="2550" b="1" i="0">
              <a:solidFill>
                <a:srgbClr val="0F1423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1410950" y="5010150"/>
            <a:ext cx="1219200" cy="57150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1410950" y="5295900"/>
            <a:ext cx="60007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5E6B84"/>
                </a:solidFill>
              </a:defRPr>
            </a:pPr>
            <a:r>
              <a:rPr sz="1875" b="0" i="0">
                <a:solidFill>
                  <a:srgbClr val="5E6B84"/>
                </a:solidFill>
              </a:rPr>
              <a:t>计划书草稿</a:t>
            </a:r>
            <a:endParaRPr sz="1875" b="0" i="0">
              <a:solidFill>
                <a:srgbClr val="5E6B84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1410950" y="5772150"/>
            <a:ext cx="60007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5E6B84"/>
                </a:solidFill>
              </a:defRPr>
            </a:pPr>
            <a:r>
              <a:rPr sz="1875" b="0" i="0">
                <a:solidFill>
                  <a:srgbClr val="5E6B84"/>
                </a:solidFill>
              </a:rPr>
              <a:t>周进展报告</a:t>
            </a:r>
            <a:endParaRPr sz="1875" b="0" i="0">
              <a:solidFill>
                <a:srgbClr val="5E6B84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410950" y="6229350"/>
            <a:ext cx="60007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5E6B84"/>
                </a:solidFill>
              </a:defRPr>
            </a:pPr>
            <a:r>
              <a:rPr sz="1875" b="0" i="0">
                <a:solidFill>
                  <a:srgbClr val="5E6B84"/>
                </a:solidFill>
              </a:rPr>
              <a:t>中期检查表</a:t>
            </a:r>
            <a:endParaRPr sz="1875" b="0" i="0">
              <a:solidFill>
                <a:srgbClr val="5E6B84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1410950" y="6705600"/>
            <a:ext cx="60007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5E6B84"/>
                </a:solidFill>
              </a:defRPr>
            </a:pPr>
            <a:r>
              <a:rPr sz="1875" b="0" i="0">
                <a:solidFill>
                  <a:srgbClr val="5E6B84"/>
                </a:solidFill>
              </a:rPr>
              <a:t>开发约束文档</a:t>
            </a:r>
            <a:endParaRPr sz="1875" b="0" i="0">
              <a:solidFill>
                <a:srgbClr val="5E6B84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1410950" y="7162800"/>
            <a:ext cx="60007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5E6B84"/>
                </a:solidFill>
              </a:defRPr>
            </a:pPr>
            <a:r>
              <a:rPr sz="1875" b="0" i="0">
                <a:solidFill>
                  <a:srgbClr val="5E6B84"/>
                </a:solidFill>
              </a:rPr>
              <a:t>MCP 适配预研</a:t>
            </a:r>
            <a:endParaRPr sz="1875" b="0" i="0">
              <a:solidFill>
                <a:srgbClr val="5E6B84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76300" y="9639300"/>
            <a:ext cx="857250" cy="28575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1885950" y="9563100"/>
            <a:ext cx="44386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5E6B84"/>
                </a:solidFill>
              </a:defRPr>
            </a:pPr>
            <a:r>
              <a:rPr sz="1125" b="0" i="0">
                <a:solidFill>
                  <a:srgbClr val="5E6B84"/>
                </a:solidFill>
              </a:rPr>
              <a:t>答辩重点：展示从上传论文到阅读、问答、分析、研究拆解的完整流程</a:t>
            </a:r>
            <a:endParaRPr sz="1125" b="0" i="0">
              <a:solidFill>
                <a:srgbClr val="5E6B84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477000" y="9639300"/>
            <a:ext cx="10953750" cy="9525"/>
          </a:xfrm>
          <a:prstGeom prst="rect">
            <a:avLst/>
          </a:prstGeom>
          <a:solidFill>
            <a:srgbClr val="EEF3FA"/>
          </a:solidFill>
          <a:ln w="0">
            <a:solidFill>
              <a:srgbClr val="EEF3FA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876300" y="571500"/>
            <a:ext cx="16535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6096E6"/>
                </a:solidFill>
              </a:defRPr>
            </a:pPr>
            <a:r>
              <a:rPr sz="1350" b="1" i="0">
                <a:solidFill>
                  <a:srgbClr val="6096E6"/>
                </a:solidFill>
              </a:rPr>
              <a:t>第 14 页 | 存在问题与后续计划</a:t>
            </a:r>
            <a:endParaRPr sz="1350" b="1" i="0">
              <a:solidFill>
                <a:srgbClr val="6096E6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876300" y="952500"/>
            <a:ext cx="165354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 i="0">
                <a:solidFill>
                  <a:srgbClr val="0F1423"/>
                </a:solidFill>
              </a:defRPr>
            </a:pPr>
            <a:r>
              <a:rPr sz="4050" b="1" i="0">
                <a:solidFill>
                  <a:srgbClr val="0F1423"/>
                </a:solidFill>
              </a:rPr>
              <a:t>下一阶段工作</a:t>
            </a:r>
            <a:endParaRPr sz="4050" b="1" i="0">
              <a:solidFill>
                <a:srgbClr val="0F142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76300" y="1771650"/>
            <a:ext cx="67246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 i="0">
                <a:solidFill>
                  <a:srgbClr val="5E6B84"/>
                </a:solidFill>
              </a:defRPr>
            </a:pPr>
            <a:r>
              <a:rPr sz="1725" b="0" i="0">
                <a:solidFill>
                  <a:srgbClr val="5E6B84"/>
                </a:solidFill>
              </a:rPr>
              <a:t>下一阶段重点从“功能可用”推进到“稳定可信、体验顺畅、材料完整”。</a:t>
            </a:r>
            <a:endParaRPr sz="1725" b="0" i="0">
              <a:solidFill>
                <a:srgbClr val="5E6B84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76300" y="2609850"/>
            <a:ext cx="76771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 i="0">
                <a:solidFill>
                  <a:srgbClr val="F18870"/>
                </a:solidFill>
              </a:defRPr>
            </a:pPr>
            <a:r>
              <a:rPr sz="2550" b="1" i="0">
                <a:solidFill>
                  <a:srgbClr val="F18870"/>
                </a:solidFill>
              </a:rPr>
              <a:t>当前问题</a:t>
            </a:r>
            <a:endParaRPr sz="2550" b="1" i="0">
              <a:solidFill>
                <a:srgbClr val="F18870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76300" y="31432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F18870"/>
          </a:solidFill>
          <a:ln w="0">
            <a:solidFill>
              <a:srgbClr val="F18870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76300" y="3219450"/>
            <a:ext cx="285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1</a:t>
            </a:r>
            <a:endParaRPr sz="1125" b="1" i="0">
              <a:solidFill>
                <a:srgbClr val="FFFFFF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295400" y="3143250"/>
            <a:ext cx="72580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 i="0">
                <a:solidFill>
                  <a:srgbClr val="182033"/>
                </a:solidFill>
              </a:defRPr>
            </a:pPr>
            <a:r>
              <a:rPr sz="1725" b="0" i="0">
                <a:solidFill>
                  <a:srgbClr val="182033"/>
                </a:solidFill>
              </a:rPr>
              <a:t>PDF 解析仍受论文版式影响，复杂公式、表格、多栏排版需要继续优化</a:t>
            </a:r>
            <a:endParaRPr sz="1725" b="0" i="0">
              <a:solidFill>
                <a:srgbClr val="182033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876300" y="355282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F18870"/>
          </a:solidFill>
          <a:ln w="0">
            <a:solidFill>
              <a:srgbClr val="F18870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76300" y="3619500"/>
            <a:ext cx="285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2</a:t>
            </a:r>
            <a:endParaRPr sz="1125" b="1" i="0">
              <a:solidFill>
                <a:srgbClr val="FFFFFF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295400" y="3562350"/>
            <a:ext cx="72580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 i="0">
                <a:solidFill>
                  <a:srgbClr val="182033"/>
                </a:solidFill>
              </a:defRPr>
            </a:pPr>
            <a:r>
              <a:rPr sz="1725" b="0" i="0">
                <a:solidFill>
                  <a:srgbClr val="182033"/>
                </a:solidFill>
              </a:rPr>
              <a:t>RAG 来源片段与回答之间的绑定还需要更稳定地展示给用户</a:t>
            </a:r>
            <a:endParaRPr sz="1725" b="0" i="0">
              <a:solidFill>
                <a:srgbClr val="182033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876300" y="39624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F18870"/>
          </a:solidFill>
          <a:ln w="0">
            <a:solidFill>
              <a:srgbClr val="F18870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76300" y="4038600"/>
            <a:ext cx="285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3</a:t>
            </a:r>
            <a:endParaRPr sz="1125" b="1" i="0">
              <a:solidFill>
                <a:srgbClr val="FFFFFF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295400" y="3962400"/>
            <a:ext cx="725805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 i="0">
                <a:solidFill>
                  <a:srgbClr val="182033"/>
                </a:solidFill>
              </a:defRPr>
            </a:pPr>
            <a:r>
              <a:rPr sz="1725" b="0" i="0">
                <a:solidFill>
                  <a:srgbClr val="182033"/>
                </a:solidFill>
              </a:rPr>
              <a:t>深度研究任务状态目前主要保存在 Python 进程内存中，服务重启后不可恢复</a:t>
            </a:r>
            <a:endParaRPr sz="1725" b="0" i="0">
              <a:solidFill>
                <a:srgbClr val="182033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876300" y="452437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F18870"/>
          </a:solidFill>
          <a:ln w="0">
            <a:solidFill>
              <a:srgbClr val="F18870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76300" y="4591050"/>
            <a:ext cx="285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4</a:t>
            </a:r>
            <a:endParaRPr sz="1125" b="1" i="0">
              <a:solidFill>
                <a:srgbClr val="FFFFFF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295400" y="4533900"/>
            <a:ext cx="72580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 i="0">
                <a:solidFill>
                  <a:srgbClr val="182033"/>
                </a:solidFill>
              </a:defRPr>
            </a:pPr>
            <a:r>
              <a:rPr sz="1725" b="0" i="0">
                <a:solidFill>
                  <a:srgbClr val="182033"/>
                </a:solidFill>
              </a:rPr>
              <a:t>前端多个功能面板已成型，但跨面板协同体验仍需打磨</a:t>
            </a:r>
            <a:endParaRPr sz="1725" b="0" i="0">
              <a:solidFill>
                <a:srgbClr val="182033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876300" y="49339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F18870"/>
          </a:solidFill>
          <a:ln w="0">
            <a:solidFill>
              <a:srgbClr val="F18870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76300" y="5010150"/>
            <a:ext cx="285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5</a:t>
            </a:r>
            <a:endParaRPr sz="1125" b="1" i="0">
              <a:solidFill>
                <a:srgbClr val="FFFFFF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295400" y="4933950"/>
            <a:ext cx="72580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 i="0">
                <a:solidFill>
                  <a:srgbClr val="182033"/>
                </a:solidFill>
              </a:defRPr>
            </a:pPr>
            <a:r>
              <a:rPr sz="1725" b="0" i="0">
                <a:solidFill>
                  <a:srgbClr val="182033"/>
                </a:solidFill>
              </a:rPr>
              <a:t>测试覆盖需要继续补充，特别是跨服务联调和长任务稳定性测试</a:t>
            </a:r>
            <a:endParaRPr sz="1725" b="0" i="0">
              <a:solidFill>
                <a:srgbClr val="182033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124950" y="2609850"/>
            <a:ext cx="82867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 i="0">
                <a:solidFill>
                  <a:srgbClr val="6096E6"/>
                </a:solidFill>
              </a:defRPr>
            </a:pPr>
            <a:r>
              <a:rPr sz="2550" b="1" i="0">
                <a:solidFill>
                  <a:srgbClr val="6096E6"/>
                </a:solidFill>
              </a:rPr>
              <a:t>后续计划</a:t>
            </a:r>
            <a:endParaRPr sz="2550" b="1" i="0">
              <a:solidFill>
                <a:srgbClr val="6096E6"/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9122752" y="31432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124950" y="3219450"/>
            <a:ext cx="285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1</a:t>
            </a:r>
            <a:endParaRPr sz="1125" b="1" i="0">
              <a:solidFill>
                <a:srgbClr val="FFFFFF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9544050" y="3143250"/>
            <a:ext cx="78676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 i="0">
                <a:solidFill>
                  <a:srgbClr val="182033"/>
                </a:solidFill>
              </a:defRPr>
            </a:pPr>
            <a:r>
              <a:rPr sz="1725" b="0" i="0">
                <a:solidFill>
                  <a:srgbClr val="182033"/>
                </a:solidFill>
              </a:rPr>
              <a:t>优化 GROBID 解析后的文本清洗、分块和版面过滤</a:t>
            </a:r>
            <a:endParaRPr sz="1725" b="0" i="0">
              <a:solidFill>
                <a:srgbClr val="182033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9122752" y="355282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9124950" y="3619500"/>
            <a:ext cx="285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2</a:t>
            </a:r>
            <a:endParaRPr sz="1125" b="1" i="0">
              <a:solidFill>
                <a:srgbClr val="FFFFFF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544050" y="3562350"/>
            <a:ext cx="78676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 i="0">
                <a:solidFill>
                  <a:srgbClr val="182033"/>
                </a:solidFill>
              </a:defRPr>
            </a:pPr>
            <a:r>
              <a:rPr sz="1725" b="0" i="0">
                <a:solidFill>
                  <a:srgbClr val="182033"/>
                </a:solidFill>
              </a:rPr>
              <a:t>强化证据引用、证据质量判断和回答可追溯性</a:t>
            </a:r>
            <a:endParaRPr sz="1725" b="0" i="0">
              <a:solidFill>
                <a:srgbClr val="182033"/>
              </a:solidFill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9122752" y="39624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9124950" y="4038600"/>
            <a:ext cx="285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3</a:t>
            </a:r>
            <a:endParaRPr sz="1125" b="1" i="0">
              <a:solidFill>
                <a:srgbClr val="FFFFFF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9544050" y="3962400"/>
            <a:ext cx="78676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 i="0">
                <a:solidFill>
                  <a:srgbClr val="182033"/>
                </a:solidFill>
              </a:defRPr>
            </a:pPr>
            <a:r>
              <a:rPr sz="1725" b="0" i="0">
                <a:solidFill>
                  <a:srgbClr val="182033"/>
                </a:solidFill>
              </a:rPr>
              <a:t>完善提示注入防护、上下文裁剪和 trace 脱敏策略</a:t>
            </a:r>
            <a:endParaRPr sz="1725" b="0" i="0">
              <a:solidFill>
                <a:srgbClr val="182033"/>
              </a:solidFill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9122752" y="437197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9124950" y="4438650"/>
            <a:ext cx="285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4</a:t>
            </a:r>
            <a:endParaRPr sz="1125" b="1" i="0">
              <a:solidFill>
                <a:srgbClr val="FFFFFF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9544050" y="4381500"/>
            <a:ext cx="78676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 i="0">
                <a:solidFill>
                  <a:srgbClr val="182033"/>
                </a:solidFill>
              </a:defRPr>
            </a:pPr>
            <a:r>
              <a:rPr sz="1725" b="0" i="0">
                <a:solidFill>
                  <a:srgbClr val="182033"/>
                </a:solidFill>
              </a:rPr>
              <a:t>优化前端阅读、翻译、问答、背景知识、批判阅读和深度研究之间的工作流</a:t>
            </a:r>
            <a:endParaRPr sz="1725" b="0" i="0">
              <a:solidFill>
                <a:srgbClr val="182033"/>
              </a:solidFill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9122752" y="47815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9124950" y="4857750"/>
            <a:ext cx="285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5</a:t>
            </a:r>
            <a:endParaRPr sz="1125" b="1" i="0">
              <a:solidFill>
                <a:srgbClr val="FFFFFF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9544050" y="4781550"/>
            <a:ext cx="78676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 i="0">
                <a:solidFill>
                  <a:srgbClr val="182033"/>
                </a:solidFill>
              </a:defRPr>
            </a:pPr>
            <a:r>
              <a:rPr sz="1725" b="0" i="0">
                <a:solidFill>
                  <a:srgbClr val="182033"/>
                </a:solidFill>
              </a:rPr>
              <a:t>补充前端、Java、Python 自动化测试和演示用例</a:t>
            </a:r>
            <a:endParaRPr sz="1725" b="0" i="0">
              <a:solidFill>
                <a:srgbClr val="182033"/>
              </a:solidFill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9122752" y="519112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9124950" y="5257800"/>
            <a:ext cx="285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6</a:t>
            </a:r>
            <a:endParaRPr sz="1125" b="1" i="0">
              <a:solidFill>
                <a:srgbClr val="FFFFFF"/>
              </a:solidFill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9544050" y="5200650"/>
            <a:ext cx="78676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 i="0">
                <a:solidFill>
                  <a:srgbClr val="182033"/>
                </a:solidFill>
              </a:defRPr>
            </a:pPr>
            <a:r>
              <a:rPr sz="1725" b="0" i="0">
                <a:solidFill>
                  <a:srgbClr val="182033"/>
                </a:solidFill>
              </a:rPr>
              <a:t>整理部署手册、用户说明、项目总结和结题答辩材料</a:t>
            </a:r>
            <a:endParaRPr sz="1725" b="0" i="0">
              <a:solidFill>
                <a:srgbClr val="182033"/>
              </a:solidFill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876300" y="9467850"/>
            <a:ext cx="476250" cy="47625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1428750" y="9391650"/>
            <a:ext cx="2609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0F1423"/>
                </a:solidFill>
              </a:defRPr>
            </a:pPr>
            <a:r>
              <a:rPr sz="1350" b="1" i="0">
                <a:solidFill>
                  <a:srgbClr val="0F1423"/>
                </a:solidFill>
              </a:rPr>
              <a:t>稳定性优化</a:t>
            </a:r>
            <a:endParaRPr sz="1350" b="1" i="0">
              <a:solidFill>
                <a:srgbClr val="0F1423"/>
              </a:solidFill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4229100" y="9467850"/>
            <a:ext cx="476250" cy="47625"/>
          </a:xfrm>
          <a:prstGeom prst="rect">
            <a:avLst/>
          </a:prstGeom>
          <a:solidFill>
            <a:srgbClr val="58B6E5"/>
          </a:solidFill>
          <a:ln w="0">
            <a:solidFill>
              <a:srgbClr val="58B6E5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4781550" y="9391650"/>
            <a:ext cx="2609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0F1423"/>
                </a:solidFill>
              </a:defRPr>
            </a:pPr>
            <a:r>
              <a:rPr sz="1350" b="1" i="0">
                <a:solidFill>
                  <a:srgbClr val="0F1423"/>
                </a:solidFill>
              </a:rPr>
              <a:t>证据追溯</a:t>
            </a:r>
            <a:endParaRPr sz="1350" b="1" i="0">
              <a:solidFill>
                <a:srgbClr val="0F1423"/>
              </a:solidFill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7562850" y="9467850"/>
            <a:ext cx="476250" cy="47625"/>
          </a:xfrm>
          <a:prstGeom prst="rect">
            <a:avLst/>
          </a:prstGeom>
          <a:solidFill>
            <a:srgbClr val="56CA95"/>
          </a:solidFill>
          <a:ln w="0">
            <a:solidFill>
              <a:srgbClr val="56CA95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8115300" y="9391650"/>
            <a:ext cx="2609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0F1423"/>
                </a:solidFill>
              </a:defRPr>
            </a:pPr>
            <a:r>
              <a:rPr sz="1350" b="1" i="0">
                <a:solidFill>
                  <a:srgbClr val="0F1423"/>
                </a:solidFill>
              </a:rPr>
              <a:t>体验打磨</a:t>
            </a:r>
            <a:endParaRPr sz="1350" b="1" i="0">
              <a:solidFill>
                <a:srgbClr val="0F1423"/>
              </a:solidFill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10915650" y="9467850"/>
            <a:ext cx="476250" cy="47625"/>
          </a:xfrm>
          <a:prstGeom prst="rect">
            <a:avLst/>
          </a:prstGeom>
          <a:solidFill>
            <a:srgbClr val="FFBA55"/>
          </a:solidFill>
          <a:ln w="0">
            <a:solidFill>
              <a:srgbClr val="FFBA55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11468100" y="9391650"/>
            <a:ext cx="2609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0F1423"/>
                </a:solidFill>
              </a:defRPr>
            </a:pPr>
            <a:r>
              <a:rPr sz="1350" b="1" i="0">
                <a:solidFill>
                  <a:srgbClr val="0F1423"/>
                </a:solidFill>
              </a:rPr>
              <a:t>测试文档</a:t>
            </a:r>
            <a:endParaRPr sz="1350" b="1" i="0">
              <a:solidFill>
                <a:srgbClr val="0F1423"/>
              </a:solidFill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14249400" y="9467850"/>
            <a:ext cx="476250" cy="47625"/>
          </a:xfrm>
          <a:prstGeom prst="rect">
            <a:avLst/>
          </a:prstGeom>
          <a:solidFill>
            <a:srgbClr val="F18870"/>
          </a:solidFill>
          <a:ln w="0">
            <a:solidFill>
              <a:srgbClr val="F18870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14801850" y="9391650"/>
            <a:ext cx="2609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0F1423"/>
                </a:solidFill>
              </a:defRPr>
            </a:pPr>
            <a:r>
              <a:rPr sz="1350" b="1" i="0">
                <a:solidFill>
                  <a:srgbClr val="0F1423"/>
                </a:solidFill>
              </a:rPr>
              <a:t>结题交付</a:t>
            </a:r>
            <a:endParaRPr sz="1350" b="1" i="0">
              <a:solidFill>
                <a:srgbClr val="0F1423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876300" y="571500"/>
            <a:ext cx="16535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6096E6"/>
                </a:solidFill>
              </a:defRPr>
            </a:pPr>
            <a:r>
              <a:rPr sz="1350" b="1" i="0">
                <a:solidFill>
                  <a:srgbClr val="6096E6"/>
                </a:solidFill>
              </a:rPr>
              <a:t>附录 A | 5 分钟答辩节奏</a:t>
            </a:r>
            <a:endParaRPr sz="1350" b="1" i="0">
              <a:solidFill>
                <a:srgbClr val="6096E6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876300" y="952500"/>
            <a:ext cx="165354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 i="0">
                <a:solidFill>
                  <a:srgbClr val="0F1423"/>
                </a:solidFill>
              </a:defRPr>
            </a:pPr>
            <a:r>
              <a:rPr sz="4050" b="1" i="0">
                <a:solidFill>
                  <a:srgbClr val="0F1423"/>
                </a:solidFill>
              </a:rPr>
              <a:t>答辩时间分配</a:t>
            </a:r>
            <a:endParaRPr sz="4050" b="1" i="0">
              <a:solidFill>
                <a:srgbClr val="0F142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76300" y="1771650"/>
            <a:ext cx="46101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 i="0">
                <a:solidFill>
                  <a:srgbClr val="5E6B84"/>
                </a:solidFill>
              </a:defRPr>
            </a:pPr>
            <a:r>
              <a:rPr sz="1725" b="0" i="0">
                <a:solidFill>
                  <a:srgbClr val="5E6B84"/>
                </a:solidFill>
              </a:rPr>
              <a:t>备用页：用于排练、现场节奏控制或演示兜底。</a:t>
            </a:r>
            <a:endParaRPr sz="1725" b="0" i="0">
              <a:solidFill>
                <a:srgbClr val="5E6B84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23950" y="2686050"/>
            <a:ext cx="40767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时间</a:t>
            </a:r>
            <a:endParaRPr sz="1650" b="1" i="0">
              <a:solidFill>
                <a:srgbClr val="FFFFFF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200650" y="2686050"/>
            <a:ext cx="119634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内容</a:t>
            </a:r>
            <a:endParaRPr sz="1650" b="1" i="0">
              <a:solidFill>
                <a:srgbClr val="FFFFFF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23950" y="3238500"/>
            <a:ext cx="40767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 i="0">
                <a:solidFill>
                  <a:srgbClr val="182033"/>
                </a:solidFill>
              </a:defRPr>
            </a:pPr>
            <a:r>
              <a:rPr sz="1800" b="1" i="0">
                <a:solidFill>
                  <a:srgbClr val="182033"/>
                </a:solidFill>
              </a:rPr>
              <a:t>0:00-0:30</a:t>
            </a:r>
            <a:endParaRPr sz="1800" b="1" i="0">
              <a:solidFill>
                <a:srgbClr val="182033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200650" y="3238500"/>
            <a:ext cx="119634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项目背景与痛点</a:t>
            </a:r>
            <a:endParaRPr sz="1800" b="0" i="0">
              <a:solidFill>
                <a:srgbClr val="182033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23950" y="3962400"/>
            <a:ext cx="40767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 i="0">
                <a:solidFill>
                  <a:srgbClr val="182033"/>
                </a:solidFill>
              </a:defRPr>
            </a:pPr>
            <a:r>
              <a:rPr sz="1800" b="1" i="0">
                <a:solidFill>
                  <a:srgbClr val="182033"/>
                </a:solidFill>
              </a:rPr>
              <a:t>0:30-1:00</a:t>
            </a:r>
            <a:endParaRPr sz="1800" b="1" i="0">
              <a:solidFill>
                <a:srgbClr val="182033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200650" y="3962400"/>
            <a:ext cx="119634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项目目标和整体架构</a:t>
            </a:r>
            <a:endParaRPr sz="1800" b="0" i="0">
              <a:solidFill>
                <a:srgbClr val="182033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123950" y="4686300"/>
            <a:ext cx="40767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 i="0">
                <a:solidFill>
                  <a:srgbClr val="182033"/>
                </a:solidFill>
              </a:defRPr>
            </a:pPr>
            <a:r>
              <a:rPr sz="1800" b="1" i="0">
                <a:solidFill>
                  <a:srgbClr val="182033"/>
                </a:solidFill>
              </a:rPr>
              <a:t>1:00-2:20</a:t>
            </a:r>
            <a:endParaRPr sz="1800" b="1" i="0">
              <a:solidFill>
                <a:srgbClr val="182033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200650" y="4686300"/>
            <a:ext cx="119634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基础功能：上传、解析、RAG 问答、逐页翻译</a:t>
            </a:r>
            <a:endParaRPr sz="1800" b="0" i="0">
              <a:solidFill>
                <a:srgbClr val="182033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23950" y="5410200"/>
            <a:ext cx="40767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 i="0">
                <a:solidFill>
                  <a:srgbClr val="182033"/>
                </a:solidFill>
              </a:defRPr>
            </a:pPr>
            <a:r>
              <a:rPr sz="1800" b="1" i="0">
                <a:solidFill>
                  <a:srgbClr val="182033"/>
                </a:solidFill>
              </a:rPr>
              <a:t>2:20-3:40</a:t>
            </a:r>
            <a:endParaRPr sz="1800" b="1" i="0">
              <a:solidFill>
                <a:srgbClr val="182033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200650" y="5410200"/>
            <a:ext cx="119634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核心亮点：批判阅读、背景补课、苏格拉底学习、深度研究</a:t>
            </a:r>
            <a:endParaRPr sz="1800" b="0" i="0">
              <a:solidFill>
                <a:srgbClr val="182033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123950" y="6134100"/>
            <a:ext cx="40767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 i="0">
                <a:solidFill>
                  <a:srgbClr val="182033"/>
                </a:solidFill>
              </a:defRPr>
            </a:pPr>
            <a:r>
              <a:rPr sz="1800" b="1" i="0">
                <a:solidFill>
                  <a:srgbClr val="182033"/>
                </a:solidFill>
              </a:rPr>
              <a:t>3:40-4:20</a:t>
            </a:r>
            <a:endParaRPr sz="1800" b="1" i="0">
              <a:solidFill>
                <a:srgbClr val="182033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200650" y="6134100"/>
            <a:ext cx="119634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安全边界、trace、工程实现</a:t>
            </a:r>
            <a:endParaRPr sz="1800" b="0" i="0">
              <a:solidFill>
                <a:srgbClr val="182033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123950" y="6858000"/>
            <a:ext cx="40767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 i="0">
                <a:solidFill>
                  <a:srgbClr val="182033"/>
                </a:solidFill>
              </a:defRPr>
            </a:pPr>
            <a:r>
              <a:rPr sz="1800" b="1" i="0">
                <a:solidFill>
                  <a:srgbClr val="182033"/>
                </a:solidFill>
              </a:rPr>
              <a:t>4:20-5:00</a:t>
            </a:r>
            <a:endParaRPr sz="1800" b="1" i="0">
              <a:solidFill>
                <a:srgbClr val="182033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200650" y="6858000"/>
            <a:ext cx="119634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中期成果、问题和下一阶段计划</a:t>
            </a:r>
            <a:endParaRPr sz="1800" b="0" i="0">
              <a:solidFill>
                <a:srgbClr val="182033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76300" y="9563100"/>
            <a:ext cx="857250" cy="28575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885950" y="9429750"/>
            <a:ext cx="26860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5E6B84"/>
                </a:solidFill>
              </a:defRPr>
            </a:pPr>
            <a:r>
              <a:rPr sz="1125" b="0" i="0">
                <a:solidFill>
                  <a:srgbClr val="5E6B84"/>
                </a:solidFill>
              </a:rPr>
              <a:t>Appendix | 可按正式答辩时长决定是否保留</a:t>
            </a:r>
            <a:endParaRPr sz="1125" b="0" i="0">
              <a:solidFill>
                <a:srgbClr val="5E6B84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724400" y="9563100"/>
            <a:ext cx="12687300" cy="9525"/>
          </a:xfrm>
          <a:prstGeom prst="rect">
            <a:avLst/>
          </a:prstGeom>
          <a:solidFill>
            <a:srgbClr val="EEF3FA"/>
          </a:solidFill>
          <a:ln w="0">
            <a:solidFill>
              <a:srgbClr val="EEF3FA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876300" y="571500"/>
            <a:ext cx="16535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6096E6"/>
                </a:solidFill>
              </a:defRPr>
            </a:pPr>
            <a:r>
              <a:rPr sz="1350" b="1" i="0">
                <a:solidFill>
                  <a:srgbClr val="6096E6"/>
                </a:solidFill>
              </a:rPr>
              <a:t>附录 B | 现场演示优先级</a:t>
            </a:r>
            <a:endParaRPr sz="1350" b="1" i="0">
              <a:solidFill>
                <a:srgbClr val="6096E6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876300" y="952500"/>
            <a:ext cx="165354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 i="0">
                <a:solidFill>
                  <a:srgbClr val="0F1423"/>
                </a:solidFill>
              </a:defRPr>
            </a:pPr>
            <a:r>
              <a:rPr sz="4050" b="1" i="0">
                <a:solidFill>
                  <a:srgbClr val="0F1423"/>
                </a:solidFill>
              </a:rPr>
              <a:t>演示顺序与备用方案</a:t>
            </a:r>
            <a:endParaRPr sz="4050" b="1" i="0">
              <a:solidFill>
                <a:srgbClr val="0F142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76300" y="1771650"/>
            <a:ext cx="46101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 i="0">
                <a:solidFill>
                  <a:srgbClr val="5E6B84"/>
                </a:solidFill>
              </a:defRPr>
            </a:pPr>
            <a:r>
              <a:rPr sz="1725" b="0" i="0">
                <a:solidFill>
                  <a:srgbClr val="5E6B84"/>
                </a:solidFill>
              </a:rPr>
              <a:t>备用页：用于排练、现场节奏控制或演示兜底。</a:t>
            </a:r>
            <a:endParaRPr sz="1725" b="0" i="0">
              <a:solidFill>
                <a:srgbClr val="5E6B84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76300" y="2609850"/>
            <a:ext cx="80200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 i="0">
                <a:solidFill>
                  <a:srgbClr val="6096E6"/>
                </a:solidFill>
              </a:defRPr>
            </a:pPr>
            <a:r>
              <a:rPr sz="2550" b="1" i="0">
                <a:solidFill>
                  <a:srgbClr val="6096E6"/>
                </a:solidFill>
              </a:rPr>
              <a:t>优先展示</a:t>
            </a:r>
            <a:endParaRPr sz="2550" b="1" i="0">
              <a:solidFill>
                <a:srgbClr val="6096E6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76300" y="31432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76300" y="3219450"/>
            <a:ext cx="285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1</a:t>
            </a:r>
            <a:endParaRPr sz="1125" b="1" i="0">
              <a:solidFill>
                <a:srgbClr val="FFFFFF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295400" y="3143250"/>
            <a:ext cx="76009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182033"/>
                </a:solidFill>
              </a:defRPr>
            </a:pPr>
            <a:r>
              <a:rPr sz="1875" b="0" i="0">
                <a:solidFill>
                  <a:srgbClr val="182033"/>
                </a:solidFill>
              </a:rPr>
              <a:t>如果答辩现场只能演示 2-3 个功能，建议优先展示：</a:t>
            </a:r>
            <a:endParaRPr sz="1875" b="0" i="0">
              <a:solidFill>
                <a:srgbClr val="182033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876300" y="357187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76300" y="3638550"/>
            <a:ext cx="285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2</a:t>
            </a:r>
            <a:endParaRPr sz="1125" b="1" i="0">
              <a:solidFill>
                <a:srgbClr val="FFFFFF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295400" y="3581400"/>
            <a:ext cx="76009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182033"/>
                </a:solidFill>
              </a:defRPr>
            </a:pPr>
            <a:r>
              <a:rPr sz="1875" b="0" i="0">
                <a:solidFill>
                  <a:srgbClr val="182033"/>
                </a:solidFill>
              </a:rPr>
              <a:t>PDF 上传 + 论文解析：证明系统完整跑通。</a:t>
            </a:r>
            <a:endParaRPr sz="1875" b="0" i="0">
              <a:solidFill>
                <a:srgbClr val="182033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876300" y="40005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76300" y="4076700"/>
            <a:ext cx="285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3</a:t>
            </a:r>
            <a:endParaRPr sz="1125" b="1" i="0">
              <a:solidFill>
                <a:srgbClr val="FFFFFF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295400" y="4000500"/>
            <a:ext cx="76009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182033"/>
                </a:solidFill>
              </a:defRPr>
            </a:pPr>
            <a:r>
              <a:rPr sz="1875" b="0" i="0">
                <a:solidFill>
                  <a:srgbClr val="182033"/>
                </a:solidFill>
              </a:rPr>
              <a:t>RAG 问答 / 划词解释：证明回答基于当前论文上下文。</a:t>
            </a:r>
            <a:endParaRPr sz="1875" b="0" i="0">
              <a:solidFill>
                <a:srgbClr val="182033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410700" y="2609850"/>
            <a:ext cx="80200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 i="0">
                <a:solidFill>
                  <a:srgbClr val="F18870"/>
                </a:solidFill>
              </a:defRPr>
            </a:pPr>
            <a:r>
              <a:rPr sz="2550" b="1" i="0">
                <a:solidFill>
                  <a:srgbClr val="F18870"/>
                </a:solidFill>
              </a:rPr>
              <a:t>备用材料</a:t>
            </a:r>
            <a:endParaRPr sz="2550" b="1" i="0">
              <a:solidFill>
                <a:srgbClr val="F18870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9401175" y="31432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F18870"/>
          </a:solidFill>
          <a:ln w="0">
            <a:solidFill>
              <a:srgbClr val="F18870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9410700" y="3219450"/>
            <a:ext cx="285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1</a:t>
            </a:r>
            <a:endParaRPr sz="1125" b="1" i="0">
              <a:solidFill>
                <a:srgbClr val="FFFFFF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829800" y="3143250"/>
            <a:ext cx="7600950" cy="476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182033"/>
                </a:solidFill>
              </a:defRPr>
            </a:pPr>
            <a:r>
              <a:rPr sz="1875" b="0" i="0">
                <a:solidFill>
                  <a:srgbClr val="182033"/>
                </a:solidFill>
              </a:rPr>
              <a:t>批判性阅读或深度研究：体现区别于普通 PDF 阅读器和通用聊天机器人的核心创新。</a:t>
            </a:r>
            <a:endParaRPr sz="1875" b="0" i="0">
              <a:solidFill>
                <a:srgbClr val="182033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9401175" y="376237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F18870"/>
          </a:solidFill>
          <a:ln w="0">
            <a:solidFill>
              <a:srgbClr val="F18870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9410700" y="3829050"/>
            <a:ext cx="285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2</a:t>
            </a:r>
            <a:endParaRPr sz="1125" b="1" i="0">
              <a:solidFill>
                <a:srgbClr val="FFFFFF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829800" y="3771900"/>
            <a:ext cx="76009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182033"/>
                </a:solidFill>
              </a:defRPr>
            </a:pPr>
            <a:r>
              <a:rPr sz="1875" b="0" i="0">
                <a:solidFill>
                  <a:srgbClr val="182033"/>
                </a:solidFill>
              </a:rPr>
              <a:t>如果网络或模型接口不稳定，提前准备：</a:t>
            </a:r>
            <a:endParaRPr sz="1875" b="0" i="0">
              <a:solidFill>
                <a:srgbClr val="182033"/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9401175" y="41910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F18870"/>
          </a:solidFill>
          <a:ln w="0">
            <a:solidFill>
              <a:srgbClr val="F18870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410700" y="4267200"/>
            <a:ext cx="285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3</a:t>
            </a:r>
            <a:endParaRPr sz="1125" b="1" i="0">
              <a:solidFill>
                <a:srgbClr val="FFFFFF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9829800" y="4191000"/>
            <a:ext cx="76009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182033"/>
                </a:solidFill>
              </a:defRPr>
            </a:pPr>
            <a:r>
              <a:rPr sz="1875" b="0" i="0">
                <a:solidFill>
                  <a:srgbClr val="182033"/>
                </a:solidFill>
              </a:rPr>
              <a:t>系统运行截图</a:t>
            </a:r>
            <a:endParaRPr sz="1875" b="0" i="0">
              <a:solidFill>
                <a:srgbClr val="182033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9401175" y="461962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F18870"/>
          </a:solidFill>
          <a:ln w="0">
            <a:solidFill>
              <a:srgbClr val="F18870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9410700" y="4686300"/>
            <a:ext cx="285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4</a:t>
            </a:r>
            <a:endParaRPr sz="1125" b="1" i="0">
              <a:solidFill>
                <a:srgbClr val="FFFFFF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829800" y="4629150"/>
            <a:ext cx="76009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182033"/>
                </a:solidFill>
              </a:defRPr>
            </a:pPr>
            <a:r>
              <a:rPr sz="1875" b="0" i="0">
                <a:solidFill>
                  <a:srgbClr val="182033"/>
                </a:solidFill>
              </a:rPr>
              <a:t>关键功能录屏</a:t>
            </a:r>
            <a:endParaRPr sz="1875" b="0" i="0">
              <a:solidFill>
                <a:srgbClr val="182033"/>
              </a:solidFill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9401175" y="50482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F18870"/>
          </a:solidFill>
          <a:ln w="0">
            <a:solidFill>
              <a:srgbClr val="F18870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9410700" y="5124450"/>
            <a:ext cx="285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5</a:t>
            </a:r>
            <a:endParaRPr sz="1125" b="1" i="0">
              <a:solidFill>
                <a:srgbClr val="FFFFFF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9829800" y="5048250"/>
            <a:ext cx="76009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182033"/>
                </a:solidFill>
              </a:defRPr>
            </a:pPr>
            <a:r>
              <a:rPr sz="1875" b="0" i="0">
                <a:solidFill>
                  <a:srgbClr val="182033"/>
                </a:solidFill>
              </a:rPr>
              <a:t>一篇固定示例论文</a:t>
            </a:r>
            <a:endParaRPr sz="1875" b="0" i="0">
              <a:solidFill>
                <a:srgbClr val="182033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76300" y="9563100"/>
            <a:ext cx="857250" cy="28575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1885950" y="9429750"/>
            <a:ext cx="26860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5E6B84"/>
                </a:solidFill>
              </a:defRPr>
            </a:pPr>
            <a:r>
              <a:rPr sz="1125" b="0" i="0">
                <a:solidFill>
                  <a:srgbClr val="5E6B84"/>
                </a:solidFill>
              </a:rPr>
              <a:t>Appendix | 可按正式答辩时长决定是否保留</a:t>
            </a:r>
            <a:endParaRPr sz="1125" b="0" i="0">
              <a:solidFill>
                <a:srgbClr val="5E6B84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4724400" y="9563100"/>
            <a:ext cx="12687300" cy="9525"/>
          </a:xfrm>
          <a:prstGeom prst="rect">
            <a:avLst/>
          </a:prstGeom>
          <a:solidFill>
            <a:srgbClr val="EEF3FA"/>
          </a:solidFill>
          <a:ln w="0">
            <a:solidFill>
              <a:srgbClr val="EEF3FA"/>
            </a:solidFill>
            <a:prstDash val="solid"/>
          </a:ln>
        </p:spPr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17,&quot;left&quot;:680.4750393700788,&quot;top&quot;:342.75,&quot;width&quot;:690.5249606299212}"/>
</p:tagLst>
</file>

<file path=ppt/tags/tag2.xml><?xml version="1.0" encoding="utf-8"?>
<p:tagLst xmlns:p="http://schemas.openxmlformats.org/presentationml/2006/main">
  <p:tag name="KSO_WM_DIAGRAM_VIRTUALLY_FRAME" val="{&quot;height&quot;:117,&quot;left&quot;:680.4750393700788,&quot;top&quot;:342.75,&quot;width&quot;:690.5249606299212}"/>
</p:tagLst>
</file>

<file path=ppt/tags/tag3.xml><?xml version="1.0" encoding="utf-8"?>
<p:tagLst xmlns:p="http://schemas.openxmlformats.org/presentationml/2006/main">
  <p:tag name="KSO_WM_DIAGRAM_VIRTUALLY_FRAME" val="{&quot;height&quot;:117,&quot;left&quot;:680.4750393700788,&quot;top&quot;:342.75,&quot;width&quot;:690.5249606299212}"/>
</p:tagLst>
</file>

<file path=ppt/tags/tag4.xml><?xml version="1.0" encoding="utf-8"?>
<p:tagLst xmlns:p="http://schemas.openxmlformats.org/presentationml/2006/main">
  <p:tag name="KSO_WM_DIAGRAM_VIRTUALLY_FRAME" val="{&quot;height&quot;:117,&quot;left&quot;:680.4750393700788,&quot;top&quot;:342.75,&quot;width&quot;:690.5249606299212}"/>
</p:tagLst>
</file>

<file path=ppt/tags/tag5.xml><?xml version="1.0" encoding="utf-8"?>
<p:tagLst xmlns:p="http://schemas.openxmlformats.org/presentationml/2006/main">
  <p:tag name="KSO_WM_DIAGRAM_VIRTUALLY_FRAME" val="{&quot;height&quot;:117,&quot;left&quot;:680.4750393700788,&quot;top&quot;:342.75,&quot;width&quot;:690.5249606299212}"/>
</p:tagLst>
</file>

<file path=ppt/tags/tag6.xml><?xml version="1.0" encoding="utf-8"?>
<p:tagLst xmlns:p="http://schemas.openxmlformats.org/presentationml/2006/main">
  <p:tag name="KSO_WM_DIAGRAM_VIRTUALLY_FRAME" val="{&quot;height&quot;:117,&quot;left&quot;:680.4750393700788,&quot;top&quot;:342.75,&quot;width&quot;:690.5249606299212}"/>
</p:tagLst>
</file>

<file path=ppt/tags/tag7.xml><?xml version="1.0" encoding="utf-8"?>
<p:tagLst xmlns:p="http://schemas.openxmlformats.org/presentationml/2006/main">
  <p:tag name="KSO_WM_DIAGRAM_VIRTUALLY_FRAME" val="{&quot;height&quot;:117,&quot;left&quot;:680.4750393700788,&quot;top&quot;:342.75,&quot;width&quot;:690.5249606299212}"/>
</p:tagLst>
</file>

<file path=ppt/tags/tag8.xml><?xml version="1.0" encoding="utf-8"?>
<p:tagLst xmlns:p="http://schemas.openxmlformats.org/presentationml/2006/main">
  <p:tag name="KSO_WM_DIAGRAM_VIRTUALLY_FRAME" val="{&quot;height&quot;:117,&quot;left&quot;:680.4750393700788,&quot;top&quot;:342.75,&quot;width&quot;:690.5249606299212}"/>
</p:tagLst>
</file>

<file path=ppt/tags/tag9.xml><?xml version="1.0" encoding="utf-8"?>
<p:tagLst xmlns:p="http://schemas.openxmlformats.org/presentationml/2006/main">
  <p:tag name="KSO_WM_DIAGRAM_VIRTUALLY_FRAME" val="{&quot;height&quot;:117,&quot;left&quot;:680.4750393700788,&quot;top&quot;:342.75,&quot;width&quot;:690.5249606299212}"/>
</p:tagLst>
</file>

<file path=ppt/tags/tag10.xml><?xml version="1.0" encoding="utf-8"?>
<p:tagLst xmlns:p="http://schemas.openxmlformats.org/presentationml/2006/main">
  <p:tag name="KSO_WM_DIAGRAM_VIRTUALLY_FRAME" val="{&quot;height&quot;:117,&quot;left&quot;:680.4750393700788,&quot;top&quot;:342.75,&quot;width&quot;:690.5249606299212}"/>
</p:tagLst>
</file>

<file path=ppt/tags/tag11.xml><?xml version="1.0" encoding="utf-8"?>
<p:tagLst xmlns:p="http://schemas.openxmlformats.org/presentationml/2006/main">
  <p:tag name="KSO_WM_DIAGRAM_VIRTUALLY_FRAME" val="{&quot;height&quot;:117,&quot;left&quot;:680.4750393700788,&quot;top&quot;:342.75,&quot;width&quot;:690.5249606299212}"/>
</p:tagLst>
</file>

<file path=ppt/tags/tag12.xml><?xml version="1.0" encoding="utf-8"?>
<p:tagLst xmlns:p="http://schemas.openxmlformats.org/presentationml/2006/main">
  <p:tag name="KSO_WM_DIAGRAM_VIRTUALLY_FRAME" val="{&quot;height&quot;:117,&quot;left&quot;:680.4750393700788,&quot;top&quot;:342.75,&quot;width&quot;:690.5249606299212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4805</Words>
  <Application>WPS 演示</Application>
  <PresentationFormat>Converted Presentation</PresentationFormat>
  <Paragraphs>610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3" baseType="lpstr">
      <vt:lpstr>Arial</vt:lpstr>
      <vt:lpstr>宋体</vt:lpstr>
      <vt:lpstr>Wingdings</vt:lpstr>
      <vt:lpstr>Calibri</vt:lpstr>
      <vt:lpstr>微软雅黑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胡锐濠</cp:lastModifiedBy>
  <cp:revision>1</cp:revision>
  <dcterms:created xsi:type="dcterms:W3CDTF">2026-05-03T03:27:03Z</dcterms:created>
  <dcterms:modified xsi:type="dcterms:W3CDTF">2026-05-03T03:27:03Z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19E61CADEA1A4D38AD84D73258694714_12</vt:lpwstr>
  </property>
  <property fmtid="{D5CDD505-2E9C-101B-9397-08002B2CF9AE}" pid="3" name="KSOProductBuildVer">
    <vt:lpwstr>2052-12.1.0.25865</vt:lpwstr>
  </property>
</Properties>
</file>
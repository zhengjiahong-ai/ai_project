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8c9d40f4274ddf" /><Relationship Type="http://schemas.openxmlformats.org/officeDocument/2006/relationships/extended-properties" Target="/docProps/app.xml" Id="R72dfc15f1aa449bd" /><Relationship Type="http://schemas.openxmlformats.org/officeDocument/2006/relationships/officeDocument" Target="/ppt/presentation.xml" Id="Rfde415df9c7446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3aee933e4348d0"/>
  </p:sldMasterIdLst>
  <p:notesMasterIdLst>
    <p:notesMasterId xmlns:r="http://schemas.openxmlformats.org/officeDocument/2006/relationships" r:id="R5898bc80461243a6"/>
  </p:notesMasterIdLst>
  <p:sldIdLst>
    <p:sldId xmlns:r="http://schemas.openxmlformats.org/officeDocument/2006/relationships" id="256" r:id="Re1877cc89ee14442"/>
    <p:sldId xmlns:r="http://schemas.openxmlformats.org/officeDocument/2006/relationships" id="257" r:id="R99acb72f0e354d66"/>
    <p:sldId xmlns:r="http://schemas.openxmlformats.org/officeDocument/2006/relationships" id="258" r:id="R7b80ff7a34dc4407"/>
    <p:sldId xmlns:r="http://schemas.openxmlformats.org/officeDocument/2006/relationships" id="259" r:id="Rae10f2df99814396"/>
    <p:sldId xmlns:r="http://schemas.openxmlformats.org/officeDocument/2006/relationships" id="260" r:id="R4cf981adf03f4eb6"/>
    <p:sldId xmlns:r="http://schemas.openxmlformats.org/officeDocument/2006/relationships" id="261" r:id="R8efc2e6b9b44440d"/>
    <p:sldId xmlns:r="http://schemas.openxmlformats.org/officeDocument/2006/relationships" id="262" r:id="R9297382ad77346e2"/>
    <p:sldId xmlns:r="http://schemas.openxmlformats.org/officeDocument/2006/relationships" id="263" r:id="Ree66a11e06b5455e"/>
    <p:sldId xmlns:r="http://schemas.openxmlformats.org/officeDocument/2006/relationships" id="264" r:id="R9b772aeeadcd4ceb"/>
    <p:sldId xmlns:r="http://schemas.openxmlformats.org/officeDocument/2006/relationships" id="265" r:id="Reff1ba000b094a6a"/>
    <p:sldId xmlns:r="http://schemas.openxmlformats.org/officeDocument/2006/relationships" id="266" r:id="R8ad85c44ab054774"/>
    <p:sldId xmlns:r="http://schemas.openxmlformats.org/officeDocument/2006/relationships" id="267" r:id="Rd0e3e0cc9dcf49cd"/>
    <p:sldId xmlns:r="http://schemas.openxmlformats.org/officeDocument/2006/relationships" id="268" r:id="Rb8b2e071598141d6"/>
    <p:sldId xmlns:r="http://schemas.openxmlformats.org/officeDocument/2006/relationships" id="269" r:id="R5e189cacfdb44869"/>
    <p:sldId xmlns:r="http://schemas.openxmlformats.org/officeDocument/2006/relationships" id="270" r:id="R070c5ed76e5e4a98"/>
    <p:sldId xmlns:r="http://schemas.openxmlformats.org/officeDocument/2006/relationships" id="271" r:id="R1e7b10b39f5b4d7d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3aee933e4348d0" /><Relationship Type="http://schemas.openxmlformats.org/officeDocument/2006/relationships/theme" Target="/ppt/theme/theme1.xml" Id="R3730c62b3d0c471d" /><Relationship Type="http://schemas.openxmlformats.org/officeDocument/2006/relationships/notesMaster" Target="/ppt/notesMasters/notesMaster1.xml" Id="R5898bc80461243a6" /><Relationship Type="http://schemas.openxmlformats.org/officeDocument/2006/relationships/presProps" Target="/ppt/presProps.xml" Id="Ra398fd139cb54a77" /><Relationship Type="http://schemas.openxmlformats.org/officeDocument/2006/relationships/viewProps" Target="/ppt/viewProps.xml" Id="R9dd0c929e77b4917" /><Relationship Type="http://schemas.openxmlformats.org/officeDocument/2006/relationships/tableStyles" Target="/ppt/tableStyles.xml" Id="Reacfb16fe8544305" /><Relationship Type="http://schemas.openxmlformats.org/officeDocument/2006/relationships/slide" Target="/ppt/slides/slide1.xml" Id="Re1877cc89ee14442" /><Relationship Type="http://schemas.openxmlformats.org/officeDocument/2006/relationships/slide" Target="/ppt/slides/slide2.xml" Id="R99acb72f0e354d66" /><Relationship Type="http://schemas.openxmlformats.org/officeDocument/2006/relationships/slide" Target="/ppt/slides/slide3.xml" Id="R7b80ff7a34dc4407" /><Relationship Type="http://schemas.openxmlformats.org/officeDocument/2006/relationships/slide" Target="/ppt/slides/slide4.xml" Id="Rae10f2df99814396" /><Relationship Type="http://schemas.openxmlformats.org/officeDocument/2006/relationships/slide" Target="/ppt/slides/slide5.xml" Id="R4cf981adf03f4eb6" /><Relationship Type="http://schemas.openxmlformats.org/officeDocument/2006/relationships/slide" Target="/ppt/slides/slide6.xml" Id="R8efc2e6b9b44440d" /><Relationship Type="http://schemas.openxmlformats.org/officeDocument/2006/relationships/slide" Target="/ppt/slides/slide7.xml" Id="R9297382ad77346e2" /><Relationship Type="http://schemas.openxmlformats.org/officeDocument/2006/relationships/slide" Target="/ppt/slides/slide8.xml" Id="Ree66a11e06b5455e" /><Relationship Type="http://schemas.openxmlformats.org/officeDocument/2006/relationships/slide" Target="/ppt/slides/slide9.xml" Id="R9b772aeeadcd4ceb" /><Relationship Type="http://schemas.openxmlformats.org/officeDocument/2006/relationships/slide" Target="/ppt/slides/slide10.xml" Id="Reff1ba000b094a6a" /><Relationship Type="http://schemas.openxmlformats.org/officeDocument/2006/relationships/slide" Target="/ppt/slides/slide11.xml" Id="R8ad85c44ab054774" /><Relationship Type="http://schemas.openxmlformats.org/officeDocument/2006/relationships/slide" Target="/ppt/slides/slide12.xml" Id="Rd0e3e0cc9dcf49cd" /><Relationship Type="http://schemas.openxmlformats.org/officeDocument/2006/relationships/slide" Target="/ppt/slides/slide13.xml" Id="Rb8b2e071598141d6" /><Relationship Type="http://schemas.openxmlformats.org/officeDocument/2006/relationships/slide" Target="/ppt/slides/slide14.xml" Id="R5e189cacfdb44869" /><Relationship Type="http://schemas.openxmlformats.org/officeDocument/2006/relationships/slide" Target="/ppt/slides/slide15.xml" Id="R070c5ed76e5e4a98" /><Relationship Type="http://schemas.openxmlformats.org/officeDocument/2006/relationships/slide" Target="/ppt/slides/slide16.xml" Id="R1e7b10b39f5b4d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b47a7431c63f43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1b64fdccd14fd0" /><Relationship Type="http://schemas.openxmlformats.org/officeDocument/2006/relationships/notesMaster" Target="/ppt/notesMasters/notesMaster1.xml" Id="R5f71d019aec84af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8711f5f97e48ac" /><Relationship Type="http://schemas.openxmlformats.org/officeDocument/2006/relationships/notesMaster" Target="/ppt/notesMasters/notesMaster1.xml" Id="Rf70e862802d947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21d2d46b124464" /><Relationship Type="http://schemas.openxmlformats.org/officeDocument/2006/relationships/notesMaster" Target="/ppt/notesMasters/notesMaster1.xml" Id="Rc37695c36d854b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4db15ba6134a31" /><Relationship Type="http://schemas.openxmlformats.org/officeDocument/2006/relationships/notesMaster" Target="/ppt/notesMasters/notesMaster1.xml" Id="Rdf6f7e9775e84f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0a6c1ec2a944fd" /><Relationship Type="http://schemas.openxmlformats.org/officeDocument/2006/relationships/notesMaster" Target="/ppt/notesMasters/notesMaster1.xml" Id="Rb4c8af43f3b74a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330f713fff045f4" /><Relationship Type="http://schemas.openxmlformats.org/officeDocument/2006/relationships/notesMaster" Target="/ppt/notesMasters/notesMaster1.xml" Id="Rb6011e3d546f44f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040f46fcdb4d3f" /><Relationship Type="http://schemas.openxmlformats.org/officeDocument/2006/relationships/notesMaster" Target="/ppt/notesMasters/notesMaster1.xml" Id="R12e37dc4cc71487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448eef4944415f" /><Relationship Type="http://schemas.openxmlformats.org/officeDocument/2006/relationships/notesMaster" Target="/ppt/notesMasters/notesMaster1.xml" Id="Recd9c497e52949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f19f45d6874c9d" /><Relationship Type="http://schemas.openxmlformats.org/officeDocument/2006/relationships/notesMaster" Target="/ppt/notesMasters/notesMaster1.xml" Id="Rc004a84f76b742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1ab3bcd1de4364" /><Relationship Type="http://schemas.openxmlformats.org/officeDocument/2006/relationships/notesMaster" Target="/ppt/notesMasters/notesMaster1.xml" Id="Rcbdf7abd4ac54a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462feca5b74b5e" /><Relationship Type="http://schemas.openxmlformats.org/officeDocument/2006/relationships/notesMaster" Target="/ppt/notesMasters/notesMaster1.xml" Id="R1ce26741ce2b4c2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f3721317774a82" /><Relationship Type="http://schemas.openxmlformats.org/officeDocument/2006/relationships/notesMaster" Target="/ppt/notesMasters/notesMaster1.xml" Id="Re152e94244dd404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34c3937f19c4b98" /><Relationship Type="http://schemas.openxmlformats.org/officeDocument/2006/relationships/notesMaster" Target="/ppt/notesMasters/notesMaster1.xml" Id="R685aa93ce57d4f3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dd4c973e8dd46e9" /><Relationship Type="http://schemas.openxmlformats.org/officeDocument/2006/relationships/notesMaster" Target="/ppt/notesMasters/notesMaster1.xml" Id="R28a696f49141482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2a7c6795f2744d2" /><Relationship Type="http://schemas.openxmlformats.org/officeDocument/2006/relationships/notesMaster" Target="/ppt/notesMasters/notesMaster1.xml" Id="R27b683f1aaf6476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36c5fddf7f4431e" /><Relationship Type="http://schemas.openxmlformats.org/officeDocument/2006/relationships/notesMaster" Target="/ppt/notesMasters/notesMaster1.xml" Id="R8f00eb91bce046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0bc1782d864f0d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e921079c9c94710" /><Relationship Type="http://schemas.openxmlformats.org/officeDocument/2006/relationships/slideLayout" Target="/ppt/slideLayouts/slideLayout2.xml" Id="Rdf3fdc3d0bf647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3fdc3d0bf647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69b699371084729" /><Relationship Type="http://schemas.openxmlformats.org/officeDocument/2006/relationships/image" Target="/ppt/media/image.jpeg" Id="R82864b3cafe54609" /><Relationship Type="http://schemas.openxmlformats.org/officeDocument/2006/relationships/image" Target="/ppt/media/image.png" Id="R677d321003c84c1d" /><Relationship Type="http://schemas.openxmlformats.org/officeDocument/2006/relationships/notesSlide" Target="/ppt/notesSlides/notesSlide1.xml" Id="Rcdd54fce5c9e4a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0bb911c9c5c4222" /><Relationship Type="http://schemas.openxmlformats.org/officeDocument/2006/relationships/notesSlide" Target="/ppt/notesSlides/notesSlide2.xml" Id="R98dc89184ae945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42a0f9314746a8" /><Relationship Type="http://schemas.openxmlformats.org/officeDocument/2006/relationships/notesSlide" Target="/ppt/notesSlides/notesSlide3.xml" Id="R7550fd9912334d9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3c0037058b45d0" /><Relationship Type="http://schemas.openxmlformats.org/officeDocument/2006/relationships/notesSlide" Target="/ppt/notesSlides/notesSlide4.xml" Id="R7891e9ea1b794e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d3a23e5440f42d2" /><Relationship Type="http://schemas.openxmlformats.org/officeDocument/2006/relationships/notesSlide" Target="/ppt/notesSlides/notesSlide5.xml" Id="R822695207e344f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ac9f62128444306" /><Relationship Type="http://schemas.openxmlformats.org/officeDocument/2006/relationships/notesSlide" Target="/ppt/notesSlides/notesSlide6.xml" Id="R12fca7dd36e3465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b9baf333994497" /><Relationship Type="http://schemas.openxmlformats.org/officeDocument/2006/relationships/notesSlide" Target="/ppt/notesSlides/notesSlide7.xml" Id="Rc2c08e7b1f064b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340094448e4772" /><Relationship Type="http://schemas.openxmlformats.org/officeDocument/2006/relationships/notesSlide" Target="/ppt/notesSlides/notesSlide8.xml" Id="R3086364cdaad4d1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6518a3833ce4cbc" /><Relationship Type="http://schemas.openxmlformats.org/officeDocument/2006/relationships/notesSlide" Target="/ppt/notesSlides/notesSlide9.xml" Id="R00d34f8f4e6b4b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4e8f9784d0494e" /><Relationship Type="http://schemas.openxmlformats.org/officeDocument/2006/relationships/notesSlide" Target="/ppt/notesSlides/notesSlide10.xml" Id="R69f81334882041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c7107ef2ac4add" /><Relationship Type="http://schemas.openxmlformats.org/officeDocument/2006/relationships/notesSlide" Target="/ppt/notesSlides/notesSlide11.xml" Id="Rf6cf4851f0d340a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ce9b8edbdf4c28" /><Relationship Type="http://schemas.openxmlformats.org/officeDocument/2006/relationships/notesSlide" Target="/ppt/notesSlides/notesSlide12.xml" Id="R36a13f614fc64b9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0fe8f8ae4a4934" /><Relationship Type="http://schemas.openxmlformats.org/officeDocument/2006/relationships/notesSlide" Target="/ppt/notesSlides/notesSlide13.xml" Id="R777c1c6df1204c8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cd7f42448f74329" /><Relationship Type="http://schemas.openxmlformats.org/officeDocument/2006/relationships/notesSlide" Target="/ppt/notesSlides/notesSlide14.xml" Id="R159f71f0663445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e77dd846607434b" /><Relationship Type="http://schemas.openxmlformats.org/officeDocument/2006/relationships/notesSlide" Target="/ppt/notesSlides/notesSlide15.xml" Id="Rc04b9e2b12124a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8fe8b06b63469a" /><Relationship Type="http://schemas.openxmlformats.org/officeDocument/2006/relationships/notesSlide" Target="/ppt/notesSlides/notesSlide16.xml" Id="R55878b07641242f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64b3cafe5460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6EB51-3138-45A9-90F9-B421D578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423">
              <a:alpha val="70000"/>
            </a:srgbClr>
          </a:solidFill>
          <a:ln xmlns:a="http://schemas.openxmlformats.org/drawingml/2006/main" w="0">
            <a:solidFill>
              <a:srgbClr val="0F1423">
                <a:alpha val="0"/>
              </a:srgbClr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d321003c84c1d"/>
          <a:stretch xmlns:a="http://schemas.openxmlformats.org/drawingml/2006/main"/>
        </p:blipFill>
        <p:spPr>
          <a:xfrm xmlns:a="http://schemas.openxmlformats.org/drawingml/2006/main">
            <a:off x="1531085" y="552450"/>
            <a:ext cx="2138480" cy="685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90086A-8EE4-432D-9239-EBAEBFA8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685800"/>
            <a:ext cx="17335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CFE4FF"/>
                </a:solidFill>
              </a:defRPr>
            </a:pPr>
            <a:r>
              <a:rPr sz="1650" b="1" i="0">
                <a:solidFill>
                  <a:srgbClr val="CFE4FF"/>
                </a:solidFill>
              </a:rPr>
              <a:t>中期答辩 | 2026.05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4CEA9F-7595-4F89-B9DA-1E38547F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81500"/>
            <a:ext cx="2286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54D8B-1BBE-4AFB-8E66-499F6AAF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64389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950" b="1" i="0">
                <a:solidFill>
                  <a:srgbClr val="FFFFFF"/>
                </a:solidFill>
              </a:defRPr>
            </a:pPr>
            <a:r>
              <a:rPr sz="4950" b="1" i="0">
                <a:solidFill>
                  <a:srgbClr val="FFFFFF"/>
                </a:solidFill>
              </a:rPr>
              <a:t>Pixiu Academic Assistant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51C59-EC00-4F63-9C6A-84D24E087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86400"/>
            <a:ext cx="51816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EAF3FF"/>
                </a:solidFill>
              </a:defRPr>
            </a:pPr>
            <a:r>
              <a:rPr sz="3600" b="1" i="0">
                <a:solidFill>
                  <a:srgbClr val="EAF3FF"/>
                </a:solidFill>
              </a:rPr>
              <a:t>学术论文 AI 助手中期答辩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C327DB-CB8F-4F4B-89AA-DD1B2ABBB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153150"/>
            <a:ext cx="7505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0" i="0">
                <a:solidFill>
                  <a:srgbClr val="D6E7FA"/>
                </a:solidFill>
              </a:defRPr>
            </a:pPr>
            <a:r>
              <a:rPr sz="1950" b="0" i="0">
                <a:solidFill>
                  <a:srgbClr val="D6E7FA"/>
                </a:solidFill>
              </a:rPr>
              <a:t>面向论文阅读、证据化问答、批判性分析与深度研究的 AI 学习工作台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427632-F699-430A-A865-0CA9A006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9544050"/>
            <a:ext cx="3848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E6F0FF"/>
                </a:solidFill>
              </a:defRPr>
            </a:pPr>
            <a:r>
              <a:rPr sz="1575" b="0" i="0">
                <a:solidFill>
                  <a:srgbClr val="E6F0FF"/>
                </a:solidFill>
              </a:rPr>
              <a:t>负责人：待填写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0C71F-9C25-438E-896D-8B162282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9544050"/>
            <a:ext cx="3848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E6F0FF"/>
                </a:solidFill>
              </a:defRPr>
            </a:pPr>
            <a:r>
              <a:rPr sz="1575" b="0" i="0">
                <a:solidFill>
                  <a:srgbClr val="E6F0FF"/>
                </a:solidFill>
              </a:rPr>
              <a:t>成员：待填写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D1910-3014-49C3-A56C-12F293B4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9544050"/>
            <a:ext cx="3848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E6F0FF"/>
                </a:solidFill>
              </a:defRPr>
            </a:pPr>
            <a:r>
              <a:rPr sz="1575" b="0" i="0">
                <a:solidFill>
                  <a:srgbClr val="E6F0FF"/>
                </a:solidFill>
              </a:rPr>
              <a:t>指导老师：待填写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4C839-4EF4-4933-9833-2396151E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9544050"/>
            <a:ext cx="3848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E6F0FF"/>
                </a:solidFill>
              </a:defRPr>
            </a:pPr>
            <a:r>
              <a:rPr sz="1575" b="0" i="0">
                <a:solidFill>
                  <a:srgbClr val="E6F0FF"/>
                </a:solidFill>
              </a:rPr>
              <a:t>项目类型：大创训练</a:t>
            </a:r>
          </a:p>
        </p:txBody>
      </p:sp>
    </p:spTree>
    <p:extLst>
      <p:ext uri="{BB962C8B-B14F-4D97-AF65-F5344CB8AC3E}">
        <p14:creationId xmlns:p14="http://schemas.microsoft.com/office/powerpoint/2010/main" val="2737680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9D5E87-AABD-4C83-BBA0-D7621AE1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645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2 页 | 研究背景与问题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389EE-158F-490C-B59A-6D0F762F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6459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论文阅读中的痛点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CAC76-C635-42D7-B1C7-4F951AE2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7162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E6B84"/>
                </a:solidFill>
              </a:defRPr>
            </a:pPr>
            <a:r>
              <a:rPr sz="1725" b="0" i="0">
                <a:solidFill>
                  <a:srgbClr val="5E6B84"/>
                </a:solidFill>
              </a:rPr>
              <a:t>从“看见论文”到“真正理解论文”，中间缺的是证据、结构和主动学习流程。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D7539-C653-425D-B3E6-EF3FB96E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82296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375" b="1" i="0">
                <a:solidFill>
                  <a:srgbClr val="0F1423"/>
                </a:solidFill>
              </a:defRPr>
            </a:pPr>
            <a:r>
              <a:rPr sz="3375" b="1" i="0">
                <a:solidFill>
                  <a:srgbClr val="0F1423"/>
                </a:solidFill>
              </a:rPr>
              <a:t>阅读阻力不只来自英文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39A63-1EDA-4AB9-AE86-FA418442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575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3E6CD-5CBC-44E6-B4D1-9366FAC9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BBDA2-11A8-4F6C-AF07-A794E5C7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671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2033"/>
                </a:solidFill>
              </a:defRPr>
            </a:pPr>
            <a:r>
              <a:rPr sz="2100" b="0" i="0">
                <a:solidFill>
                  <a:srgbClr val="182033"/>
                </a:solidFill>
              </a:rPr>
              <a:t>英文论文阅读门槛高，术语、公式、方法和实验细节理解成本高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48C27B-F197-4397-AD54-E0A868E6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86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1D15A9-0EF4-4EFD-A0B0-D4C3A93F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089F6-A0C7-4393-8915-8CB86D0C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862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2033"/>
                </a:solidFill>
              </a:defRPr>
            </a:pPr>
            <a:r>
              <a:rPr sz="2100" b="0" i="0">
                <a:solidFill>
                  <a:srgbClr val="182033"/>
                </a:solidFill>
              </a:rPr>
              <a:t>普通大模型容易脱离论文原文回答，存在幻觉风险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8F6644-9160-4681-AB41-8619A852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3C8B8-15F7-4D65-B946-77307993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2AA49-83B1-4C5F-BF7D-3E6020703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24350"/>
            <a:ext cx="7810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2033"/>
                </a:solidFill>
              </a:defRPr>
            </a:pPr>
            <a:r>
              <a:rPr sz="2100" b="0" i="0">
                <a:solidFill>
                  <a:srgbClr val="182033"/>
                </a:solidFill>
              </a:rPr>
              <a:t>学生需要的不只是翻译，还需要结构化摘要、证据化问答和批判性分析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6A3C8-8690-4580-B5CF-9DC77539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E3D9F-8749-480A-985C-502DD953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30BE2-3A38-46CC-8DA7-94B83361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91100"/>
            <a:ext cx="781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2033"/>
                </a:solidFill>
              </a:defRPr>
            </a:pPr>
            <a:r>
              <a:rPr sz="2100" b="0" i="0">
                <a:solidFill>
                  <a:srgbClr val="182033"/>
                </a:solidFill>
              </a:rPr>
              <a:t>阅读过程中缺少“前置知识补课”和“主动理解检查”的工具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3DCA08-C4C2-42EC-9E83-52035308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936" y="3676650"/>
            <a:ext cx="876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478B2-18BD-4E28-B25D-11FD2F96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81450"/>
            <a:ext cx="87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618343-6A0F-4031-B163-99FCCF61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3962400"/>
            <a:ext cx="6515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0F1423"/>
                </a:solidFill>
              </a:defRPr>
            </a:pPr>
            <a:r>
              <a:rPr sz="2475" b="1" i="0">
                <a:solidFill>
                  <a:srgbClr val="0F1423"/>
                </a:solidFill>
              </a:rPr>
              <a:t>术语/公式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A7F14F-1059-4A31-A2ED-83C724F8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936" y="4838700"/>
            <a:ext cx="876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B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ED5480-7281-4E25-9B35-5321669E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143500"/>
            <a:ext cx="87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30DF42-3F4C-41FC-9897-A89B3DAE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5124450"/>
            <a:ext cx="6515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0F1423"/>
                </a:solidFill>
              </a:defRPr>
            </a:pPr>
            <a:r>
              <a:rPr sz="2475" b="1" i="0">
                <a:solidFill>
                  <a:srgbClr val="0F1423"/>
                </a:solidFill>
              </a:rPr>
              <a:t>方法细节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36ECDE-FC06-475A-B8FF-1E9AF908E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936" y="6000750"/>
            <a:ext cx="876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C6754F-1D94-421F-9DD2-61642E8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6305550"/>
            <a:ext cx="87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52B2F4-0A52-4AD3-9804-AA1ACAEB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515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0F1423"/>
                </a:solidFill>
              </a:defRPr>
            </a:pPr>
            <a:r>
              <a:rPr sz="2475" b="1" i="0">
                <a:solidFill>
                  <a:srgbClr val="0F1423"/>
                </a:solidFill>
              </a:rPr>
              <a:t>证据追溯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73798C-CA58-46C0-96E4-08ABE902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4936" y="7162800"/>
            <a:ext cx="876300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7BD507-82F2-46FD-BA9A-A6B3055B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467600"/>
            <a:ext cx="876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D56825-7BC0-46B9-ACD7-E1242029E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7448550"/>
            <a:ext cx="65151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0F1423"/>
                </a:solidFill>
              </a:defRPr>
            </a:pPr>
            <a:r>
              <a:rPr sz="2475" b="1" i="0">
                <a:solidFill>
                  <a:srgbClr val="0F1423"/>
                </a:solidFill>
              </a:rPr>
              <a:t>批判判断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B1626C-FD47-4853-A749-EAB42F35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52A210-25FB-40DC-BBC5-C5A2D727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9391650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Pixiu Academic Assistant | Midterm Defense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77E710-8518-47AC-99B4-681F1AA4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9525000"/>
            <a:ext cx="12725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EEF3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232405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3B5094-2E18-47E1-B404-F638C668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9600"/>
            <a:ext cx="1645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3 页 | 项目目标与定位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C7F56-5314-4FEA-B8DD-C7A80F42C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90600"/>
            <a:ext cx="164592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面向论文阅读的 AI 学习工作台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E904E5-C66E-450A-A6D6-F85F9243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5924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E6B84"/>
                </a:solidFill>
              </a:defRPr>
            </a:pPr>
            <a:r>
              <a:rPr sz="1725" b="0" i="0">
                <a:solidFill>
                  <a:srgbClr val="5E6B84"/>
                </a:solidFill>
              </a:rPr>
              <a:t>围绕一篇论文形成“输入-理解-追问-分析-研究”的连续工作流。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2116E-EFF6-4B50-ADA2-271E348B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286125"/>
            <a:ext cx="10668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C4B92-CF20-4D1A-BF5F-3C6DE3AF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5760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0E3CF-2F77-4047-BDC6-CD71A2A8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33900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423"/>
                </a:solidFill>
              </a:defRPr>
            </a:pPr>
            <a:r>
              <a:rPr sz="1800" b="1" i="0">
                <a:solidFill>
                  <a:srgbClr val="0F1423"/>
                </a:solidFill>
              </a:rPr>
              <a:t>PDF 上传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964377-6540-48CA-AA76-DD828B5B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86125"/>
            <a:ext cx="10668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B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4A52B2-FA18-47E4-ADB2-4981CAB9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65760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9111B-FC77-4E1E-88AC-1DF44D78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533900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423"/>
                </a:solidFill>
              </a:defRPr>
            </a:pPr>
            <a:r>
              <a:rPr sz="1800" b="1" i="0">
                <a:solidFill>
                  <a:srgbClr val="0F1423"/>
                </a:solidFill>
              </a:rPr>
              <a:t>篇章解析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D62E3-D1E1-47F3-8AF3-B685AA1F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86125"/>
            <a:ext cx="10668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F573ED-4D1C-43FE-BD39-9E8968D5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5760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889DDF-91E8-45F0-AEA2-10F5D5BB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533900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423"/>
                </a:solidFill>
              </a:defRPr>
            </a:pPr>
            <a:r>
              <a:rPr sz="1800" b="1" i="0">
                <a:solidFill>
                  <a:srgbClr val="0F1423"/>
                </a:solidFill>
              </a:rPr>
              <a:t>RAG 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30523-9039-4435-8000-6A61032A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286125"/>
            <a:ext cx="10668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B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575F6-8129-4E2E-8F9F-01C849CE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5760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A58E2E-610C-497A-9B39-542F04E8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33900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423"/>
                </a:solidFill>
              </a:defRPr>
            </a:pPr>
            <a:r>
              <a:rPr sz="1800" b="1" i="0">
                <a:solidFill>
                  <a:srgbClr val="0F1423"/>
                </a:solidFill>
              </a:rPr>
              <a:t>翻译/解释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E3A199-D3BE-41D4-81D8-7AC06E6C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286125"/>
            <a:ext cx="10668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E0CE7E-E85D-4663-B56D-F928F57D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65760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4C5A1D-AE5B-4196-8D2B-0167A9EA3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533900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423"/>
                </a:solidFill>
              </a:defRPr>
            </a:pPr>
            <a:r>
              <a:rPr sz="1800" b="1" i="0">
                <a:solidFill>
                  <a:srgbClr val="0F1423"/>
                </a:solidFill>
              </a:rPr>
              <a:t>背景补课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78E620-1DE6-422B-976C-3AB781E8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286125"/>
            <a:ext cx="10668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B6E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46200-442B-4C2A-BB9E-7F2E93F5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65760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9BBC7A-9712-49AC-8815-56852533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5450" y="4533900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423"/>
                </a:solidFill>
              </a:defRPr>
            </a:pPr>
            <a:r>
              <a:rPr sz="1800" b="1" i="0">
                <a:solidFill>
                  <a:srgbClr val="0F1423"/>
                </a:solidFill>
              </a:rPr>
              <a:t>批判阅读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4197C-59BC-4AED-8F71-15B41ADA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286125"/>
            <a:ext cx="10668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586AE3-1219-44D3-981A-78BF7298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0" y="3657600"/>
            <a:ext cx="1066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FFFFF"/>
                </a:solidFill>
              </a:defRPr>
            </a:pPr>
            <a:r>
              <a:rPr sz="255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1E9BA4-30B7-4B51-9C96-0D357624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7650" y="4533900"/>
            <a:ext cx="1504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0F1423"/>
                </a:solidFill>
              </a:defRPr>
            </a:pPr>
            <a:r>
              <a:rPr sz="1800" b="1" i="0">
                <a:solidFill>
                  <a:srgbClr val="0F1423"/>
                </a:solidFill>
              </a:rPr>
              <a:t>深度研究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0CE28E-102F-477F-9D23-C05ED0E0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199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587BDB-4985-4D73-B476-A8CB1EB9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67550"/>
            <a:ext cx="525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6096E6"/>
                </a:solidFill>
              </a:defRPr>
            </a:pPr>
            <a:r>
              <a:rPr sz="1800" b="1" i="0">
                <a:solidFill>
                  <a:srgbClr val="6096E6"/>
                </a:solidFill>
              </a:rPr>
              <a:t>输入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CB125A-12A9-46A4-AFC2-81AAB932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86650"/>
            <a:ext cx="21145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423"/>
                </a:solidFill>
              </a:defRPr>
            </a:pPr>
            <a:r>
              <a:rPr sz="2850" b="1" i="0">
                <a:solidFill>
                  <a:srgbClr val="0F1423"/>
                </a:solidFill>
              </a:rPr>
              <a:t>学术论文 PDF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73C1D1-A758-4472-A5B1-0BC4103C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6294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A95"/>
          </a:solidFill>
          <a:ln xmlns:a="http://schemas.openxmlformats.org/drawingml/2006/main" w="0">
            <a:solidFill>
              <a:srgbClr val="56CA9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C8F1FFA-C0F7-483B-8D9C-C34AEB6E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877050"/>
            <a:ext cx="525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56CA95"/>
                </a:solidFill>
              </a:defRPr>
            </a:pPr>
            <a:r>
              <a:rPr sz="1800" b="1" i="0">
                <a:solidFill>
                  <a:srgbClr val="56CA95"/>
                </a:solidFill>
              </a:rPr>
              <a:t>核心能力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69172B-C29F-452F-AFD6-599216C9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7296150"/>
            <a:ext cx="38481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423"/>
                </a:solidFill>
              </a:defRPr>
            </a:pPr>
            <a:r>
              <a:rPr sz="2850" b="1" i="0">
                <a:solidFill>
                  <a:srgbClr val="0F1423"/>
                </a:solidFill>
              </a:rPr>
              <a:t>解析 / 检索 / 生成 / 分析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4D5013-1E47-4211-9914-2A3E9CED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819900"/>
            <a:ext cx="1143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A55"/>
          </a:solidFill>
          <a:ln xmlns:a="http://schemas.openxmlformats.org/drawingml/2006/main" w="0">
            <a:solidFill>
              <a:srgbClr val="FFBA5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C840A6-9FBF-4065-8878-34DD92AE9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7067550"/>
            <a:ext cx="52578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BA55"/>
                </a:solidFill>
              </a:defRPr>
            </a:pPr>
            <a:r>
              <a:rPr sz="1800" b="1" i="0">
                <a:solidFill>
                  <a:srgbClr val="FFBA55"/>
                </a:solidFill>
              </a:rPr>
              <a:t>输出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011022D-49EB-426F-A3E3-844F31AF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7486650"/>
            <a:ext cx="3981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0F1423"/>
                </a:solidFill>
              </a:defRPr>
            </a:pPr>
            <a:r>
              <a:rPr sz="2850" b="1" i="0">
                <a:solidFill>
                  <a:srgbClr val="0F1423"/>
                </a:solidFill>
              </a:rPr>
              <a:t>摘要、问答、报告、图谱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C79123-F36F-4ABA-B9BC-8D15D6FF2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250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13EDFB-0636-45D6-A36D-AF51EDC4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9391650"/>
            <a:ext cx="2609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项目定位：面向论文阅读的 AI 学习工作台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3D3E59-85B3-4633-997E-F9E68FE9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9525000"/>
            <a:ext cx="1268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EEF3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901298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CC6A30-D771-41AC-BD2C-B5D847ED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"/>
            <a:ext cx="1653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4 页 | 总体架构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612C02-A5EC-4763-B7E4-B30D7BC1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2500"/>
            <a:ext cx="165354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525" b="1" i="0">
                <a:solidFill>
                  <a:srgbClr val="0F1423"/>
                </a:solidFill>
              </a:defRPr>
            </a:pPr>
            <a:r>
              <a:rPr sz="3525" b="1" i="0">
                <a:solidFill>
                  <a:srgbClr val="0F1423"/>
                </a:solidFill>
              </a:rPr>
              <a:t>React + Spring Boot + FastAPI 的三层架构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F2D98B-7A1D-4EA7-868E-54A9A571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6419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E6B84"/>
                </a:solidFill>
              </a:defRPr>
            </a:pPr>
            <a:r>
              <a:rPr sz="1725" b="0" i="0">
                <a:solidFill>
                  <a:srgbClr val="5E6B84"/>
                </a:solidFill>
              </a:rPr>
              <a:t>把用户交互、接口契约和 AI 能力解耦，降低跨技术栈协作复杂度。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AECC7-652C-4F6C-8F98-0EB51A5A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52788"/>
            <a:ext cx="27432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4288">
            <a:solidFill>
              <a:srgbClr val="DCE7F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257836-5145-4F7D-869F-AAAE9DF60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2362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423"/>
                </a:solidFill>
              </a:defRPr>
            </a:pPr>
            <a:r>
              <a:rPr sz="2175" b="1" i="0">
                <a:solidFill>
                  <a:srgbClr val="0F1423"/>
                </a:solidFill>
              </a:rPr>
              <a:t>用户浏览器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863C56-479A-4FB0-9476-5A7C6678E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10050"/>
            <a:ext cx="2362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PDF 阅读与功能面板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91AB01-0B90-4F43-909E-AA3156BC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1244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B40DA-D75A-414D-AF74-A5EFF4B6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38600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193F7-3AE9-469F-BCFD-DDAF7E1B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52788"/>
            <a:ext cx="27432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4288">
            <a:solidFill>
              <a:srgbClr val="DCE7F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CAC0C2-5807-4F70-90AE-84E5492D8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810000"/>
            <a:ext cx="2362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423"/>
                </a:solidFill>
              </a:defRPr>
            </a:pPr>
            <a:r>
              <a:rPr sz="2175" b="1" i="0">
                <a:solidFill>
                  <a:srgbClr val="0F1423"/>
                </a:solidFill>
              </a:rPr>
              <a:t>React 前端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6B46C-7C39-45E7-8940-429F5579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10050"/>
            <a:ext cx="2362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Vite / Tailwind / 组件面板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01ED5-B85D-4CD1-BF0F-78E0857A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244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6E5"/>
          </a:solidFill>
          <a:ln xmlns:a="http://schemas.openxmlformats.org/drawingml/2006/main" w="0">
            <a:solidFill>
              <a:srgbClr val="58B6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F11B4-111B-482D-89DC-D548F786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38600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ACCE99-17F6-4543-BBD5-14DF7D9E4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52788"/>
            <a:ext cx="27432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4288">
            <a:solidFill>
              <a:srgbClr val="DCE7F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E087C0-8BF2-4E37-B57B-B6E34F8C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10000"/>
            <a:ext cx="2362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423"/>
                </a:solidFill>
              </a:defRPr>
            </a:pPr>
            <a:r>
              <a:rPr sz="2175" b="1" i="0">
                <a:solidFill>
                  <a:srgbClr val="0F1423"/>
                </a:solidFill>
              </a:rPr>
              <a:t>Spring Boot 网关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A44E1F-F1D2-4380-88A7-09E5F17C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210050"/>
            <a:ext cx="2362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统一 /api 契约与转发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02E44D-7D06-4D43-8E88-B95594B2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1244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A95"/>
          </a:solidFill>
          <a:ln xmlns:a="http://schemas.openxmlformats.org/drawingml/2006/main" w="0">
            <a:solidFill>
              <a:srgbClr val="56CA9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B95D63-F951-4B90-BBCA-416C2176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4038600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2CF833-464B-4C60-97A7-C7C8ECC1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252788"/>
            <a:ext cx="27432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0F1423"/>
          </a:solidFill>
          <a:ln xmlns:a="http://schemas.openxmlformats.org/drawingml/2006/main" w="14288">
            <a:solidFill>
              <a:srgbClr val="0F142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CAA590-E9FB-4534-B073-5D1C692C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3810000"/>
            <a:ext cx="2362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FFFFFF"/>
                </a:solidFill>
              </a:defRPr>
            </a:pPr>
            <a:r>
              <a:rPr sz="2175" b="1" i="0">
                <a:solidFill>
                  <a:srgbClr val="FFFFFF"/>
                </a:solidFill>
              </a:rPr>
              <a:t>FastAPI AI 服务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3AABA3-31DA-4BC4-8B5E-3331E8A3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210050"/>
            <a:ext cx="2362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D7E8FF"/>
                </a:solidFill>
              </a:defRPr>
            </a:pPr>
            <a:r>
              <a:rPr sz="1425" b="0" i="0">
                <a:solidFill>
                  <a:srgbClr val="D7E8FF"/>
                </a:solidFill>
              </a:rPr>
              <a:t>解析、RAG、LLM 调用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ED417B-F952-4BCA-9A86-BA7156E7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4850" y="51244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A55"/>
          </a:solidFill>
          <a:ln xmlns:a="http://schemas.openxmlformats.org/drawingml/2006/main" w="0">
            <a:solidFill>
              <a:srgbClr val="FFBA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96A81C-8AF0-4BFC-98D8-645AE192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35100" y="4038600"/>
            <a:ext cx="361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625" b="1" i="0">
                <a:solidFill>
                  <a:srgbClr val="6096E6"/>
                </a:solidFill>
              </a:defRPr>
            </a:pPr>
            <a:r>
              <a:rPr sz="2625" b="1" i="0">
                <a:solidFill>
                  <a:srgbClr val="6096E6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E5947B-7E33-4B5E-96C5-2F45A92E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0" y="3252788"/>
            <a:ext cx="27432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4288">
            <a:solidFill>
              <a:srgbClr val="DCE7F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B9A317-9A38-41DF-B643-58FBC770E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3810000"/>
            <a:ext cx="2362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 i="0">
                <a:solidFill>
                  <a:srgbClr val="0F1423"/>
                </a:solidFill>
              </a:defRPr>
            </a:pPr>
            <a:r>
              <a:rPr sz="2175" b="1" i="0">
                <a:solidFill>
                  <a:srgbClr val="0F1423"/>
                </a:solidFill>
              </a:rPr>
              <a:t>外部能力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E08423-2929-42C5-8844-199F33D9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4210050"/>
            <a:ext cx="2362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GROBID / Chroma / DashScope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0C1F4F-73ED-4B1F-B10A-FAFB38A9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82900" y="51244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FB6BEE-5FE9-4B3B-9109-A1512CF5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722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6096E6"/>
                </a:solidFill>
              </a:defRPr>
            </a:pPr>
            <a:r>
              <a:rPr sz="1725" b="1" i="0">
                <a:solidFill>
                  <a:srgbClr val="6096E6"/>
                </a:solidFill>
              </a:rPr>
              <a:t>前端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341C0A-2733-4F6F-817A-EBC89C69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534150"/>
            <a:ext cx="3943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82033"/>
                </a:solidFill>
              </a:defRPr>
            </a:pPr>
            <a:r>
              <a:rPr sz="1650" b="0" i="0">
                <a:solidFill>
                  <a:srgbClr val="182033"/>
                </a:solidFill>
              </a:rPr>
              <a:t>React 19 + Vite + Tailwind CSS，负责 PDF 阅读器和多功能面板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9889CC-2990-416E-920E-09891D7B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1722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56CA95"/>
                </a:solidFill>
              </a:defRPr>
            </a:pPr>
            <a:r>
              <a:rPr sz="1725" b="1" i="0">
                <a:solidFill>
                  <a:srgbClr val="56CA95"/>
                </a:solidFill>
              </a:rPr>
              <a:t>网关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75FDAD-C82E-4228-B96D-7EC173DC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534150"/>
            <a:ext cx="3943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82033"/>
                </a:solidFill>
              </a:defRPr>
            </a:pPr>
            <a:r>
              <a:rPr sz="1650" b="0" i="0">
                <a:solidFill>
                  <a:srgbClr val="182033"/>
                </a:solidFill>
              </a:rPr>
              <a:t>Spring Boot 3.4 + Java 21，统一对外 API，转发 Python 服务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3099FD-3D0B-4702-B1EB-6263B5E78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1722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BA55"/>
                </a:solidFill>
              </a:defRPr>
            </a:pPr>
            <a:r>
              <a:rPr sz="1725" b="1" i="0">
                <a:solidFill>
                  <a:srgbClr val="FFBA55"/>
                </a:solidFill>
              </a:rPr>
              <a:t>AI 服务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27D98D-DB19-44F1-A40D-8008988F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6534150"/>
            <a:ext cx="3943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82033"/>
                </a:solidFill>
              </a:defRPr>
            </a:pPr>
            <a:r>
              <a:rPr sz="1650" b="0" i="0">
                <a:solidFill>
                  <a:srgbClr val="182033"/>
                </a:solidFill>
              </a:rPr>
              <a:t>FastAPI + GROBID + DashScope + RAG，负责核心智能能力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DAE22D-E124-4C6D-BB91-41D31F97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172200"/>
            <a:ext cx="3943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18870"/>
                </a:solidFill>
              </a:defRPr>
            </a:pPr>
            <a:r>
              <a:rPr sz="1725" b="1" i="0">
                <a:solidFill>
                  <a:srgbClr val="F18870"/>
                </a:solidFill>
              </a:rPr>
              <a:t>部署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FDFEFB-3A2E-4B7A-9BEA-B3233194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6534150"/>
            <a:ext cx="3943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182033"/>
                </a:solidFill>
              </a:defRPr>
            </a:pPr>
            <a:r>
              <a:rPr sz="1650" b="0" i="0">
                <a:solidFill>
                  <a:srgbClr val="182033"/>
                </a:solidFill>
              </a:rPr>
              <a:t>Docker Compose 编排 frontend、backend、ai-service、grobid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43BA85-B185-40EE-83A0-F810D402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631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F21033-52C9-46F9-9117-B3F2D91F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429750"/>
            <a:ext cx="3771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技术栈：React 19 + Spring Boot 3.4 + FastAPI + Docker Compose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172FA2-F11F-4B9E-B9BD-A43D029AA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563100"/>
            <a:ext cx="11601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EEF3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7790931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46B016-19B4-405E-AAA7-0098031D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653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5 页 | 基础功能展示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A7DE6-D035-43A7-AFEC-8805E4F9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95350"/>
            <a:ext cx="16535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从 PDF 上传到论文解析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A40C7-49F2-4E11-8B04-EBEDE1C26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1CA3A-61D5-46A5-A259-696815BF7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125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EB269-67FF-4E19-A939-F7C60D19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72050"/>
            <a:ext cx="64770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把 PDF 转成后续可检索、可问答、可分析的结构化材料。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930778-B5CC-4E17-BA28-79F2351D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43650"/>
            <a:ext cx="6267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这一页展示论文进入系统后的基础流程。PDF上传后，系统不只是保存文件，而是把论文转成后续可检索、可问答、可分析的结构化材料。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A1560-4A7A-4425-AB0A-07692717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3529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D6F59-210A-47A8-8A77-0D5A66EA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196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2EB2A6-B524-45FD-9D31-571C1654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6245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PDF 上传与预览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08438-3727-4CA4-B300-88226AAFD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7529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1B2D5E-3657-4517-9B2A-9D0DE003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196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F4FD3-88A3-49B7-A911-5E978D62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625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GROBID 解析论文标题、摘要、章节和正文片段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B02C0F-CA1A-4BDF-B6FE-FA39D36A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1530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A868E8-4678-486D-9F26-0137C8CEE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197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19AADA-266C-496F-9262-B020CEC9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6255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前端显示论文结构和基础分析结果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A2014B-575C-46C8-9FDC-955236C7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5530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54FD13-1B11-4748-8292-0A53D696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197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F206D-0D26-4492-8F8E-E3D6BFFE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626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论文内容被索引为 RAG 检索片段，供后续问答和分析复用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788E6-9D78-4124-85E1-1BCD1990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6067425"/>
            <a:ext cx="8769668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CE7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479E06-9B01-4E5B-8792-1892D47C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248400"/>
            <a:ext cx="830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对应模块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B54EAD-D493-4957-BDB3-6AFDA62F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9605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前端：frontend/src/components/PdfViewer.jsx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A09D8B-72B6-4FC6-92AC-5BB250C1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72465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前端：frontend/src/components/PaperAnalysis.jsx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AFEC46-23F3-4B82-A166-4234A540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964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9FAFC66-DCBE-43E6-848F-BAE6536C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620250"/>
            <a:ext cx="3295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605C858-95E7-4622-A8C6-59CC1EB9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696450"/>
            <a:ext cx="1209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EEF3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679168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E06120-A7A2-4EA4-8ED1-BD5BAE2E1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653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6 页 | RAG 问答与术语解释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752E7-AF05-46C0-A590-A63469FD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95350"/>
            <a:ext cx="16535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基于当前论文证据的问答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01ED7-9404-4CE1-BC50-E889DC29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6EFFB-4125-4DD6-8183-0B7E166F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25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6E5"/>
          </a:solidFill>
          <a:ln xmlns:a="http://schemas.openxmlformats.org/drawingml/2006/main" w="0">
            <a:solidFill>
              <a:srgbClr val="58B6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091B57-E0CA-40E5-966F-9D69C9F7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6477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优先依据当前论文证据回答，减少把模型猜测当成论文结论。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46E886-08A0-4E94-A3CC-68CC8411B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53150"/>
            <a:ext cx="6115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本项目强调“基于当前论文回答”，而不是泛泛聊天。系统会优先检索当前论文片段，并在证据不足时显式提示，减少把模型猜测当作论文结论的...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C3BC36-15A9-4659-AF5A-2BAD309C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267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B6E5"/>
          </a:solidFill>
          <a:ln xmlns:a="http://schemas.openxmlformats.org/drawingml/2006/main" w="0">
            <a:solidFill>
              <a:srgbClr val="58B6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767C5-6F8D-45A7-9E4C-762A406CE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34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B8E9F-DB55-44F0-B680-96F54FB8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聊天面板支持围绕当前论文提问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C1B2B3-0B98-4AEB-99A0-6FFCE158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667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B6E5"/>
          </a:solidFill>
          <a:ln xmlns:a="http://schemas.openxmlformats.org/drawingml/2006/main" w="0">
            <a:solidFill>
              <a:srgbClr val="58B6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9F620C-90E8-46C7-BEA2-09CA5EB6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434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8EB0A-8998-4678-B7D2-D0FD971F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6725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划词术语解释结合页面上下文和论文片段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DD900-5628-4860-95D7-0032C3B3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0673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B6E5"/>
          </a:solidFill>
          <a:ln xmlns:a="http://schemas.openxmlformats.org/drawingml/2006/main" w="0">
            <a:solidFill>
              <a:srgbClr val="58B6E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DC391-01AB-43AB-9580-7015A753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435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5F7BA4-D247-4AC5-A236-4AFA5D43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67300"/>
            <a:ext cx="8343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轻量 Agentic RAG：意图识别 -&gt; 查询规划 -&gt; 当前论文优先检索 -&gt; 证据判断 -&gt; 回答生成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47FB6-5BDB-49B1-8292-4BF841F3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6388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8B6E5"/>
          </a:solidFill>
          <a:ln xmlns:a="http://schemas.openxmlformats.org/drawingml/2006/main" w="0">
            <a:solidFill>
              <a:srgbClr val="58B6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526396-0001-4982-8AE8-04A5EEE1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7150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B1B92-532C-49D8-B973-06CAD25D5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6388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返回 rag_sources，便于后续追溯回答依据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87924E-6A6A-45B5-9FB4-E57CB137E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6153150"/>
            <a:ext cx="8769668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CE7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E2F99E-EFAF-4760-9B47-F02396A9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324600"/>
            <a:ext cx="830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8B6E5"/>
                </a:solidFill>
              </a:defRPr>
            </a:pPr>
            <a:r>
              <a:rPr sz="1350" b="1" i="0">
                <a:solidFill>
                  <a:srgbClr val="58B6E5"/>
                </a:solidFill>
              </a:rPr>
              <a:t>对应模块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C5437-538D-4E54-9593-5B42A478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59130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前端：frontend/src/components/ChatPanel.jsx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DFF9FE-C9CC-4B16-9A1E-7F18A6B0E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81990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Java：POST /api/chat，POST /api/explain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2F00BB-CE06-4646-88A8-765F4C5C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964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DD5D97-200E-4EC2-966B-30E7C385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620250"/>
            <a:ext cx="3295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5C0318-DF50-4E6F-97FD-307EF70A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696450"/>
            <a:ext cx="1209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EEF3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658097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F3A542-29D1-4760-BBFE-0D841307F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653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7 页 | 逐页翻译与阅读辅助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AD1F2-5902-4436-933A-E98A5714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95350"/>
            <a:ext cx="16535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面向论文页面的翻译体验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A6BECB-E957-4010-A4B1-D64E4FF9F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FD89A-464D-4B5D-8656-BB1BF20F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25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A95"/>
          </a:solidFill>
          <a:ln xmlns:a="http://schemas.openxmlformats.org/drawingml/2006/main" w="0">
            <a:solidFill>
              <a:srgbClr val="56CA9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829274-00A9-4822-85B1-CBDB4004D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6477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翻译围绕当前阅读页展开，降低英文论文阅读的上下文切换成本。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312D3-AE5D-4570-9B8E-091B9E99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53150"/>
            <a:ext cx="6267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翻译功能不是简单整篇复制翻译，而是围绕PDF当前页进行阅读辅助。用户在阅读英文论文时，可以保持页面和译文同步，减少上下文切换。...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DB01EC-45DD-46AB-BE7A-D39D9553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3529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CA95"/>
          </a:solidFill>
          <a:ln xmlns:a="http://schemas.openxmlformats.org/drawingml/2006/main" w="0">
            <a:solidFill>
              <a:srgbClr val="56CA9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8EA8B-16D0-42C6-AACA-6EB3CDE9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196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83E18C-1541-4C57-BBB0-2E8455F54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6245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按当前 PDF 页提取可翻译文本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9D7AB7-5684-49BD-B88C-00472145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7529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CA95"/>
          </a:solidFill>
          <a:ln xmlns:a="http://schemas.openxmlformats.org/drawingml/2006/main" w="0">
            <a:solidFill>
              <a:srgbClr val="56CA9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4FE6A9-60A5-44C1-BE7A-95F74C7C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196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02E243-E0AF-4AE5-9D89-A653CD781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625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结合论文骨架和页面上下文生成中文译文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CF537B-1241-4056-88E7-371E6A3C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1530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CA95"/>
          </a:solidFill>
          <a:ln xmlns:a="http://schemas.openxmlformats.org/drawingml/2006/main" w="0">
            <a:solidFill>
              <a:srgbClr val="56CA9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FC4C69-F80A-4278-A024-083D5C65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197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0B5B85-564E-4544-AC4F-DA77A775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6255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翻页时自动更新译文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D6D454-6840-47DC-A47B-F1EC7738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5530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6CA95"/>
          </a:solidFill>
          <a:ln xmlns:a="http://schemas.openxmlformats.org/drawingml/2006/main" w="0">
            <a:solidFill>
              <a:srgbClr val="56CA9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C00862-1642-44D3-8B38-730F1152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197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576439-E642-402F-8457-2CA72C50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626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对已翻译页面进行缓存，避免重复请求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DE11D5-7D27-484E-8F50-61BA04D5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6067425"/>
            <a:ext cx="8769668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CE7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24F9F-1518-49E6-9C30-45CDA8A03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248400"/>
            <a:ext cx="830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56CA95"/>
                </a:solidFill>
              </a:defRPr>
            </a:pPr>
            <a:r>
              <a:rPr sz="1350" b="1" i="0">
                <a:solidFill>
                  <a:srgbClr val="56CA95"/>
                </a:solidFill>
              </a:rPr>
              <a:t>对应模块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3B3F5A-E039-45A1-9321-3F5EAE1F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9605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前端：frontend/src/components/TranslationPanel.jsx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77CC44-C547-489E-B091-BBF1708F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72465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前端：frontend/src/utils/pdfTranslationLayout.js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5CBEAB-390C-4DA9-98B3-B045FEAF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964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63EE73-530D-4190-9DF1-C7B8C527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620250"/>
            <a:ext cx="3295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E53772-2BC5-4F97-B120-7DA45A2B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696450"/>
            <a:ext cx="1209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EEF3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008789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ACEF02-E5F1-46CA-B324-C4FD5155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653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8 页 | 批判性阅读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33000-1402-4C79-B1E6-677EB2E9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95350"/>
            <a:ext cx="16535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证据化分析论文贡献与局限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AAD2E-737F-4F53-8F5D-B95096C7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60A29-ED48-4E9D-8220-268D524E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25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A55"/>
          </a:solidFill>
          <a:ln xmlns:a="http://schemas.openxmlformats.org/drawingml/2006/main" w="0">
            <a:solidFill>
              <a:srgbClr val="FFBA5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AE083-1BBB-4CF5-894C-9534CF3A4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62103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从“论文说了什么”走向“哪些判断有证据支撑”。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32552-E407-4211-9EF9-EE9E70E2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53150"/>
            <a:ext cx="6267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批判性阅读是项目区别于普通PDF阅读器和一般问答工具的重要部分。它不是简单总结论文，而是围绕贡献、方法、实验和局限做证据化分析，...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EA6B3-14C9-4CBF-9995-F137486C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3529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55"/>
          </a:solidFill>
          <a:ln xmlns:a="http://schemas.openxmlformats.org/drawingml/2006/main" w="0">
            <a:solidFill>
              <a:srgbClr val="FFBA5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73F0B1-8C7D-4166-A245-70B12DBF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196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14001-5CF6-4939-9CE4-87EC0460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6245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围绕贡献、方法、实验、局限四个维度分析论文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A287F5-482F-4404-BDBE-221F1480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7529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55"/>
          </a:solidFill>
          <a:ln xmlns:a="http://schemas.openxmlformats.org/drawingml/2006/main" w="0">
            <a:solidFill>
              <a:srgbClr val="FFBA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F35D4-8129-4386-9EBD-CD809B9E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196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A19A91-FFC7-4A02-B5FE-8291CCFF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625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输出 evidence-based contributions、weaknesses、overclaim risks、missing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733B66-C529-49E0-B3EA-5E87B0A8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1530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55"/>
          </a:solidFill>
          <a:ln xmlns:a="http://schemas.openxmlformats.org/drawingml/2006/main" w="0">
            <a:solidFill>
              <a:srgbClr val="FFBA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9EC03-CD76-40CD-B32B-781A9AF0B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197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D4297-D790-4FCB-AC73-27AAAE15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6255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证据不足时明确标记，不编造实验或结论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E5110F-C596-4B7B-B723-D0EB6C31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5530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A55"/>
          </a:solidFill>
          <a:ln xmlns:a="http://schemas.openxmlformats.org/drawingml/2006/main" w="0">
            <a:solidFill>
              <a:srgbClr val="FFBA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3C2AF-379D-4094-A01D-9FF7495F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197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75A6ED-ADC6-4A44-9462-759F6E2A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626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让用户从“论文讲了什么”进一步看到“论文哪些判断有证据支撑”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3B27BB-DC2C-4394-8917-94EDCD21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6067425"/>
            <a:ext cx="8769668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CE7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F3CDA-4B1E-4E06-8763-014B77F1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248400"/>
            <a:ext cx="830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FBA55"/>
                </a:solidFill>
              </a:defRPr>
            </a:pPr>
            <a:r>
              <a:rPr sz="1350" b="1" i="0">
                <a:solidFill>
                  <a:srgbClr val="FFBA55"/>
                </a:solidFill>
              </a:rPr>
              <a:t>对应模块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A90FC5-301E-4865-81FB-42F030DF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9605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前端：frontend/src/components/CriticalAnalysisPanel.jsx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E31888-6A7E-4BED-BA3A-29ECA840F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72465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Java：POST /api/critical-reading/{pdfId}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FFB8F6-EF16-45DB-BFBA-EFE3F0F8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964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AC23FC-220B-43E3-A647-2ACE99D0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620250"/>
            <a:ext cx="3295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19B2BD4-CFD8-4553-A231-47C1C1E2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696450"/>
            <a:ext cx="1209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EEF3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360319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3956CB-9B71-4EB2-8834-4BBE135C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653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9 页 | 背景补课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0A517A-8BAD-4177-A94C-D5207411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95350"/>
            <a:ext cx="16535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补齐论文理解所需的前置知识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2661E-3067-44B4-B717-91FE35DB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9063B-C158-4649-9E8F-22D8E1C4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25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05E157-EAA9-4AD7-8326-7460C65F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6477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当用户缺少前置知识时，系统给出分层补课路径。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2E93B-6A7B-495D-9D69-623458BA6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53150"/>
            <a:ext cx="6115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背景补课面向“论文能看见，但前置知识不够”的场景。系统会根据论文主题和用户知识水平生成概念图谱与学习路径，帮助用户先补齐方法、实...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41F10-E4F8-4CE6-AE07-4690C16A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3529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B673E-C5D9-40A8-A6A2-A76C494BB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196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257BC4-AC05-49B5-8F5F-75D1F456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6245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按“入门 / 一般 / 进阶”生成前置知识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B488F-65EB-4635-BB8B-69B74D8F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7529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1386F-3777-4445-B299-CD851BDB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196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48A5DB-52D3-464A-81EF-36CDCF1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625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输出概念图谱、学习路径和补课清单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2C96C9-3349-4FA3-9F95-5544616F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1530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5E2F30-2A97-4A7B-930F-C90663A1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197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B138EA-0DB8-461C-A183-60929BCB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6255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学习路径按基础概念、方法前置、实验理解、批判视角组织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F9C97-E2BC-41BC-BDBC-EF9805C8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5530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B27EE0-A4A7-4397-9BAC-044629D86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197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8767D9-3B8F-4273-8D90-FB6598E2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626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每个概念节点尽量绑定本次响应中的 rag_sources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46111-4ACC-400A-967C-51793296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6067425"/>
            <a:ext cx="8769668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CE7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F2676-2FDF-4797-8002-D7733CA3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248400"/>
            <a:ext cx="830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F18870"/>
                </a:solidFill>
              </a:defRPr>
            </a:pPr>
            <a:r>
              <a:rPr sz="1350" b="1" i="0">
                <a:solidFill>
                  <a:srgbClr val="F18870"/>
                </a:solidFill>
              </a:rPr>
              <a:t>对应模块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950C0C-6D5A-4CEB-9308-B2CC9304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9605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前端：frontend/src/components/BackgroundKnowledgePanel.jsx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A7E414-2631-4A78-A11E-48F7D215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72465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Java：POST /api/background-knowledge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3196FB-7209-48A4-811B-72F9D551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964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007043-1B4D-445D-8C4A-C240E5B4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620250"/>
            <a:ext cx="3295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C44C19-EFC1-4A0C-8217-6B2F60783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696450"/>
            <a:ext cx="1209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EEF3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8123979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895A4D-A5B1-485B-B681-560615E1B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653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10 页 | 引导式学习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121C5E-AF76-46C9-BF25-F8E9F99B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95350"/>
            <a:ext cx="16535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用苏格拉底式提问检查理解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00F829-8E56-4E39-83B1-DA680FB9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4E15A9-37C3-46B5-989A-942866EE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25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5F74"/>
          </a:solidFill>
          <a:ln xmlns:a="http://schemas.openxmlformats.org/drawingml/2006/main" w="0">
            <a:solidFill>
              <a:srgbClr val="EC5F7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5B968-2FBE-4FB2-848D-377B5F07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6477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用递进提问促成主动回忆，而不是被动接收摘要。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4BC1CB-AD1C-44A7-94F9-96B07095E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53150"/>
            <a:ext cx="6115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引导式学习解决的是“我以为自己看懂了，但其实没有真正掌握”的问题。系统通过固定5轮递进问题，帮助用户围绕论文问题、方法、实验和局...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83A0E-1997-4CC4-9DB5-A50A577C4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3529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5F74"/>
          </a:solidFill>
          <a:ln xmlns:a="http://schemas.openxmlformats.org/drawingml/2006/main" w="0">
            <a:solidFill>
              <a:srgbClr val="EC5F7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9D96DA-6A5C-4159-A622-2F089D0C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196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BA79B-6F17-4F05-AAA2-BB759A06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6245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固定 5 轮问题：研究问题、方法创新、方法逻辑、实验依据、局限改进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82B4CF-803F-4FB8-B21D-22430694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7529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5F74"/>
          </a:solidFill>
          <a:ln xmlns:a="http://schemas.openxmlformats.org/drawingml/2006/main" w="0">
            <a:solidFill>
              <a:srgbClr val="EC5F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B1465A-8DD7-4829-860E-6146161E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196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1A78CE-B5D6-48DB-B88C-279C49A1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625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根据用户回答给出掌握度、提示和回读建议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57934-BAB0-4539-AFAA-C9B9C11B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1530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5F74"/>
          </a:solidFill>
          <a:ln xmlns:a="http://schemas.openxmlformats.org/drawingml/2006/main" w="0">
            <a:solidFill>
              <a:srgbClr val="EC5F7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70C436-CDEB-4A6B-978C-341371135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197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F3ADE1-C836-4AC1-8D10-2D835F71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6255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优先参考当前论文 RAG 证据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C118B3-6AD4-4869-A66C-64628576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5530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5F74"/>
          </a:solidFill>
          <a:ln xmlns:a="http://schemas.openxmlformats.org/drawingml/2006/main" w="0">
            <a:solidFill>
              <a:srgbClr val="EC5F7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93186-E82A-4C04-A6AD-E72F2B7B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197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773DB-9CB3-4340-99FA-1F60FEAD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626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完成后给出最终总结和建议回读章节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FCC895-75D8-4C57-801E-C29A4A47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6067425"/>
            <a:ext cx="8769668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CE7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670A0-7A91-48C0-B008-55FDFF9F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248400"/>
            <a:ext cx="830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EC5F74"/>
                </a:solidFill>
              </a:defRPr>
            </a:pPr>
            <a:r>
              <a:rPr sz="1350" b="1" i="0">
                <a:solidFill>
                  <a:srgbClr val="EC5F74"/>
                </a:solidFill>
              </a:rPr>
              <a:t>对应模块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61669F-C360-472E-8954-660519ED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9605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前端：frontend/src/components/SocraticQuestionsPanel.jsx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67898B-1689-47BC-9ED4-FE8265D69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72465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Java：POST /api/socratic-session/start，POST /api/socratic-session/answer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AECC25-0C6B-45EC-836B-585C907A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964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97423-29CA-474F-8C22-C0CC43B87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620250"/>
            <a:ext cx="3295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D05302-AF98-4D86-89B0-AA519F3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696450"/>
            <a:ext cx="1209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EEF3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891224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00E1A5-A780-4871-9E82-31121CE1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653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11 页 | 深度研究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6EC5B1-604A-4E0F-829E-FE323791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95350"/>
            <a:ext cx="16535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把开放研究问题拆成可执行任务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49144C-52AA-4509-9771-94E5B142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EFFDB-A3AD-4805-B110-B498B35C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25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D"/>
          </a:solidFill>
          <a:ln xmlns:a="http://schemas.openxmlformats.org/drawingml/2006/main" w="0">
            <a:solidFill>
              <a:srgbClr val="315F9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D90777-59F8-4ED6-900E-92B837989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6477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把开放研究问题拆成可轮询、可取消、可汇总的研究任务。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7F8E8E-89BD-42FC-9124-30AA407F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53150"/>
            <a:ext cx="61531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深度研究面向更开放的论文分析或选题准备场景。它会把用户的问题拆成多个子问题，围绕当前论文和内部文献库检索证据，再综合为结构化fi...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9D691E-C19F-499F-BA00-1BD29B698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3529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D"/>
          </a:solidFill>
          <a:ln xmlns:a="http://schemas.openxmlformats.org/drawingml/2006/main" w="0">
            <a:solidFill>
              <a:srgbClr val="315F9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F68B0-B317-432A-8659-DB11CAB1E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196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17217-5D74-4535-A1A7-8B4BCB06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36245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用户输入研究问题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A4EB4-E4A2-48E5-922F-62D4C3D78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7529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D"/>
          </a:solidFill>
          <a:ln xmlns:a="http://schemas.openxmlformats.org/drawingml/2006/main" w="0">
            <a:solidFill>
              <a:srgbClr val="315F9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E3F8AE-D2C4-40E7-AC47-9F3F3469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196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C29D56-25FD-4616-97F2-E7C209D2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7625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系统拆成 3-5 个子问题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2515FD-FB70-41DE-A4E2-7E800ED75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1530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D"/>
          </a:solidFill>
          <a:ln xmlns:a="http://schemas.openxmlformats.org/drawingml/2006/main" w="0">
            <a:solidFill>
              <a:srgbClr val="315F9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87BE5D-0744-42B9-81CF-FE8928D94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2197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81A76D-FC40-4225-B424-A6B9FCB0B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6255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调度当前论文检索、文献库检索、证据判断和报告综合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65F17A-ED94-421C-B28D-C862FE85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5530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D"/>
          </a:solidFill>
          <a:ln xmlns:a="http://schemas.openxmlformats.org/drawingml/2006/main" w="0">
            <a:solidFill>
              <a:srgbClr val="315F9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7852D-02B0-4B0D-A4D6-480786E2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6197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922C10-3E74-483F-852E-0495F502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626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支持任务创建、轮询查看、取消和结构化报告展示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E5AF4-A15D-48A0-B630-D1B6B528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6067425"/>
            <a:ext cx="8769668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CE7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2E1C68-FE42-4DA6-8696-127B0602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248400"/>
            <a:ext cx="830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315F9D"/>
                </a:solidFill>
              </a:defRPr>
            </a:pPr>
            <a:r>
              <a:rPr sz="1350" b="1" i="0">
                <a:solidFill>
                  <a:srgbClr val="315F9D"/>
                </a:solidFill>
              </a:rPr>
              <a:t>对应模块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A7D6A7-058C-4DA1-9A54-7E88B6AF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49605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前端：frontend/src/components/DeepResearchPanel.jsx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E1DAA2-9B07-4AC9-875F-18027E54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72465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Java：POST /api/research-tasks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FD7185-8098-40A1-8578-16729D4A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964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E38639-CE9D-4D9C-91C0-FB7088092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620250"/>
            <a:ext cx="3295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6C8E84-10B2-4BA5-9F85-7B77E842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696450"/>
            <a:ext cx="1209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EEF3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76442019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A2C30-875F-4959-AEC3-38C5CED2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"/>
            <a:ext cx="1653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12 页 | 安全边界与工程可靠性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E426E-EE90-49D5-BB6D-A0EB871E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95350"/>
            <a:ext cx="16535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不可信论文内容下的安全设计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6A101-60BD-42C2-A9CF-34AFFEF6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5F7F1D-5467-47D6-9240-3648FA20A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12573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42F72D-3B0F-4547-986E-91D7F776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64770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 i="0">
                <a:solidFill>
                  <a:srgbClr val="0F1423"/>
                </a:solidFill>
              </a:defRPr>
            </a:pPr>
            <a:r>
              <a:rPr sz="3000" b="1" i="0">
                <a:solidFill>
                  <a:srgbClr val="0F1423"/>
                </a:solidFill>
              </a:rPr>
              <a:t>论文文本只作为资料进入系统，不允许成为系统指令。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3BE1BF-525E-476E-9424-A1E05E62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53150"/>
            <a:ext cx="61150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E6B84"/>
                </a:solidFill>
              </a:defRPr>
            </a:pPr>
            <a:r>
              <a:rPr sz="1425" b="0" i="0">
                <a:solidFill>
                  <a:srgbClr val="5E6B84"/>
                </a:solidFill>
              </a:rPr>
              <a:t>AI论文阅读工具会直接接触用户上传论文，而论文文本本身可能包含干扰模型的内容。因此项目在中期阶段已经开始建立安全边界：论文只作为...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79896-0C86-4443-BE3A-5E09AE85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2672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83B7F1-8374-4D27-A146-328BB6DA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34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ABEC00-DE01-4422-8227-1991C436F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672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论文正文、页面上下文、RAG 片段统一视为不可信输入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490D2-80F7-451E-8620-0F39C675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4667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5FE06-3AAE-496A-87BE-4308826C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434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B978D0-720E-4D3E-AD61-1B01D75C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6725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对“忽略之前指令”“泄露 API Key”“执行命令”“联网搜索”等注入内容进行检测和包装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5852DA-6BFA-44FA-A643-1B0D7C84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0673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12BD5-71E0-494A-9572-FA9CEEC8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1435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6D21E0-ACCB-47CE-8E9E-5C4BBD7A5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067300"/>
            <a:ext cx="834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Deep research 限制为当前论文和内部文献库，不自动扩展外部 Web 搜索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96D4DE-0B64-427C-B6DC-D04C1984B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54673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CD3097-D066-41E1-9601-FB606A9F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5435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9F799-65F4-45B1-B535-CFE5A84E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67350"/>
            <a:ext cx="8343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Trace 只记录阶段状态、耗时、检索次数和截断摘要，不记录 API Key、完整 prompt 或完整论文全文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6CBA7B-803B-4342-80F7-72E03835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033" y="6153150"/>
            <a:ext cx="8769668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9525">
            <a:solidFill>
              <a:srgbClr val="DCE7F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5E57BB-09D5-40FF-8839-3D32AB18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324600"/>
            <a:ext cx="83058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对应模块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743AEF-FC25-487C-8DDB-0757FA5E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59130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Python：ai-service-python/services/safety_service.py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1EC87-40D7-4C04-8AAD-50C542243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6819900"/>
            <a:ext cx="8305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Python：ai-service-python/services/trace_service.py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AC44CD-CAD0-4A7D-95EC-31ED27D5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964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130AC6-5CF5-49F3-9C48-87CA86F7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620250"/>
            <a:ext cx="3295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功能初稿：后续可替换为系统截图或演示录屏关键帧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DB56D7-2B61-42A7-840F-62C25917A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9696450"/>
            <a:ext cx="1209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EEF3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8881444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FFE0E4-DE4E-49F2-875F-93B3C71E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"/>
            <a:ext cx="1653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13 页 | 中期成果总结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214B4-3AF7-4BB5-B7F9-59CB155B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2500"/>
            <a:ext cx="16535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当前完成情况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635C6-0325-48FE-BA01-4A12D62B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5486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E6B84"/>
                </a:solidFill>
              </a:defRPr>
            </a:pPr>
            <a:r>
              <a:rPr sz="1725" b="0" i="0">
                <a:solidFill>
                  <a:srgbClr val="5E6B84"/>
                </a:solidFill>
              </a:rPr>
              <a:t>中期阶段已经形成可运行、可演示、可说明的项目闭环。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01A920-BAB4-49B2-9B55-AFCF6D92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6096E6"/>
                </a:solidFill>
              </a:defRPr>
            </a:pPr>
            <a:r>
              <a:rPr sz="2100" b="1" i="0">
                <a:solidFill>
                  <a:srgbClr val="6096E6"/>
                </a:solidFill>
              </a:rPr>
              <a:t>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DD2BB7-C672-4934-AD63-5B47CBADE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575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三层架构搭建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BB02A-55AA-4355-A0A0-D50CF431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3845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56CA95"/>
                </a:solidFill>
              </a:defRPr>
            </a:pPr>
            <a:r>
              <a:rPr sz="2100" b="1" i="0">
                <a:solidFill>
                  <a:srgbClr val="56CA95"/>
                </a:solidFill>
              </a:rPr>
              <a:t>✓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CD43B1-86CE-4A46-849B-310FEBFD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PDF 上传、预览、解析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D62F0B-7E4E-4BD1-B4EC-E8637A578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BA55"/>
                </a:solidFill>
              </a:defRPr>
            </a:pPr>
            <a:r>
              <a:rPr sz="2100" b="1" i="0">
                <a:solidFill>
                  <a:srgbClr val="FFBA55"/>
                </a:solidFill>
              </a:rPr>
              <a:t>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2481E1-113B-4153-9A03-AFB2DDF24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5295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RAG 问答与术语解释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4D5C9-4C43-49C3-89FA-70DFB1E8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3390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18870"/>
                </a:solidFill>
              </a:defRPr>
            </a:pPr>
            <a:r>
              <a:rPr sz="2100" b="1" i="0">
                <a:solidFill>
                  <a:srgbClr val="F18870"/>
                </a:solidFill>
              </a:rPr>
              <a:t>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EA5720-A52E-4294-960B-E8D99E86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55295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逐页翻译与缓存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1A63D-2779-4149-A1E6-B6C35038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2935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6096E6"/>
                </a:solidFill>
              </a:defRPr>
            </a:pPr>
            <a:r>
              <a:rPr sz="2100" b="1" i="0">
                <a:solidFill>
                  <a:srgbClr val="6096E6"/>
                </a:solidFill>
              </a:rP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1ADAF8-292A-4FDC-9FFF-95BF64DB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2484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批判阅读、背景补课、引导式学习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8ACC8-A16B-46E2-84AB-CDEABEB4B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22935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56CA95"/>
                </a:solidFill>
              </a:defRPr>
            </a:pPr>
            <a:r>
              <a:rPr sz="2100" b="1" i="0">
                <a:solidFill>
                  <a:srgbClr val="56CA95"/>
                </a:solidFill>
              </a:rPr>
              <a:t>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DFA998-1EB1-47F9-A312-4E76846C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24840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深度研究任务闭环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D59CA-A2A6-49FF-ACAF-78564CFF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92480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FBA55"/>
                </a:solidFill>
              </a:defRPr>
            </a:pPr>
            <a:r>
              <a:rPr sz="2100" b="1" i="0">
                <a:solidFill>
                  <a:srgbClr val="FFBA55"/>
                </a:solidFill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0175A-C128-4D73-B1CD-D72129F0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794385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安全防护与 trace 观测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8FF443-0145-4F27-9604-DF1E9598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7924800"/>
            <a:ext cx="41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F18870"/>
                </a:solidFill>
              </a:defRPr>
            </a:pPr>
            <a:r>
              <a:rPr sz="2100" b="1" i="0">
                <a:solidFill>
                  <a:srgbClr val="F18870"/>
                </a:solidFill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CD2062-5D21-4E96-987B-CDF69671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943850"/>
            <a:ext cx="430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0F1423"/>
                </a:solidFill>
              </a:defRPr>
            </a:pPr>
            <a:r>
              <a:rPr sz="1650" b="1" i="0">
                <a:solidFill>
                  <a:srgbClr val="0F1423"/>
                </a:solidFill>
              </a:rPr>
              <a:t>Docker Compose 与文档整理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FB98B1-FF50-41A0-AB9B-2AE3E4F5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4457700"/>
            <a:ext cx="600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F1423"/>
                </a:solidFill>
              </a:defRPr>
            </a:pPr>
            <a:r>
              <a:rPr sz="2550" b="1" i="0">
                <a:solidFill>
                  <a:srgbClr val="0F1423"/>
                </a:solidFill>
              </a:rPr>
              <a:t>已形成材料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CBB2EF-8589-402D-BD85-C9C25B74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01015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047CA2-3FE0-4B47-B62C-5D7C13C2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295900"/>
            <a:ext cx="6000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E6B84"/>
                </a:solidFill>
              </a:defRPr>
            </a:pPr>
            <a:r>
              <a:rPr sz="1875" b="0" i="0">
                <a:solidFill>
                  <a:srgbClr val="5E6B84"/>
                </a:solidFill>
              </a:rPr>
              <a:t>计划书草稿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0514F0-01FA-41CE-B766-BCB0E057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772150"/>
            <a:ext cx="6000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E6B84"/>
                </a:solidFill>
              </a:defRPr>
            </a:pPr>
            <a:r>
              <a:rPr sz="1875" b="0" i="0">
                <a:solidFill>
                  <a:srgbClr val="5E6B84"/>
                </a:solidFill>
              </a:rPr>
              <a:t>周进展报告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B290EE-046F-45BE-A9DE-D2408FB2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229350"/>
            <a:ext cx="6000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E6B84"/>
                </a:solidFill>
              </a:defRPr>
            </a:pPr>
            <a:r>
              <a:rPr sz="1875" b="0" i="0">
                <a:solidFill>
                  <a:srgbClr val="5E6B84"/>
                </a:solidFill>
              </a:rPr>
              <a:t>中期检查表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913BC6-C520-438C-A0BE-FB5B26EF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705600"/>
            <a:ext cx="6000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E6B84"/>
                </a:solidFill>
              </a:defRPr>
            </a:pPr>
            <a:r>
              <a:rPr sz="1875" b="0" i="0">
                <a:solidFill>
                  <a:srgbClr val="5E6B84"/>
                </a:solidFill>
              </a:rPr>
              <a:t>开发约束文档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C66D9F-A027-4F34-93CC-10D41F23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7162800"/>
            <a:ext cx="6000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5E6B84"/>
                </a:solidFill>
              </a:defRPr>
            </a:pPr>
            <a:r>
              <a:rPr sz="1875" b="0" i="0">
                <a:solidFill>
                  <a:srgbClr val="5E6B84"/>
                </a:solidFill>
              </a:rPr>
              <a:t>MCP 适配预研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82E9C3-9BDC-4E61-8532-5393F2B8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393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DCAADD-948B-4C28-AB1C-20AD8A89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563100"/>
            <a:ext cx="44386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答辩重点：展示从上传论文到阅读、问答、分析、研究拆解的完整流程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000DBD-D27B-4A02-B292-3352DED5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9639300"/>
            <a:ext cx="1095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EEF3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6447992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9A6A6E-37A5-4680-BB94-F5832909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"/>
            <a:ext cx="1653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第 14 页 | 存在问题与后续计划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28F7E8-C18D-4B05-B8EA-8A163531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2500"/>
            <a:ext cx="16535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下一阶段工作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17CFA2-E55C-40A0-82AC-8585618F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6724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E6B84"/>
                </a:solidFill>
              </a:defRPr>
            </a:pPr>
            <a:r>
              <a:rPr sz="1725" b="0" i="0">
                <a:solidFill>
                  <a:srgbClr val="5E6B84"/>
                </a:solidFill>
              </a:rPr>
              <a:t>下一阶段重点从“功能可用”推进到“稳定可信、体验顺畅、材料完整”。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7B9B8-6415-4DF3-A01D-55E42BDE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76771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18870"/>
                </a:solidFill>
              </a:defRPr>
            </a:pPr>
            <a:r>
              <a:rPr sz="2550" b="1" i="0">
                <a:solidFill>
                  <a:srgbClr val="F18870"/>
                </a:solidFill>
              </a:rPr>
              <a:t>当前问题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4B5C17-C227-4CEC-B05E-A2A0F7A3C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21042C-066C-40B5-BD23-7B929B6B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FCC184-C5AC-4F83-BA2D-D58802D5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43250"/>
            <a:ext cx="725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PDF 解析仍受论文版式影响，复杂公式、表格、多栏排版需要继续优化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010DA-5884-49F9-BACA-E4C79D2C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0260D-B154-4D94-8A50-E2480C16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450CF-93D5-4899-ABDD-E9A8B05D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62350"/>
            <a:ext cx="725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RAG 来源片段与回答之间的绑定还需要更稳定地展示给用户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D27B0-BA37-48D1-B576-93BFC337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B5A7B7-F5D1-4A1C-B54E-2F0CA22D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7D750-2941-49BD-9465-18F6632A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62400"/>
            <a:ext cx="72580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深度研究任务状态目前主要保存在 Python 进程内存中，服务重启后不可恢复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459F4E-DC8B-443E-A016-6E88623F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305876-DBAB-4BE0-87F7-20977D0E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910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F800B-F40B-4DDD-A348-47A459AD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533900"/>
            <a:ext cx="725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前端多个功能面板已成型，但跨面板协同体验仍需打磨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1B9539-7651-4A73-BA8B-9827DAB4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9395C-F993-4C37-ADD8-EC1241BDF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101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9E1064-70EB-43D3-8DF5-936C60089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33950"/>
            <a:ext cx="7258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测试覆盖需要继续补充，特别是跨服务联调和长任务稳定性测试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E289E7-F2A4-4AB1-9F79-3F6A7370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609850"/>
            <a:ext cx="8286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6096E6"/>
                </a:solidFill>
              </a:defRPr>
            </a:pPr>
            <a:r>
              <a:rPr sz="2550" b="1" i="0">
                <a:solidFill>
                  <a:srgbClr val="6096E6"/>
                </a:solidFill>
              </a:rPr>
              <a:t>后续计划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455BA-968A-4F8F-B51B-E606E43F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752" y="3143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165F36-1E0B-4230-9832-B8C35E5C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2194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55D17-4FCB-4E88-9595-A8B79E33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43250"/>
            <a:ext cx="786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优化 GROBID 解析后的文本清洗、分块和版面过滤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EAFD8-D605-42B9-BEE7-F889BFB5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752" y="35528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D3130F-D903-4B07-AEA3-8084AFAB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6195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9E92ED-0490-45C1-A0A6-0FC6B3657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562350"/>
            <a:ext cx="786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强化证据引用、证据质量判断和回答可追溯性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569F76-BA76-451C-87DE-0227E80C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752" y="39624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048241-4146-47C7-A427-64073ECF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386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3C8E6B-943F-41E6-8A39-4C8F31AD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962400"/>
            <a:ext cx="786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完善提示注入防护、上下文裁剪和 trace 脱敏策略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DF1C18-4315-4ECB-BFB3-6CFBD77D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752" y="43719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90ECB6-2D59-4AA4-90B5-A71D10FC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386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95187B-C4DD-42E6-AE6B-5F659DFD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381500"/>
            <a:ext cx="786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优化前端阅读、翻译、问答、背景知识、批判阅读和深度研究之间的工作流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618BA0-F349-4F78-930D-4C088A36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752" y="47815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CE328B-EBE1-4E45-8B99-E26FBC11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577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8B052C-1155-4740-8A29-3F9CE33EE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781550"/>
            <a:ext cx="786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补充前端、Java、Python 自动化测试和演示用例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6B64BF-E490-4914-959D-17514AC0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2752" y="51911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C774E4-B36D-4C3B-887F-8A1CE05B4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578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4E595A-106F-4673-814E-F056C932B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200650"/>
            <a:ext cx="78676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82033"/>
                </a:solidFill>
              </a:defRPr>
            </a:pPr>
            <a:r>
              <a:rPr sz="1725" b="0" i="0">
                <a:solidFill>
                  <a:srgbClr val="182033"/>
                </a:solidFill>
              </a:rPr>
              <a:t>整理部署手册、用户说明、项目总结和结题答辩材料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23A59C-A834-48AA-B6F0-7D4FABE3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67850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C10B79-2CBD-417D-862A-04163595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9391650"/>
            <a:ext cx="2609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稳定性优化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E5F53F-4890-4BA2-B9BF-CBC5C2CA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9467850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B6E5"/>
          </a:solidFill>
          <a:ln xmlns:a="http://schemas.openxmlformats.org/drawingml/2006/main" w="0">
            <a:solidFill>
              <a:srgbClr val="58B6E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68B08B-A931-4D8E-A514-B5C0D146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9391650"/>
            <a:ext cx="2609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证据追溯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4A3B62-602F-4D4F-A527-A07E410D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9467850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A95"/>
          </a:solidFill>
          <a:ln xmlns:a="http://schemas.openxmlformats.org/drawingml/2006/main" w="0">
            <a:solidFill>
              <a:srgbClr val="56CA9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1B608D-C124-4625-AE26-F6F21EC4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9391650"/>
            <a:ext cx="2609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体验打磨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76CAB5F-A705-4F65-9E58-1C026319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9467850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A55"/>
          </a:solidFill>
          <a:ln xmlns:a="http://schemas.openxmlformats.org/drawingml/2006/main" w="0">
            <a:solidFill>
              <a:srgbClr val="FFBA5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9448E0-871F-4DA5-8A19-D6DC97F1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9391650"/>
            <a:ext cx="2609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测试文档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8DE264F-9CDA-4118-A579-5D1664DD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9467850"/>
            <a:ext cx="476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3D2C93-B55A-4298-A4E7-7A88C418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9391650"/>
            <a:ext cx="2609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F1423"/>
                </a:solidFill>
              </a:defRPr>
            </a:pPr>
            <a:r>
              <a:rPr sz="1350" b="1" i="0">
                <a:solidFill>
                  <a:srgbClr val="0F1423"/>
                </a:solidFill>
              </a:rPr>
              <a:t>结题交付</a:t>
            </a:r>
          </a:p>
        </p:txBody>
      </p:sp>
    </p:spTree>
    <p:extLst>
      <p:ext uri="{BB962C8B-B14F-4D97-AF65-F5344CB8AC3E}">
        <p14:creationId xmlns:p14="http://schemas.microsoft.com/office/powerpoint/2010/main" val="213185167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63344B-E8C2-42A8-A4F4-5CCD97366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"/>
            <a:ext cx="1653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附录 A | 5 分钟答辩节奏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1CFECE-4EC4-4639-962C-5D9E38B3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2500"/>
            <a:ext cx="16535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答辩时间分配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398EEF-9A32-4707-B2E8-4E5D967C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4610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E6B84"/>
                </a:solidFill>
              </a:defRPr>
            </a:pPr>
            <a:r>
              <a:rPr sz="1725" b="0" i="0">
                <a:solidFill>
                  <a:srgbClr val="5E6B84"/>
                </a:solidFill>
              </a:rPr>
              <a:t>备用页：用于排练、现场节奏控制或演示兜底。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A480F-7066-49F3-A57D-5E179376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86050"/>
            <a:ext cx="40767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时间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44FD4-9943-4386-AFFD-38DAAEDE7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86050"/>
            <a:ext cx="11963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9AB8D-E0A3-48C6-9FC0-1159EFB8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38500"/>
            <a:ext cx="4076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0:00-0:30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B267E-DA39-4D19-B6BC-62776A13D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38500"/>
            <a:ext cx="11963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项目背景与痛点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F6769-52B2-4FD1-ABAD-DC4DC16E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62400"/>
            <a:ext cx="4076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0:30-1:00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D12C2B-7051-4988-B6ED-15BD1403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962400"/>
            <a:ext cx="11963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项目目标和整体架构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C79C5-C591-4BB2-AFBC-B58D8DC2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86300"/>
            <a:ext cx="4076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1:00-2:20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967803-EE0E-42D4-98B4-F2A30F65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686300"/>
            <a:ext cx="11963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基础功能：上传、解析、RAG 问答、逐页翻译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803F4-67CA-43C8-9969-2003F26F8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10200"/>
            <a:ext cx="4076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2:20-3:40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5B67E-C4D0-49CF-BAAE-2261859A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410200"/>
            <a:ext cx="11963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核心亮点：批判阅读、背景补课、苏格拉底学习、深度研究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52834-085B-4FBD-BEB6-D1364FD1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134100"/>
            <a:ext cx="4076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3:40-4:20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84C2F1-7F51-40CC-84CE-66FDAE82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34100"/>
            <a:ext cx="11963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安全边界、trace、工程实现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37B6ED-2C9F-41C1-BF76-0CF65B77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858000"/>
            <a:ext cx="40767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2033"/>
                </a:solidFill>
              </a:defRPr>
            </a:pPr>
            <a:r>
              <a:rPr sz="1800" b="1" i="0">
                <a:solidFill>
                  <a:srgbClr val="182033"/>
                </a:solidFill>
              </a:rPr>
              <a:t>4:20-5:00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C1BF54-7298-49F2-8FBB-03A22635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858000"/>
            <a:ext cx="119634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2033"/>
                </a:solidFill>
              </a:defRPr>
            </a:pPr>
            <a:r>
              <a:rPr sz="1800" b="0" i="0">
                <a:solidFill>
                  <a:srgbClr val="182033"/>
                </a:solidFill>
              </a:rPr>
              <a:t>中期成果、问题和下一阶段计划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C76CCE-76FA-46E0-AE56-6CBFF333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631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929B73-76D3-4AA8-AF89-82AB2058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429750"/>
            <a:ext cx="2686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Appendix | 可按正式答辩时长决定是否保留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049879-DE8F-40C0-8002-F55D720B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9563100"/>
            <a:ext cx="1268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EEF3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247968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3538EB-2790-40A3-BB2F-410284C69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1500"/>
            <a:ext cx="1653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6096E6"/>
                </a:solidFill>
              </a:defRPr>
            </a:pPr>
            <a:r>
              <a:rPr sz="1350" b="1" i="0">
                <a:solidFill>
                  <a:srgbClr val="6096E6"/>
                </a:solidFill>
              </a:rPr>
              <a:t>附录 B | 现场演示优先级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E87F3-2797-4389-BEC4-41395678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2500"/>
            <a:ext cx="165354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 i="0">
                <a:solidFill>
                  <a:srgbClr val="0F1423"/>
                </a:solidFill>
              </a:defRPr>
            </a:pPr>
            <a:r>
              <a:rPr sz="4050" b="1" i="0">
                <a:solidFill>
                  <a:srgbClr val="0F1423"/>
                </a:solidFill>
              </a:rPr>
              <a:t>演示顺序与备用方案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83AB5-C33A-4EF4-93D1-1EAB7B2C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46101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5E6B84"/>
                </a:solidFill>
              </a:defRPr>
            </a:pPr>
            <a:r>
              <a:rPr sz="1725" b="0" i="0">
                <a:solidFill>
                  <a:srgbClr val="5E6B84"/>
                </a:solidFill>
              </a:rPr>
              <a:t>备用页：用于排练、现场节奏控制或演示兜底。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9E4B3-3058-4913-BDB2-0B22E674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802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6096E6"/>
                </a:solidFill>
              </a:defRPr>
            </a:pPr>
            <a:r>
              <a:rPr sz="2550" b="1" i="0">
                <a:solidFill>
                  <a:srgbClr val="6096E6"/>
                </a:solidFill>
              </a:rPr>
              <a:t>优先展示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0ABF8-7AA2-4C62-BBBF-53BD6472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554A56-A1BB-4777-9C20-B9A7DAB4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80508-11B4-4E1C-AE99-85D9A1E80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43250"/>
            <a:ext cx="760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如果答辩现场只能演示 2-3 个功能，建议优先展示：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B4D111-2553-47E2-B0AA-476D2EBE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797592-4252-4C9C-A469-C349541D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27817B-10E2-467D-BBA4-83D1F906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81400"/>
            <a:ext cx="760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PDF 上传 + 论文解析：证明系统完整跑通。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295BC-07B6-4DE0-9610-98FEDA9D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2C776-0407-4C61-8B30-026C8B8F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767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84B9A-BE6E-4791-9E56-57E19528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00500"/>
            <a:ext cx="760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RAG 问答 / 划词解释：证明回答基于当前论文上下文。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223CE-0732-4213-96FA-E0EE4B08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609850"/>
            <a:ext cx="802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F18870"/>
                </a:solidFill>
              </a:defRPr>
            </a:pPr>
            <a:r>
              <a:rPr sz="2550" b="1" i="0">
                <a:solidFill>
                  <a:srgbClr val="F18870"/>
                </a:solidFill>
              </a:rPr>
              <a:t>备用材料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4AA0A-0A7C-4BD0-B8AF-D6419340E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143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F28F2-ED91-40D6-894E-05B3B892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194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2130F-585A-456B-A46F-0F5BCF91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43250"/>
            <a:ext cx="7600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批判性阅读或深度研究：体现区别于普通 PDF 阅读器和通用聊天机器人的核心创新。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C0108D-1640-4605-86A9-B83DE569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76237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248435-33BA-40B6-81BF-BE5CA5F8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290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3EBAF8-7522-4510-86A3-16CD1656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771900"/>
            <a:ext cx="760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如果网络或模型接口不稳定，提前准备：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36B0B7-163E-4BFC-9EA0-BA911774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19100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B71295-1817-4DFC-8072-383E59D5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2672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5C897D-9503-49DE-BE50-0E03BC09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191000"/>
            <a:ext cx="760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系统运行截图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078C85-3D7E-46A5-B908-DB17EF07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619625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30FE2D-AE13-4840-93F9-BFBCDBDA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68630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4F1B7F-5C66-428B-A770-6BE98A40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29150"/>
            <a:ext cx="760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关键功能录屏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2D784C-4F3A-4E79-925C-CBF13F7B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5048250"/>
            <a:ext cx="2857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18870"/>
          </a:solidFill>
          <a:ln xmlns:a="http://schemas.openxmlformats.org/drawingml/2006/main" w="0">
            <a:solidFill>
              <a:srgbClr val="F1887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CD1477-04F8-4FF3-BBBE-338E58FC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124450"/>
            <a:ext cx="285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0BC5AB9-4347-4637-8165-CB453FC39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5048250"/>
            <a:ext cx="760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0" i="0">
                <a:solidFill>
                  <a:srgbClr val="182033"/>
                </a:solidFill>
              </a:defRPr>
            </a:pPr>
            <a:r>
              <a:rPr sz="1875" b="0" i="0">
                <a:solidFill>
                  <a:srgbClr val="182033"/>
                </a:solidFill>
              </a:rPr>
              <a:t>一篇固定示例论文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A5A858-BFE9-4751-A8C6-F7BA87DC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6310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96E6"/>
          </a:solidFill>
          <a:ln xmlns:a="http://schemas.openxmlformats.org/drawingml/2006/main" w="0">
            <a:solidFill>
              <a:srgbClr val="6096E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FB4145-DFAE-4ADE-8FD8-2E2F88F8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9429750"/>
            <a:ext cx="26860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5E6B84"/>
                </a:solidFill>
              </a:defRPr>
            </a:pPr>
            <a:r>
              <a:rPr sz="1125" b="0" i="0">
                <a:solidFill>
                  <a:srgbClr val="5E6B84"/>
                </a:solidFill>
              </a:rPr>
              <a:t>Appendix | 可按正式答辩时长决定是否保留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282339-5C87-42AD-99F7-00383EC2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9563100"/>
            <a:ext cx="12687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EEF3F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6294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2026-05-03T03:22:40.8150000Z</dcterms:created>
  <dcterms:modified xsi:type="dcterms:W3CDTF">2026-05-03T03:22:40.8150000Z</dcterms:modified>
</coreProperties>
</file>